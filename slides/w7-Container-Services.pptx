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ppt/tags/tag26.xml" ContentType="application/vnd.openxmlformats-officedocument.presentationml.tags+xml"/>
  <Override PartName="/ppt/notesSlides/notesSlide22.xml" ContentType="application/vnd.openxmlformats-officedocument.presentationml.notesSlide+xml"/>
  <Override PartName="/ppt/tags/tag27.xml" ContentType="application/vnd.openxmlformats-officedocument.presentationml.tags+xml"/>
  <Override PartName="/ppt/notesSlides/notesSlide23.xml" ContentType="application/vnd.openxmlformats-officedocument.presentationml.notesSlide+xml"/>
  <Override PartName="/ppt/tags/tag2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7" r:id="rId1"/>
    <p:sldMasterId id="2147483698" r:id="rId2"/>
    <p:sldMasterId id="2147483699" r:id="rId3"/>
    <p:sldMasterId id="2147483700" r:id="rId4"/>
  </p:sldMasterIdLst>
  <p:notesMasterIdLst>
    <p:notesMasterId r:id="rId30"/>
  </p:notesMasterIdLst>
  <p:sldIdLst>
    <p:sldId id="256" r:id="rId5"/>
    <p:sldId id="257" r:id="rId6"/>
    <p:sldId id="1810" r:id="rId7"/>
    <p:sldId id="811" r:id="rId8"/>
    <p:sldId id="1811" r:id="rId9"/>
    <p:sldId id="1813" r:id="rId10"/>
    <p:sldId id="1863" r:id="rId11"/>
    <p:sldId id="1816" r:id="rId12"/>
    <p:sldId id="1817" r:id="rId13"/>
    <p:sldId id="1818" r:id="rId14"/>
    <p:sldId id="2123" r:id="rId15"/>
    <p:sldId id="1819" r:id="rId16"/>
    <p:sldId id="1820" r:id="rId17"/>
    <p:sldId id="1821" r:id="rId18"/>
    <p:sldId id="1822" r:id="rId19"/>
    <p:sldId id="1864" r:id="rId20"/>
    <p:sldId id="1865" r:id="rId21"/>
    <p:sldId id="1866" r:id="rId22"/>
    <p:sldId id="1867" r:id="rId23"/>
    <p:sldId id="1868" r:id="rId24"/>
    <p:sldId id="1869" r:id="rId25"/>
    <p:sldId id="1873" r:id="rId26"/>
    <p:sldId id="1874" r:id="rId27"/>
    <p:sldId id="1875" r:id="rId28"/>
    <p:sldId id="267"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DB5D2A-5731-42B7-B30B-9A211B3DFFDE}" v="11" dt="2025-11-16T10:22:16.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ws.amazon.com/ec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ws.amazon.com/ecr/"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fargat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aws.amazon.com/fargate/"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docs.aws.amazon.com/AmazonECS/latest/developerguide/launch_types.html"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aws.amazon.com/AmazonECR/latest/userguide/getting-started-cli.html"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aws.amazon.com/blogs/compute/authenticating-amazon-ecr-repositories-for-docker-cli-with-credential-helper/"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aws.amazon.com/ek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438dcf6b14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 name="Google Shape;233;g1438dcf6b14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921e9c98aa_0_0:notes"/>
          <p:cNvSpPr txBox="1">
            <a:spLocks noGrp="1"/>
          </p:cNvSpPr>
          <p:nvPr>
            <p:ph type="body" idx="1"/>
          </p:nvPr>
        </p:nvSpPr>
        <p:spPr>
          <a:xfrm>
            <a:off x="685784" y="4343396"/>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921e9c98a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kern="1200">
                <a:solidFill>
                  <a:schemeClr val="tx1"/>
                </a:solidFill>
                <a:effectLst/>
                <a:latin typeface="+mn-lt"/>
                <a:ea typeface="+mn-ea"/>
                <a:cs typeface="+mn-cs"/>
              </a:rPr>
              <a:t>One of the strongest factors that drive</a:t>
            </a:r>
            <a:r>
              <a:rPr lang="en-US" kern="1200" baseline="0">
                <a:solidFill>
                  <a:schemeClr val="tx1"/>
                </a:solidFill>
                <a:effectLst/>
                <a:latin typeface="+mn-lt"/>
                <a:ea typeface="+mn-ea"/>
                <a:cs typeface="+mn-cs"/>
              </a:rPr>
              <a:t> the growth of containers is the rise of microservice architectures. Microservices are an architectural and organizational approach to software development that is designed to speed up deployment cycles. The microservices approach fosters innovation and ownership, and improves the maintainability and scalability of software applications. </a:t>
            </a:r>
          </a:p>
          <a:p>
            <a:endParaRPr lang="en-US" kern="1200" baseline="0">
              <a:solidFill>
                <a:schemeClr val="tx1"/>
              </a:solidFill>
              <a:effectLst/>
              <a:latin typeface="+mn-lt"/>
              <a:ea typeface="+mn-ea"/>
              <a:cs typeface="+mn-cs"/>
            </a:endParaRPr>
          </a:p>
          <a:p>
            <a:r>
              <a:rPr lang="en-US" kern="1200" baseline="0">
                <a:solidFill>
                  <a:schemeClr val="tx1"/>
                </a:solidFill>
                <a:effectLst/>
                <a:latin typeface="+mn-lt"/>
                <a:ea typeface="+mn-ea"/>
                <a:cs typeface="+mn-cs"/>
              </a:rPr>
              <a:t>Consider this example of a </a:t>
            </a:r>
            <a:r>
              <a:rPr lang="en-US" i="1" kern="1200" baseline="0">
                <a:solidFill>
                  <a:schemeClr val="tx1"/>
                </a:solidFill>
                <a:effectLst/>
                <a:latin typeface="+mn-lt"/>
                <a:ea typeface="+mn-ea"/>
                <a:cs typeface="+mn-cs"/>
              </a:rPr>
              <a:t>traditional monolithic architecture</a:t>
            </a:r>
            <a:r>
              <a:rPr lang="en-US" kern="1200" baseline="0">
                <a:solidFill>
                  <a:schemeClr val="tx1"/>
                </a:solidFill>
                <a:effectLst/>
                <a:latin typeface="+mn-lt"/>
                <a:ea typeface="+mn-ea"/>
                <a:cs typeface="+mn-cs"/>
              </a:rPr>
              <a:t>. For this shopping application, all of the processes are tightly coupled. </a:t>
            </a:r>
            <a:r>
              <a:rPr lang="en-US"/>
              <a:t>With tightly coupled processes, if </a:t>
            </a:r>
            <a:r>
              <a:rPr lang="en-US" kern="1200" baseline="0">
                <a:solidFill>
                  <a:schemeClr val="tx1"/>
                </a:solidFill>
                <a:effectLst/>
                <a:latin typeface="+mn-lt"/>
                <a:ea typeface="+mn-ea"/>
                <a:cs typeface="+mn-cs"/>
              </a:rPr>
              <a:t>one process of an application experiences a spike in demand, the entire architecture must be scaled. Adding or improving features becomes more complex as the code base grows, which limits experimentation and complicates the implementation of new ideas or technology stacks. Monolithic architectures also add risk for application availability because having many dependent and tightly coupled processes increases the impact of a single process failure.</a:t>
            </a:r>
          </a:p>
          <a:p>
            <a:endParaRPr lang="en-US" kern="1200" baseline="0">
              <a:solidFill>
                <a:schemeClr val="tx1"/>
              </a:solidFill>
              <a:effectLst/>
              <a:latin typeface="+mn-lt"/>
              <a:ea typeface="+mn-ea"/>
              <a:cs typeface="+mn-cs"/>
            </a:endParaRPr>
          </a:p>
          <a:p>
            <a:r>
              <a:rPr lang="en-US" kern="1200" baseline="0">
                <a:solidFill>
                  <a:schemeClr val="tx1"/>
                </a:solidFill>
                <a:effectLst/>
                <a:latin typeface="+mn-lt"/>
                <a:ea typeface="+mn-ea"/>
                <a:cs typeface="+mn-cs"/>
              </a:rPr>
              <a:t>Now, consider having the same applications run in a </a:t>
            </a:r>
            <a:r>
              <a:rPr lang="en-US" i="1" kern="1200" baseline="0">
                <a:solidFill>
                  <a:schemeClr val="tx1"/>
                </a:solidFill>
                <a:effectLst/>
                <a:latin typeface="+mn-lt"/>
                <a:ea typeface="+mn-ea"/>
                <a:cs typeface="+mn-cs"/>
              </a:rPr>
              <a:t>microservice architecture</a:t>
            </a:r>
            <a:r>
              <a:rPr lang="en-US" kern="1200" baseline="0">
                <a:solidFill>
                  <a:schemeClr val="tx1"/>
                </a:solidFill>
                <a:effectLst/>
                <a:latin typeface="+mn-lt"/>
                <a:ea typeface="+mn-ea"/>
                <a:cs typeface="+mn-cs"/>
              </a:rPr>
              <a:t>. Each service is built as an independent component that communicates by using lightweight API operations. Each service performs a single function that could support multiple applications. Because the services run independently, they can be updated, deployed, and scaled to meet the demand for specific functions of an application.</a:t>
            </a:r>
            <a:endParaRPr lang="en-US"/>
          </a:p>
        </p:txBody>
      </p:sp>
    </p:spTree>
    <p:extLst>
      <p:ext uri="{BB962C8B-B14F-4D97-AF65-F5344CB8AC3E}">
        <p14:creationId xmlns:p14="http://schemas.microsoft.com/office/powerpoint/2010/main" val="2575292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400550"/>
            <a:ext cx="5486400" cy="3840480"/>
          </a:xfrm>
        </p:spPr>
        <p:txBody>
          <a:bodyPr/>
          <a:lstStyle/>
          <a:p>
            <a:r>
              <a:rPr lang="en-US" b="0" i="0" u="none" strike="noStrike" kern="1200">
                <a:solidFill>
                  <a:schemeClr val="tx1"/>
                </a:solidFill>
                <a:effectLst/>
                <a:latin typeface="Calibri" panose="020F0502020204030204" pitchFamily="34" charset="0"/>
                <a:ea typeface="+mn-ea"/>
                <a:cs typeface="+mn-cs"/>
              </a:rPr>
              <a:t>Microservices share some common characteristics:</a:t>
            </a:r>
          </a:p>
          <a:p>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Decentralized – Microservice architectures are distributed systems with decentralized data management. They don’t rely on a unifying schema in a central database. Each microservice has its own view about data models. Microservices are also decentralized in the way they are developed, deployed, managed, and operated.</a:t>
            </a:r>
          </a:p>
          <a:p>
            <a:pPr marL="171450" indent="-171450">
              <a:buFont typeface="Arial" panose="020B0604020202020204" pitchFamily="34" charset="0"/>
              <a:buChar char="•"/>
            </a:pPr>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Independent – Each component service in a microservice architecture can be changed, upgraded, or replaced independently without affecting the function of other services. Services do not need to share any of their code or implementation with other services. Similarly, the teams responsible for different microservices can act independently from each other.</a:t>
            </a:r>
          </a:p>
          <a:p>
            <a:pPr marL="171450" indent="-171450">
              <a:buFont typeface="Arial" panose="020B0604020202020204" pitchFamily="34" charset="0"/>
              <a:buChar char="•"/>
            </a:pPr>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Specialized – Each component service is designed for a set of capabilities and focuses on a specific domain. If the code for a particular component service reaches a certain level of complexity, then the service can be split into two or more services.</a:t>
            </a:r>
          </a:p>
          <a:p>
            <a:pPr marL="171450" indent="-171450">
              <a:buFont typeface="Arial" panose="020B0604020202020204" pitchFamily="34" charset="0"/>
              <a:buChar char="•"/>
            </a:pPr>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Polyglot – Microservices don’t follow a single approach. Teams have the freedom to choose the best tool for their specific problem. As a consequence, microservice architectures take a heterogeneous approach to operating systems, programming languages, data stores, and tools. This approach is called polyglot persistence and programming.</a:t>
            </a:r>
          </a:p>
          <a:p>
            <a:pPr marL="171450" indent="-171450">
              <a:buFont typeface="Arial" panose="020B0604020202020204" pitchFamily="34" charset="0"/>
              <a:buChar char="•"/>
            </a:pPr>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Black boxes – Individual component services are designed as black boxes, which mean that the details of their complexity are hidden from other components. Any communication between services happens through well-defined APIs to prevent implicit and hidden dependencies.</a:t>
            </a:r>
          </a:p>
          <a:p>
            <a:pPr marL="171450" indent="-171450">
              <a:buFont typeface="Arial" panose="020B0604020202020204" pitchFamily="34" charset="0"/>
              <a:buChar char="•"/>
            </a:pPr>
            <a:endParaRPr lang="en-US" b="0" i="0" u="none" strike="noStrike" kern="120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b="0" i="0" u="none" strike="noStrike" kern="1200">
                <a:solidFill>
                  <a:schemeClr val="tx1"/>
                </a:solidFill>
                <a:effectLst/>
                <a:latin typeface="Calibri" panose="020F0502020204030204" pitchFamily="34" charset="0"/>
                <a:ea typeface="+mn-ea"/>
                <a:cs typeface="+mn-cs"/>
              </a:rPr>
              <a:t>You build it, you run it – DevOps is a key organizational principle for microservices, where the team responsible for building a service is also responsible for operating and maintaining it in production. </a:t>
            </a:r>
          </a:p>
        </p:txBody>
      </p:sp>
    </p:spTree>
    <p:extLst>
      <p:ext uri="{BB962C8B-B14F-4D97-AF65-F5344CB8AC3E}">
        <p14:creationId xmlns:p14="http://schemas.microsoft.com/office/powerpoint/2010/main" val="3934960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When you consider the characteristics of a well-designed microservice architecture, containers are well matched to support microservices. For this reason, containers are the underlying technology that powers many modern microservice architectures. Likewise, with microservice architectures, developers can take full advantage of containers.</a:t>
            </a:r>
            <a:endParaRPr lang="en-US"/>
          </a:p>
        </p:txBody>
      </p:sp>
    </p:spTree>
    <p:extLst>
      <p:ext uri="{BB962C8B-B14F-4D97-AF65-F5344CB8AC3E}">
        <p14:creationId xmlns:p14="http://schemas.microsoft.com/office/powerpoint/2010/main" val="95727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Recall the shipping container analogy. Suppose that you have one ship and a half dozen containers. Keeping track of what's being shipped on which transport, the schedule of starts and stops, and the state of the containers is manageable. However, consider what happens when you scale up the number and type of transportation methods, along with the number of containers you are working with. Scheduling and managing which are loaded, where, and when requires a lot more logistical effort.</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Likewise with software containers, running one or two containers on a single host is simple. But things get complex when you move into environments where you have tens of hosts with possibly hundreds of containers. Or you might have a full production environment with hundreds of hosts and maybe thousands of containers. You now must manage an enterprise-scale, clustered environment.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You must know the state of everything in your system. For example, you need to know which containers aren't working, and which are starting and stopping. You need to know where you have enough room and memory to add new containers. Finally, you need a way to place your containers intelligently on instances to maximize availability, resilience, and performance.</a:t>
            </a:r>
            <a:endParaRPr lang="en-US"/>
          </a:p>
        </p:txBody>
      </p:sp>
    </p:spTree>
    <p:extLst>
      <p:ext uri="{BB962C8B-B14F-4D97-AF65-F5344CB8AC3E}">
        <p14:creationId xmlns:p14="http://schemas.microsoft.com/office/powerpoint/2010/main" val="754748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tabLst>
                <a:tab pos="457200" algn="l"/>
              </a:tabLst>
            </a:pPr>
            <a:r>
              <a:rPr lang="en-US">
                <a:effectLst/>
                <a:ea typeface="Calibri" panose="020F0502020204030204" pitchFamily="34" charset="0"/>
                <a:cs typeface="Times New Roman" panose="02020603050405020304" pitchFamily="18" charset="0"/>
              </a:rPr>
              <a:t>This situation is where </a:t>
            </a:r>
            <a:r>
              <a:rPr lang="en-US" i="1">
                <a:effectLst/>
                <a:ea typeface="Calibri" panose="020F0502020204030204" pitchFamily="34" charset="0"/>
                <a:cs typeface="Times New Roman" panose="02020603050405020304" pitchFamily="18" charset="0"/>
              </a:rPr>
              <a:t>container orchestration </a:t>
            </a:r>
            <a:r>
              <a:rPr lang="en-US">
                <a:effectLst/>
                <a:ea typeface="Calibri" panose="020F0502020204030204" pitchFamily="34" charset="0"/>
                <a:cs typeface="Times New Roman" panose="02020603050405020304" pitchFamily="18" charset="0"/>
              </a:rPr>
              <a:t>platforms</a:t>
            </a:r>
            <a:r>
              <a:rPr lang="en-US" i="1">
                <a:effectLst/>
                <a:ea typeface="Calibri" panose="020F0502020204030204" pitchFamily="34" charset="0"/>
                <a:cs typeface="Times New Roman" panose="02020603050405020304" pitchFamily="18" charset="0"/>
              </a:rPr>
              <a:t> </a:t>
            </a:r>
            <a:r>
              <a:rPr lang="en-US">
                <a:effectLst/>
                <a:ea typeface="Calibri" panose="020F0502020204030204" pitchFamily="34" charset="0"/>
                <a:cs typeface="Times New Roman" panose="02020603050405020304" pitchFamily="18" charset="0"/>
              </a:rPr>
              <a:t>become useful. They handle the scheduling and placement of containers based on the underlying hardware infrastructure and needs of the application. Container orchestration platforms integrate with other services, such as services for networking, persistent storage, security, monitoring, and logging.</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Many options exist, including native tools like Docker Swarm, open-source platforms like Kubernetes, and Amazon Elastic Container Service (Amazon ECS). The orchestration platform is arguably the most important choice that you will make when you architect a container-based workload.</a:t>
            </a:r>
          </a:p>
        </p:txBody>
      </p:sp>
    </p:spTree>
    <p:extLst>
      <p:ext uri="{BB962C8B-B14F-4D97-AF65-F5344CB8AC3E}">
        <p14:creationId xmlns:p14="http://schemas.microsoft.com/office/powerpoint/2010/main" val="2480034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Amazon ECS is a highly scalable, highly performing container orchestration service</a:t>
            </a:r>
            <a:r>
              <a:rPr lang="en-US" b="0" i="0" kern="1200" baseline="0">
                <a:solidFill>
                  <a:schemeClr val="tx1"/>
                </a:solidFill>
                <a:effectLst/>
                <a:latin typeface="+mn-lt"/>
                <a:ea typeface="+mn-ea"/>
                <a:cs typeface="+mn-cs"/>
              </a:rPr>
              <a:t> that supports Docker containers. You can use the service to run and scale containerized applications on AWS. You can use Amazon ECS to schedule the placement of containers across a managed cluster of EC2 instances. Amazon ECS provides its own schedulers, but it can also integrate with third-party schedulers to meet business or application-specific requirements. Amazon ECS is also tightly integrated with other AWS services, such as AWS Identity and Access Management (IAM), Amazon CloudWatch, and Amazon Route 53. </a:t>
            </a:r>
          </a:p>
          <a:p>
            <a:endParaRPr lang="en-US" b="0" i="0" kern="1200" baseline="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baseline="0">
                <a:solidFill>
                  <a:schemeClr val="tx1"/>
                </a:solidFill>
                <a:effectLst/>
                <a:latin typeface="+mn-lt"/>
                <a:ea typeface="+mn-ea"/>
                <a:cs typeface="+mn-cs"/>
              </a:rPr>
              <a:t>For more information about Amazon ECS, see the product page at </a:t>
            </a:r>
            <a:r>
              <a:rPr lang="en-US">
                <a:solidFill>
                  <a:srgbClr val="197956"/>
                </a:solidFill>
                <a:hlinkClick r:id="rId3">
                  <a:extLst>
                    <a:ext uri="{A12FA001-AC4F-418D-AE19-62706E023703}">
                      <ahyp:hlinkClr xmlns:ahyp="http://schemas.microsoft.com/office/drawing/2018/hyperlinkcolor" val="tx"/>
                    </a:ext>
                  </a:extLst>
                </a:hlinkClick>
              </a:rPr>
              <a:t>https://aws.amazon.com/ecs/</a:t>
            </a:r>
            <a:r>
              <a:rPr lang="en-US"/>
              <a:t>.</a:t>
            </a:r>
          </a:p>
        </p:txBody>
      </p:sp>
    </p:spTree>
    <p:extLst>
      <p:ext uri="{BB962C8B-B14F-4D97-AF65-F5344CB8AC3E}">
        <p14:creationId xmlns:p14="http://schemas.microsoft.com/office/powerpoint/2010/main" val="355309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Amazon ECR is a fully managed, cloud-based Docker image registry that makes it easy for you to store, manage, and deploy Docker container images. Amazon ECR integrates with Amazon ECS and the Docker CLI, which simplifies your development and production workflows. You can push your container images to Amazon ECR by using the Docker CLI from your development machine. Then, Amazon ECS can pull them directly for production deployments. </a:t>
            </a:r>
          </a:p>
          <a:p>
            <a:pPr marR="0">
              <a:spcBef>
                <a:spcPts val="0"/>
              </a:spcBef>
              <a:tabLst>
                <a:tab pos="457200" algn="l"/>
              </a:tabLst>
            </a:pPr>
            <a:endParaRPr lang="en-US">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Amazon ECR reduces the need to operate your own container repositories or be concerned about scaling the underlying infrastructure. Amazon ECR hosts your images in a highly available and scalable architecture, which enables you to reliably deploy containers for your applications. Amazon ECR is also secure. Amazon ECR transfers your container images over HTTPS, and it automatically encrypts your images at rest. You can configure policies to manage permissions for each repository and restrict access to IAM users, roles, or other AWS accounts.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For more information about Amazon ECR, see the product page at </a:t>
            </a:r>
            <a:r>
              <a:rPr lang="en-US" u="sng">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https://aws.amazon.com/ecr/</a:t>
            </a:r>
            <a:r>
              <a:rPr lang="en-US">
                <a:effectLst/>
                <a:ea typeface="Calibri" panose="020F0502020204030204" pitchFamily="34" charset="0"/>
                <a:cs typeface="Times New Roman" panose="02020603050405020304" pitchFamily="18" charset="0"/>
              </a:rPr>
              <a:t>.</a:t>
            </a:r>
            <a:endParaRPr lang="en-US"/>
          </a:p>
        </p:txBody>
      </p:sp>
    </p:spTree>
    <p:extLst>
      <p:ext uri="{BB962C8B-B14F-4D97-AF65-F5344CB8AC3E}">
        <p14:creationId xmlns:p14="http://schemas.microsoft.com/office/powerpoint/2010/main" val="220559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The following procedure is a high-level overview of Amazon ECS.</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First, container images are pulled from a registry. This registry can be Amazon ECR—which is one of many AWS services that integrate with Amazon ECS—or a third-party or private registry.</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Next, you define your application. Customize the container images with the necessary code and resources, and then create the appropriate configuration files to group. Then, define your containers as short-running tasks or long-running services within Amazon ECS.</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When you are ready to bring your services online, you select one of two launch types: AWS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or Amazon EC2. You can mix and match the two launch types as needed within your application. The next slide highlights distinctions between these two launch types.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Finally, you can use Amazon ECS to manage your containers. Amazon ECS scales your application and manages your containers for availability.</a:t>
            </a:r>
            <a:endParaRPr lang="en-US"/>
          </a:p>
        </p:txBody>
      </p:sp>
    </p:spTree>
    <p:extLst>
      <p:ext uri="{BB962C8B-B14F-4D97-AF65-F5344CB8AC3E}">
        <p14:creationId xmlns:p14="http://schemas.microsoft.com/office/powerpoint/2010/main" val="517216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400549"/>
            <a:ext cx="5486400" cy="3920491"/>
          </a:xfrm>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ea typeface="+mn-ea"/>
                <a:cs typeface="+mn-cs"/>
              </a:rPr>
              <a:t>In this section, you have learned that Amazon ECS offers two launch types: EC2 and Fargate.</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i="0" kern="1200">
              <a:solidFill>
                <a:schemeClr val="tx1"/>
              </a:solidFill>
              <a:effectLst/>
              <a:ea typeface="+mn-ea"/>
              <a:cs typeface="+mn-cs"/>
              <a:hlinkClick r:id="rId3"/>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a:ea typeface="Amazon Ember Light" panose="020B0403020204020204" pitchFamily="34" charset="0"/>
                <a:cs typeface="Amazon Ember Light" panose="020B0403020204020204" pitchFamily="34" charset="0"/>
                <a:hlinkClick r:id="rId3"/>
              </a:rPr>
              <a:t>AWS Fargate</a:t>
            </a:r>
            <a:r>
              <a:rPr lang="en-US">
                <a:ea typeface="Amazon Ember Light" panose="020B0403020204020204" pitchFamily="34" charset="0"/>
                <a:cs typeface="Amazon Ember Light" panose="020B0403020204020204" pitchFamily="34" charset="0"/>
              </a:rPr>
              <a:t> </a:t>
            </a:r>
            <a:r>
              <a:rPr lang="en-US"/>
              <a:t>is a fully managed container service that works with both Amazon ECS and Amazon Elastic Kubernetes Service (Amazon EKS). </a:t>
            </a:r>
            <a:r>
              <a:rPr lang="en-US" b="0" i="0" kern="1200">
                <a:solidFill>
                  <a:schemeClr val="tx1"/>
                </a:solidFill>
                <a:effectLst/>
                <a:ea typeface="+mn-ea"/>
                <a:cs typeface="+mn-cs"/>
              </a:rPr>
              <a:t>It enables you to run containers without needing to manage servers or clusters. With AWS Fargate, you no longer need to provision, configure, and scale clusters of virtual machines to run containers. As a result, you don’t need to choose server types, decide when to scale your clusters, or optimize cluster packing. AWS Fargate reduces the need for you to interact with or think about servers or clusters. Fargate </a:t>
            </a:r>
            <a:r>
              <a:rPr lang="en-US" kern="1200">
                <a:solidFill>
                  <a:schemeClr val="tx1"/>
                </a:solidFill>
                <a:effectLst/>
                <a:ea typeface="+mn-ea"/>
                <a:cs typeface="+mn-cs"/>
              </a:rPr>
              <a:t>enables you to </a:t>
            </a:r>
            <a:r>
              <a:rPr lang="en-US" b="0" i="0" kern="1200">
                <a:solidFill>
                  <a:schemeClr val="tx1"/>
                </a:solidFill>
                <a:effectLst/>
                <a:ea typeface="+mn-ea"/>
                <a:cs typeface="+mn-cs"/>
              </a:rPr>
              <a:t>focus on designing and building your applications instead of managing the infrastructure that runs them. </a:t>
            </a:r>
          </a:p>
        </p:txBody>
      </p:sp>
    </p:spTree>
    <p:extLst>
      <p:ext uri="{BB962C8B-B14F-4D97-AF65-F5344CB8AC3E}">
        <p14:creationId xmlns:p14="http://schemas.microsoft.com/office/powerpoint/2010/main" val="2429475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tabLst>
                <a:tab pos="457200" algn="l"/>
              </a:tabLst>
            </a:pPr>
            <a:r>
              <a:rPr lang="en-US">
                <a:effectLst/>
                <a:ea typeface="Calibri" panose="020F0502020204030204" pitchFamily="34" charset="0"/>
                <a:cs typeface="Times New Roman" panose="02020603050405020304" pitchFamily="18" charset="0"/>
              </a:rPr>
              <a:t>The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launch type provides a near-serverless experience, where AWS completely manages the infrastructure that supports your containers. AWS manages the placement of your tasks on instances, and makes sure that each task has the appropriate amount of CPU and memory. With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you can focus on the tasks and the application architecture, instead of worrying about the infrastructure.</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The Amazon EC2 launch type is useful when you want more control over the infrastructure that supports your tasks. When you use the Amazon EC2 launch type, you create and manage clusters of EC2 instances to support your containers. You also define the placement of containers across your cluster based on your resource needs, isolation policies, and availability requirements. You have more granular control over your environment without operating your own cluster management and configuration management systems, or worrying about scaling your management infrastructure.</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For example, you can use EC2 to launch services that have more predictable resource requirements. You can use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to launch other services that are subject to wide swings in demand. Regardless of the launch type that you use, Amazon ECS manages your containers for availability, and it scales your application as necessary to meet demand.</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For more information about AWS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see the product page at </a:t>
            </a:r>
            <a:r>
              <a:rPr lang="en-US" u="sng">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https://aws.amazon.com/fargate/</a:t>
            </a:r>
            <a:r>
              <a:rPr lang="en-US">
                <a:effectLst/>
                <a:ea typeface="Calibri" panose="020F0502020204030204" pitchFamily="34" charset="0"/>
                <a:cs typeface="Times New Roman" panose="02020603050405020304" pitchFamily="18" charset="0"/>
              </a:rPr>
              <a:t>.</a:t>
            </a:r>
          </a:p>
          <a:p>
            <a:pPr marR="0">
              <a:tabLst>
                <a:tab pos="457200" algn="l"/>
              </a:tabLst>
            </a:pPr>
            <a:endParaRPr lang="en-US">
              <a:solidFill>
                <a:srgbClr val="197956"/>
              </a:solidFill>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For more information about the </a:t>
            </a:r>
            <a:r>
              <a:rPr lang="en-US" err="1">
                <a:effectLst/>
                <a:ea typeface="Calibri" panose="020F0502020204030204" pitchFamily="34" charset="0"/>
                <a:cs typeface="Times New Roman" panose="02020603050405020304" pitchFamily="18" charset="0"/>
              </a:rPr>
              <a:t>Fargate</a:t>
            </a:r>
            <a:r>
              <a:rPr lang="en-US">
                <a:effectLst/>
                <a:ea typeface="Calibri" panose="020F0502020204030204" pitchFamily="34" charset="0"/>
                <a:cs typeface="Times New Roman" panose="02020603050405020304" pitchFamily="18" charset="0"/>
              </a:rPr>
              <a:t> and EC2 launch types, see </a:t>
            </a:r>
            <a:r>
              <a:rPr lang="en-US" u="sng">
                <a:solidFill>
                  <a:srgbClr val="197956"/>
                </a:solidFill>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https://docs.aws.amazon.com/AmazonECS/latest/developerguide/launch_types.html</a:t>
            </a:r>
            <a:r>
              <a:rPr lang="en-US">
                <a:effectLst/>
                <a:ea typeface="Calibri" panose="020F0502020204030204" pitchFamily="34" charset="0"/>
                <a:cs typeface="Times New Roman" panose="02020603050405020304" pitchFamily="18" charset="0"/>
              </a:rPr>
              <a:t>.</a:t>
            </a:r>
            <a:endParaRPr lang="en-US"/>
          </a:p>
        </p:txBody>
      </p:sp>
    </p:spTree>
    <p:extLst>
      <p:ext uri="{BB962C8B-B14F-4D97-AF65-F5344CB8AC3E}">
        <p14:creationId xmlns:p14="http://schemas.microsoft.com/office/powerpoint/2010/main" val="3526284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latin typeface="+mn-lt"/>
                <a:ea typeface="+mn-ea"/>
                <a:cs typeface="+mn-cs"/>
              </a:rPr>
              <a:t>You can programmatically access Amazon ECR from the AWS</a:t>
            </a:r>
            <a:r>
              <a:rPr lang="en-US" b="0" i="0" kern="1200" baseline="0">
                <a:solidFill>
                  <a:schemeClr val="tx1"/>
                </a:solidFill>
                <a:effectLst/>
                <a:latin typeface="+mn-lt"/>
                <a:ea typeface="+mn-ea"/>
                <a:cs typeface="+mn-cs"/>
              </a:rPr>
              <a:t> Command Line Interface (</a:t>
            </a:r>
            <a:r>
              <a:rPr lang="en-US" b="0" i="0" kern="1200">
                <a:solidFill>
                  <a:schemeClr val="tx1"/>
                </a:solidFill>
                <a:effectLst/>
                <a:latin typeface="+mn-lt"/>
                <a:ea typeface="+mn-ea"/>
                <a:cs typeface="+mn-cs"/>
              </a:rPr>
              <a:t>AWS CLI) and by using the </a:t>
            </a:r>
            <a:r>
              <a:rPr lang="en-US" b="0" i="0" kern="1200">
                <a:solidFill>
                  <a:srgbClr val="000000"/>
                </a:solidFill>
                <a:effectLst/>
                <a:latin typeface="+mn-lt"/>
                <a:ea typeface="+mn-ea"/>
                <a:cs typeface="+mn-cs"/>
              </a:rPr>
              <a:t>APIs.</a:t>
            </a:r>
            <a:r>
              <a:rPr lang="en-US" b="0" i="0" kern="1200">
                <a:solidFill>
                  <a:schemeClr val="tx1"/>
                </a:solidFill>
                <a:effectLst/>
                <a:latin typeface="+mn-lt"/>
                <a:ea typeface="+mn-ea"/>
                <a:cs typeface="+mn-cs"/>
              </a:rPr>
              <a:t> You can use the AWS CLI</a:t>
            </a:r>
            <a:r>
              <a:rPr lang="en-US" b="0" i="0" kern="1200" baseline="0">
                <a:solidFill>
                  <a:schemeClr val="tx1"/>
                </a:solidFill>
                <a:effectLst/>
                <a:latin typeface="+mn-lt"/>
                <a:ea typeface="+mn-ea"/>
                <a:cs typeface="+mn-cs"/>
              </a:rPr>
              <a:t> and APIs to</a:t>
            </a:r>
            <a:r>
              <a:rPr lang="en-US" b="0" i="0" kern="1200">
                <a:solidFill>
                  <a:schemeClr val="tx1"/>
                </a:solidFill>
                <a:effectLst/>
                <a:latin typeface="+mn-lt"/>
                <a:ea typeface="+mn-ea"/>
                <a:cs typeface="+mn-cs"/>
              </a:rPr>
              <a:t> create, monitor, and delete repositories and set repository permissions. You can perform these same </a:t>
            </a:r>
            <a:r>
              <a:rPr lang="en-US" b="0" i="0" kern="1200">
                <a:solidFill>
                  <a:srgbClr val="000000"/>
                </a:solidFill>
                <a:effectLst/>
                <a:latin typeface="+mn-lt"/>
                <a:ea typeface="+mn-ea"/>
                <a:cs typeface="+mn-cs"/>
              </a:rPr>
              <a:t>actions</a:t>
            </a:r>
            <a:r>
              <a:rPr lang="en-US" b="0" i="0" kern="1200">
                <a:solidFill>
                  <a:schemeClr val="tx1"/>
                </a:solidFill>
                <a:effectLst/>
                <a:latin typeface="+mn-lt"/>
                <a:ea typeface="+mn-ea"/>
                <a:cs typeface="+mn-cs"/>
              </a:rPr>
              <a:t> in the Amazon ECR c</a:t>
            </a:r>
            <a:r>
              <a:rPr lang="en-US" b="0" i="0" kern="1200">
                <a:solidFill>
                  <a:srgbClr val="000000"/>
                </a:solidFill>
                <a:effectLst/>
                <a:latin typeface="+mn-lt"/>
                <a:ea typeface="+mn-ea"/>
                <a:cs typeface="+mn-cs"/>
              </a:rPr>
              <a:t>onsole</a:t>
            </a:r>
            <a:r>
              <a:rPr lang="en-US" b="0" i="0" kern="1200">
                <a:solidFill>
                  <a:schemeClr val="tx1"/>
                </a:solidFill>
                <a:effectLst/>
                <a:latin typeface="+mn-lt"/>
                <a:ea typeface="+mn-ea"/>
                <a:cs typeface="+mn-cs"/>
              </a:rPr>
              <a:t>, which you can access from the Amazon ECS </a:t>
            </a:r>
            <a:r>
              <a:rPr lang="en-US" b="0" i="0" kern="1200">
                <a:solidFill>
                  <a:srgbClr val="000000"/>
                </a:solidFill>
                <a:effectLst/>
                <a:latin typeface="+mn-lt"/>
                <a:ea typeface="+mn-ea"/>
                <a:cs typeface="+mn-cs"/>
              </a:rPr>
              <a:t>console</a:t>
            </a:r>
            <a:r>
              <a:rPr lang="en-US" b="0" i="0" kern="1200">
                <a:solidFill>
                  <a:schemeClr val="tx1"/>
                </a:solidFill>
                <a:effectLst/>
                <a:latin typeface="+mn-lt"/>
                <a:ea typeface="+mn-ea"/>
                <a:cs typeface="+mn-cs"/>
              </a:rPr>
              <a:t>. Amazon ECR integrates with the Docker </a:t>
            </a:r>
            <a:r>
              <a:rPr lang="en-US" b="0" i="0" kern="1200">
                <a:solidFill>
                  <a:srgbClr val="000000"/>
                </a:solidFill>
                <a:effectLst/>
                <a:latin typeface="+mn-lt"/>
                <a:ea typeface="+mn-ea"/>
                <a:cs typeface="+mn-cs"/>
              </a:rPr>
              <a:t>CLI</a:t>
            </a:r>
            <a:r>
              <a:rPr lang="en-US" b="0" i="0" kern="1200">
                <a:solidFill>
                  <a:schemeClr val="tx1"/>
                </a:solidFill>
                <a:effectLst/>
                <a:latin typeface="+mn-lt"/>
                <a:ea typeface="+mn-ea"/>
                <a:cs typeface="+mn-cs"/>
              </a:rPr>
              <a:t>,</a:t>
            </a:r>
            <a:r>
              <a:rPr lang="en-US" b="0" i="0" kern="1200" baseline="0">
                <a:solidFill>
                  <a:schemeClr val="tx1"/>
                </a:solidFill>
                <a:effectLst/>
                <a:latin typeface="+mn-lt"/>
                <a:ea typeface="+mn-ea"/>
                <a:cs typeface="+mn-cs"/>
              </a:rPr>
              <a:t> which allows </a:t>
            </a:r>
            <a:r>
              <a:rPr lang="en-US" b="0" i="0" kern="1200">
                <a:solidFill>
                  <a:schemeClr val="tx1"/>
                </a:solidFill>
                <a:effectLst/>
                <a:latin typeface="+mn-lt"/>
                <a:ea typeface="+mn-ea"/>
                <a:cs typeface="+mn-cs"/>
              </a:rPr>
              <a:t>you to push, pull, and tag images on your development machine.</a:t>
            </a:r>
            <a:r>
              <a:rPr lang="en-US" b="0" i="0" kern="1200" baseline="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baseline="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baseline="0">
                <a:solidFill>
                  <a:schemeClr val="tx1"/>
                </a:solidFill>
                <a:effectLst/>
                <a:latin typeface="+mn-lt"/>
                <a:ea typeface="+mn-ea"/>
                <a:cs typeface="+mn-cs"/>
              </a:rPr>
              <a:t>This example shows how to create a repository that is called </a:t>
            </a:r>
            <a:r>
              <a:rPr lang="en-US" b="0" i="1" kern="1200" baseline="0">
                <a:solidFill>
                  <a:schemeClr val="tx1"/>
                </a:solidFill>
                <a:effectLst/>
                <a:latin typeface="+mn-lt"/>
                <a:ea typeface="+mn-ea"/>
                <a:cs typeface="+mn-cs"/>
              </a:rPr>
              <a:t>hello-world</a:t>
            </a:r>
            <a:r>
              <a:rPr lang="en-US" b="0" i="0" kern="1200" baseline="0">
                <a:solidFill>
                  <a:schemeClr val="tx1"/>
                </a:solidFill>
                <a:effectLst/>
                <a:latin typeface="+mn-lt"/>
                <a:ea typeface="+mn-ea"/>
                <a:cs typeface="+mn-cs"/>
              </a:rPr>
              <a:t> with Amazon ECR. The example uses Docker CLI commands to build and tag an image, and then push it into the repository. To push an image into Amazon ECR, you must first authenticate the Docker client to your Amazon ECR registry.</a:t>
            </a:r>
          </a:p>
          <a:p>
            <a:endParaRPr lang="en-US" b="0" i="0" kern="1200">
              <a:solidFill>
                <a:schemeClr val="tx1"/>
              </a:solidFill>
              <a:effectLst/>
              <a:latin typeface="+mn-lt"/>
              <a:ea typeface="+mn-ea"/>
              <a:cs typeface="+mn-cs"/>
            </a:endParaRPr>
          </a:p>
          <a:p>
            <a:r>
              <a:rPr lang="en-US"/>
              <a:t>For more information, see the following resources: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a:t>Using Amazon ECR with the AWS CLI:  </a:t>
            </a:r>
            <a:r>
              <a:rPr lang="en-US" u="sng" kern="1200">
                <a:solidFill>
                  <a:srgbClr val="197956"/>
                </a:solidFill>
                <a:effectLst/>
                <a:latin typeface="+mn-lt"/>
                <a:ea typeface="+mn-ea"/>
                <a:cs typeface="+mn-cs"/>
                <a:hlinkClick r:id="rId3">
                  <a:extLst>
                    <a:ext uri="{A12FA001-AC4F-418D-AE19-62706E023703}">
                      <ahyp:hlinkClr xmlns:ahyp="http://schemas.microsoft.com/office/drawing/2018/hyperlinkcolor" val="tx"/>
                    </a:ext>
                  </a:extLst>
                </a:hlinkClick>
              </a:rPr>
              <a:t>https://docs.aws.amazon.com/AmazonECR/latest/userguide/getting-started-cli.html</a:t>
            </a:r>
            <a:r>
              <a:rPr lang="en-US"/>
              <a:t>.</a:t>
            </a:r>
            <a:endParaRPr lang="en-US" u="sng"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kern="1200">
                <a:solidFill>
                  <a:schemeClr val="tx1"/>
                </a:solidFill>
                <a:effectLst/>
                <a:latin typeface="+mn-lt"/>
                <a:ea typeface="+mn-ea"/>
                <a:cs typeface="+mn-cs"/>
              </a:rPr>
              <a:t>Authenticating Amazon ECR Repositories for Docker CLI with Credential Helper</a:t>
            </a:r>
            <a:r>
              <a:rPr lang="en-US" b="0" i="0" kern="1200">
                <a:solidFill>
                  <a:srgbClr val="000000"/>
                </a:solidFill>
                <a:effectLst/>
                <a:latin typeface="+mn-lt"/>
                <a:ea typeface="+mn-ea"/>
                <a:cs typeface="+mn-cs"/>
              </a:rPr>
              <a:t>:</a:t>
            </a:r>
            <a:r>
              <a:rPr lang="en-US" b="0" i="0" kern="1200" baseline="0">
                <a:solidFill>
                  <a:schemeClr val="tx1"/>
                </a:solidFill>
                <a:effectLst/>
                <a:latin typeface="+mn-lt"/>
                <a:ea typeface="+mn-ea"/>
                <a:cs typeface="+mn-cs"/>
              </a:rPr>
              <a:t> </a:t>
            </a:r>
            <a:r>
              <a:rPr lang="en-US">
                <a:solidFill>
                  <a:srgbClr val="197956"/>
                </a:solidFill>
                <a:hlinkClick r:id="rId4">
                  <a:extLst>
                    <a:ext uri="{A12FA001-AC4F-418D-AE19-62706E023703}">
                      <ahyp:hlinkClr xmlns:ahyp="http://schemas.microsoft.com/office/drawing/2018/hyperlinkcolor" val="tx"/>
                    </a:ext>
                  </a:extLst>
                </a:hlinkClick>
              </a:rPr>
              <a:t>https://aws.amazon.com/blogs/compute/authenticating-amazon-ecr-repositories-for-docker-cli-with-credential-helper/</a:t>
            </a:r>
            <a:r>
              <a:rPr lang="en-US"/>
              <a:t>.</a:t>
            </a:r>
          </a:p>
        </p:txBody>
      </p:sp>
    </p:spTree>
    <p:extLst>
      <p:ext uri="{BB962C8B-B14F-4D97-AF65-F5344CB8AC3E}">
        <p14:creationId xmlns:p14="http://schemas.microsoft.com/office/powerpoint/2010/main" val="3101096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tabLst>
                <a:tab pos="457200" algn="l"/>
              </a:tabLst>
            </a:pPr>
            <a:r>
              <a:rPr lang="en-US">
                <a:effectLst/>
                <a:ea typeface="Calibri" panose="020F0502020204030204" pitchFamily="34" charset="0"/>
                <a:cs typeface="Times New Roman" panose="02020603050405020304" pitchFamily="18" charset="0"/>
              </a:rPr>
              <a:t>Kubernetes is an open-source container management platform that you can use to deploy and manage containerized applications at scale. Kubernetes manages clusters of EC2 instances, and it runs containers on those instances with processes for deployment, maintenance, and scaling. By using Kubernetes, you can run any type of containerized application by using the same toolset on premises and in the cloud. </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You can use AWS services to run Kubernetes in the cloud. These services include scalable and highly available VM infrastructure, community created service integrations, and Amazon Elastic Kubernetes Service (Amazon EKS). Amazon EKS is a managed service that runs the Kubernetes management infrastructure across multiple Availability Zones to reduce the chance of a single point of failure. </a:t>
            </a:r>
          </a:p>
          <a:p>
            <a:pPr marR="0">
              <a:tabLst>
                <a:tab pos="457200" algn="l"/>
              </a:tabLst>
            </a:pPr>
            <a:endParaRPr lang="en-US">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Amazon EKS is certified Kubernetes conformant, so you can use existing tools and plugins from partners and the Kubernetes community. Applications that run on any standard Kubernetes environment are fully compatible, and they can be migrated to Amazon EKS. Amazon EKS automatically sets up secure and encrypted channels to your worker nodes, which makes your infrastructure that runs on Amazon EKS secure by default. AWS actively works with the Kubernetes community by contributing to the Kubernetes code base, which helps Amazon EKS users employ AWS services and features.</a:t>
            </a:r>
          </a:p>
          <a:p>
            <a:pPr marR="0">
              <a:tabLst>
                <a:tab pos="457200" algn="l"/>
              </a:tabLst>
            </a:pPr>
            <a:endParaRPr lang="en-US">
              <a:ea typeface="Calibri" panose="020F0502020204030204" pitchFamily="34" charset="0"/>
              <a:cs typeface="Times New Roman" panose="02020603050405020304" pitchFamily="18" charset="0"/>
            </a:endParaRPr>
          </a:p>
          <a:p>
            <a:pPr>
              <a:tabLst>
                <a:tab pos="457200" algn="l"/>
              </a:tabLst>
            </a:pPr>
            <a:r>
              <a:rPr lang="en-US">
                <a:effectLst/>
                <a:ea typeface="Calibri" panose="020F0502020204030204" pitchFamily="34" charset="0"/>
                <a:cs typeface="Times New Roman" panose="02020603050405020304" pitchFamily="18" charset="0"/>
              </a:rPr>
              <a:t>For more information about Amazon EKS, see the product page at </a:t>
            </a:r>
            <a:r>
              <a:rPr lang="en-US">
                <a:solidFill>
                  <a:srgbClr val="197956"/>
                </a:solidFill>
                <a:effectLst/>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https://aws.amazon.com/eks/</a:t>
            </a:r>
            <a:r>
              <a:rPr lang="en-US">
                <a:effectLst/>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4118526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lang="en-US" b="0" i="0" kern="1200">
                <a:solidFill>
                  <a:schemeClr val="tx1"/>
                </a:solidFill>
                <a:effectLst/>
                <a:latin typeface="+mn-lt"/>
                <a:ea typeface="+mn-ea"/>
                <a:cs typeface="+mn-cs"/>
              </a:rPr>
              <a:t>When</a:t>
            </a:r>
            <a:r>
              <a:rPr lang="en-US" b="0" i="0" kern="1200" baseline="0">
                <a:solidFill>
                  <a:schemeClr val="tx1"/>
                </a:solidFill>
                <a:effectLst/>
                <a:latin typeface="+mn-lt"/>
                <a:ea typeface="+mn-ea"/>
                <a:cs typeface="+mn-cs"/>
              </a:rPr>
              <a:t> you select Amazon EKS as your container management service, you provision an Amazon EKS cluster and deploy Amazon EC2 or </a:t>
            </a:r>
            <a:r>
              <a:rPr lang="en-US" b="0" i="0" kern="1200" baseline="0" err="1">
                <a:solidFill>
                  <a:schemeClr val="tx1"/>
                </a:solidFill>
                <a:effectLst/>
                <a:latin typeface="+mn-lt"/>
                <a:ea typeface="+mn-ea"/>
                <a:cs typeface="+mn-cs"/>
              </a:rPr>
              <a:t>Fargate</a:t>
            </a:r>
            <a:r>
              <a:rPr lang="en-US" b="0" i="0" kern="1200" baseline="0">
                <a:solidFill>
                  <a:schemeClr val="tx1"/>
                </a:solidFill>
                <a:effectLst/>
                <a:latin typeface="+mn-lt"/>
                <a:ea typeface="+mn-ea"/>
                <a:cs typeface="+mn-cs"/>
              </a:rPr>
              <a:t> worker nodes (that is, worker machines) for your Amazon EKS cluster. You then connect to Amazon EKS and run your Kubernetes applications.</a:t>
            </a:r>
          </a:p>
        </p:txBody>
      </p:sp>
    </p:spTree>
    <p:extLst>
      <p:ext uri="{BB962C8B-B14F-4D97-AF65-F5344CB8AC3E}">
        <p14:creationId xmlns:p14="http://schemas.microsoft.com/office/powerpoint/2010/main" val="3729039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lang="en-US"/>
              <a:t>Elastic Beanstalk is a service for deploying and scaling web applications and services. It automatically handles deployment details like capacity provisioning, load balancing, auto scaling, and application health monitoring.</a:t>
            </a:r>
          </a:p>
        </p:txBody>
      </p:sp>
    </p:spTree>
    <p:extLst>
      <p:ext uri="{BB962C8B-B14F-4D97-AF65-F5344CB8AC3E}">
        <p14:creationId xmlns:p14="http://schemas.microsoft.com/office/powerpoint/2010/main" val="2996945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AWS Elastic Beanstalk enables you to manage all of the resources that run your </a:t>
            </a:r>
            <a:r>
              <a:rPr lang="en-US" i="0"/>
              <a:t>application as environments</a:t>
            </a:r>
            <a:r>
              <a:rPr lang="en-US"/>
              <a:t>. This slide lists key Elastic Beanstalk components.</a:t>
            </a:r>
          </a:p>
        </p:txBody>
      </p:sp>
    </p:spTree>
    <p:extLst>
      <p:ext uri="{BB962C8B-B14F-4D97-AF65-F5344CB8AC3E}">
        <p14:creationId xmlns:p14="http://schemas.microsoft.com/office/powerpoint/2010/main" val="2686160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970104"/>
          </a:xfrm>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The Elastic Beanstalk permissions model requires you to assign two roles when creating an environment: the service role and the instance profile.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b="1">
                <a:effectLst/>
                <a:ea typeface="Calibri" panose="020F0502020204030204" pitchFamily="34" charset="0"/>
                <a:cs typeface="Times New Roman" panose="02020603050405020304" pitchFamily="18" charset="0"/>
              </a:rPr>
              <a:t>Service role: </a:t>
            </a: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Elastic Beanstalk assumes the service role to use other AWS services on your behalf.</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Suppose that you create an environment with the eb create command in the Elastic Beanstalk CLI. If you don't specify a service role through the </a:t>
            </a:r>
            <a:br>
              <a:rPr lang="en-US">
                <a:effectLst/>
                <a:ea typeface="Calibri" panose="020F0502020204030204" pitchFamily="34" charset="0"/>
                <a:cs typeface="Times New Roman" panose="02020603050405020304" pitchFamily="18" charset="0"/>
              </a:rPr>
            </a:br>
            <a:r>
              <a:rPr lang="en-US">
                <a:effectLst/>
                <a:ea typeface="Calibri" panose="020F0502020204030204" pitchFamily="34" charset="0"/>
                <a:cs typeface="Times New Roman" panose="02020603050405020304" pitchFamily="18" charset="0"/>
              </a:rPr>
              <a:t>--service-role option, Elastic Beanstalk creates the default service role, </a:t>
            </a:r>
            <a:r>
              <a:rPr lang="en-US" err="1">
                <a:effectLst/>
                <a:ea typeface="Calibri" panose="020F0502020204030204" pitchFamily="34" charset="0"/>
                <a:cs typeface="Times New Roman" panose="02020603050405020304" pitchFamily="18" charset="0"/>
              </a:rPr>
              <a:t>aws</a:t>
            </a:r>
            <a:r>
              <a:rPr lang="en-US">
                <a:effectLst/>
                <a:ea typeface="Calibri" panose="020F0502020204030204" pitchFamily="34" charset="0"/>
                <a:cs typeface="Times New Roman" panose="02020603050405020304" pitchFamily="18" charset="0"/>
              </a:rPr>
              <a:t>-</a:t>
            </a:r>
            <a:r>
              <a:rPr lang="en-US" err="1">
                <a:effectLst/>
                <a:ea typeface="Calibri" panose="020F0502020204030204" pitchFamily="34" charset="0"/>
                <a:cs typeface="Times New Roman" panose="02020603050405020304" pitchFamily="18" charset="0"/>
              </a:rPr>
              <a:t>elasticbeanstalk</a:t>
            </a:r>
            <a:r>
              <a:rPr lang="en-US">
                <a:effectLst/>
                <a:ea typeface="Calibri" panose="020F0502020204030204" pitchFamily="34" charset="0"/>
                <a:cs typeface="Times New Roman" panose="02020603050405020304" pitchFamily="18" charset="0"/>
              </a:rPr>
              <a:t>-service-role. If the default service role already exists, Elastic Beanstalk uses it for the new environment.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b="1">
                <a:effectLst/>
                <a:ea typeface="Calibri" panose="020F0502020204030204" pitchFamily="34" charset="0"/>
                <a:cs typeface="Times New Roman" panose="02020603050405020304" pitchFamily="18" charset="0"/>
              </a:rPr>
              <a:t>Instance profile:</a:t>
            </a: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An instance profile is a container for an IAM role that can pass role information to an EC2 instance when the instance starts.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The instance profile is applied to the instances in your environment. The instances retrieve application versions from Amazon Simple Storage Service (Amazon S3), upload logs to Amazon S3, and perform other tasks. The tasks vary depending on the environment type and platform. In </a:t>
            </a:r>
            <a:r>
              <a:rPr lang="en-US" err="1">
                <a:effectLst/>
                <a:ea typeface="Calibri" panose="020F0502020204030204" pitchFamily="34" charset="0"/>
                <a:cs typeface="Times New Roman" panose="02020603050405020304" pitchFamily="18" charset="0"/>
              </a:rPr>
              <a:t>multicontainer</a:t>
            </a:r>
            <a:r>
              <a:rPr lang="en-US">
                <a:effectLst/>
                <a:ea typeface="Calibri" panose="020F0502020204030204" pitchFamily="34" charset="0"/>
                <a:cs typeface="Times New Roman" panose="02020603050405020304" pitchFamily="18" charset="0"/>
              </a:rPr>
              <a:t> Docker environments, the instance profile coordinates container deployments with Amazon ECS.</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When you launch an environment by using the Elastic Beanstalk console or the CLI, Elastic Beanstalk creates a default instance profile, called aws-elasticbeanstalk-ec2-role. Managed policies are assigned to the role with default permissions.</a:t>
            </a:r>
          </a:p>
          <a:p>
            <a:pPr marR="0">
              <a:spcBef>
                <a:spcPts val="0"/>
              </a:spcBef>
              <a:tabLst>
                <a:tab pos="457200" algn="l"/>
              </a:tabLst>
            </a:pPr>
            <a:endParaRPr lang="en-US">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Elastic Beanstalk provides three managed policies that are assigned to your environment by default. The policies consist of one for the web server tier, one for the worker tier, and one with additional permissions necessary for </a:t>
            </a:r>
            <a:r>
              <a:rPr lang="en-US" err="1">
                <a:effectLst/>
                <a:ea typeface="Calibri" panose="020F0502020204030204" pitchFamily="34" charset="0"/>
                <a:cs typeface="Times New Roman" panose="02020603050405020304" pitchFamily="18" charset="0"/>
              </a:rPr>
              <a:t>multicontainer</a:t>
            </a:r>
            <a:r>
              <a:rPr lang="en-US">
                <a:effectLst/>
                <a:ea typeface="Calibri" panose="020F0502020204030204" pitchFamily="34" charset="0"/>
                <a:cs typeface="Times New Roman" panose="02020603050405020304" pitchFamily="18" charset="0"/>
              </a:rPr>
              <a:t> Docker environments</a:t>
            </a:r>
            <a:r>
              <a:rPr lang="en-US">
                <a:ea typeface="Calibri" panose="020F0502020204030204" pitchFamily="34" charset="0"/>
                <a:cs typeface="Times New Roman" panose="02020603050405020304" pitchFamily="18" charset="0"/>
              </a:rPr>
              <a:t>:</a:t>
            </a:r>
            <a:endParaRPr lang="en-US">
              <a:effectLst/>
              <a:ea typeface="Calibri" panose="020F0502020204030204" pitchFamily="34" charset="0"/>
              <a:cs typeface="Times New Roman" panose="02020603050405020304" pitchFamily="18" charset="0"/>
            </a:endParaRPr>
          </a:p>
          <a:p>
            <a:pPr marL="171450" marR="0" lvl="0" indent="-171450">
              <a:spcBef>
                <a:spcPts val="0"/>
              </a:spcBef>
              <a:buFont typeface="Arial" panose="020B0604020202020204" pitchFamily="34" charset="0"/>
              <a:buChar char="•"/>
              <a:tabLst>
                <a:tab pos="457200" algn="l"/>
              </a:tabLst>
            </a:pPr>
            <a:r>
              <a:rPr lang="en-US" err="1">
                <a:effectLst/>
                <a:ea typeface="Calibri" panose="020F0502020204030204" pitchFamily="34" charset="0"/>
                <a:cs typeface="Times New Roman" panose="02020603050405020304" pitchFamily="18" charset="0"/>
              </a:rPr>
              <a:t>AWSElasticBeanstalkWebTier</a:t>
            </a:r>
            <a:r>
              <a:rPr lang="en-US">
                <a:effectLst/>
                <a:ea typeface="Calibri" panose="020F0502020204030204" pitchFamily="34" charset="0"/>
                <a:cs typeface="Times New Roman" panose="02020603050405020304" pitchFamily="18" charset="0"/>
              </a:rPr>
              <a:t> grants permissions to instances in your environment to upload logs to Amazon S3 and send debugging information to AWS X-Ray.</a:t>
            </a:r>
          </a:p>
          <a:p>
            <a:pPr marL="171450" marR="0" lvl="0" indent="-171450">
              <a:spcBef>
                <a:spcPts val="0"/>
              </a:spcBef>
              <a:buFont typeface="Arial" panose="020B0604020202020204" pitchFamily="34" charset="0"/>
              <a:buChar char="•"/>
              <a:tabLst>
                <a:tab pos="457200" algn="l"/>
              </a:tabLst>
            </a:pPr>
            <a:r>
              <a:rPr lang="en-US" err="1">
                <a:effectLst/>
                <a:ea typeface="Calibri" panose="020F0502020204030204" pitchFamily="34" charset="0"/>
                <a:cs typeface="Times New Roman" panose="02020603050405020304" pitchFamily="18" charset="0"/>
              </a:rPr>
              <a:t>AWSElasticBeanstalkWorkerTier</a:t>
            </a:r>
            <a:r>
              <a:rPr lang="en-US">
                <a:effectLst/>
                <a:ea typeface="Calibri" panose="020F0502020204030204" pitchFamily="34" charset="0"/>
                <a:cs typeface="Times New Roman" panose="02020603050405020304" pitchFamily="18" charset="0"/>
              </a:rPr>
              <a:t> grants permissions for log uploads, debugging, metric publication, and worker instance tasks, including queue management, leader election, and periodic tasks. </a:t>
            </a:r>
          </a:p>
          <a:p>
            <a:pPr marL="171450" marR="0" lvl="0" indent="-171450">
              <a:spcBef>
                <a:spcPts val="0"/>
              </a:spcBef>
              <a:buFont typeface="Arial" panose="020B0604020202020204" pitchFamily="34" charset="0"/>
              <a:buChar char="•"/>
              <a:tabLst>
                <a:tab pos="457200" algn="l"/>
              </a:tabLst>
            </a:pPr>
            <a:r>
              <a:rPr lang="en-US" err="1">
                <a:effectLst/>
                <a:ea typeface="Calibri" panose="020F0502020204030204" pitchFamily="34" charset="0"/>
                <a:cs typeface="Times New Roman" panose="02020603050405020304" pitchFamily="18" charset="0"/>
              </a:rPr>
              <a:t>AWSElasticBeanstalkMulticontainerDocker</a:t>
            </a:r>
            <a:r>
              <a:rPr lang="en-US">
                <a:effectLst/>
                <a:ea typeface="Calibri" panose="020F0502020204030204" pitchFamily="34" charset="0"/>
                <a:cs typeface="Times New Roman" panose="02020603050405020304" pitchFamily="18" charset="0"/>
              </a:rPr>
              <a:t> grants permissions for Amazon ECS to coordinate cluster tasks.</a:t>
            </a:r>
          </a:p>
          <a:p>
            <a:pPr marR="0" lvl="0">
              <a:spcBef>
                <a:spcPts val="0"/>
              </a:spcBef>
              <a:tabLst>
                <a:tab pos="457200" algn="l"/>
              </a:tabLst>
            </a:pPr>
            <a:endParaRPr lang="en-US" b="1">
              <a:effectLst/>
              <a:ea typeface="Calibri" panose="020F0502020204030204" pitchFamily="34" charset="0"/>
              <a:cs typeface="Times New Roman" panose="02020603050405020304" pitchFamily="18" charset="0"/>
            </a:endParaRPr>
          </a:p>
          <a:p>
            <a:pPr marR="0">
              <a:spcBef>
                <a:spcPts val="0"/>
              </a:spcBef>
              <a:tabLst>
                <a:tab pos="457200" algn="l"/>
              </a:tabLst>
            </a:pPr>
            <a:r>
              <a:rPr lang="en-US" b="1">
                <a:effectLst/>
                <a:ea typeface="Calibri" panose="020F0502020204030204" pitchFamily="34" charset="0"/>
                <a:cs typeface="Times New Roman" panose="02020603050405020304" pitchFamily="18" charset="0"/>
              </a:rPr>
              <a:t>User policies:</a:t>
            </a: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User policies enable users to create and manage </a:t>
            </a:r>
            <a:r>
              <a:rPr lang="en-US">
                <a:ea typeface="Calibri" panose="020F0502020204030204" pitchFamily="34" charset="0"/>
                <a:cs typeface="Times New Roman" panose="02020603050405020304" pitchFamily="18" charset="0"/>
              </a:rPr>
              <a:t>environments. Elastic Beanstalk provides managed policies for full access and read-only access:</a:t>
            </a:r>
          </a:p>
          <a:p>
            <a:pPr marL="171450" marR="0" lvl="0" indent="-171450">
              <a:spcBef>
                <a:spcPts val="0"/>
              </a:spcBef>
              <a:buFont typeface="Arial" panose="020B0604020202020204" pitchFamily="34" charset="0"/>
              <a:buChar char="•"/>
              <a:tabLst>
                <a:tab pos="457200" algn="l"/>
                <a:tab pos="514350" algn="l"/>
              </a:tabLst>
            </a:pPr>
            <a:r>
              <a:rPr lang="en-US" err="1">
                <a:ea typeface="Times New Roman" panose="02020603050405020304" pitchFamily="18" charset="0"/>
                <a:cs typeface="Times New Roman" panose="02020603050405020304" pitchFamily="18" charset="0"/>
              </a:rPr>
              <a:t>AdministratorAccess-AWSElasticBeanstalk</a:t>
            </a:r>
            <a:endParaRPr lang="en-US">
              <a:ea typeface="Times New Roman" panose="02020603050405020304" pitchFamily="18" charset="0"/>
              <a:cs typeface="Times New Roman" panose="02020603050405020304" pitchFamily="18" charset="0"/>
            </a:endParaRPr>
          </a:p>
          <a:p>
            <a:pPr marL="171450" marR="0" lvl="0" indent="-171450">
              <a:spcBef>
                <a:spcPts val="0"/>
              </a:spcBef>
              <a:buFont typeface="Arial" panose="020B0604020202020204" pitchFamily="34" charset="0"/>
              <a:buChar char="•"/>
              <a:tabLst>
                <a:tab pos="457200" algn="l"/>
                <a:tab pos="514350" algn="l"/>
              </a:tabLst>
            </a:pPr>
            <a:r>
              <a:rPr lang="en-US" err="1">
                <a:ea typeface="Times New Roman" panose="02020603050405020304" pitchFamily="18" charset="0"/>
                <a:cs typeface="Times New Roman" panose="02020603050405020304" pitchFamily="18" charset="0"/>
              </a:rPr>
              <a:t>AWSElasticBeanstalkReadOnly</a:t>
            </a:r>
            <a:endParaRPr lang="en-U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507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tab pos="457200" algn="l"/>
              </a:tabLst>
              <a:defRPr/>
            </a:pPr>
            <a:r>
              <a:rPr lang="en-US" b="0" i="0" kern="1200">
                <a:ea typeface="Amazon Ember Light" panose="020B0403020204020204" pitchFamily="34" charset="0"/>
                <a:cs typeface="Amazon Ember Light" panose="020B0403020204020204" pitchFamily="34" charset="0"/>
              </a:rPr>
              <a:t>This slide shows an excerpt of the </a:t>
            </a:r>
            <a:r>
              <a:rPr lang="en-US" sz="1200"/>
              <a:t>AmazonEC2ReadOnlyAccess policy. </a:t>
            </a:r>
            <a:endParaRPr lang="en-US" b="1" i="0" kern="120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506880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a:t>Elastic Beanstalk uses Amazon ECS to coordinate container deployments to </a:t>
            </a:r>
            <a:r>
              <a:rPr lang="en-US" err="1"/>
              <a:t>multicontainer</a:t>
            </a:r>
            <a:r>
              <a:rPr lang="en-US"/>
              <a:t> Docker environments. This coordination simplifies the task of getting up and running with containers. Elastic Beanstalk takes care of Amazon ECS tasks, including cluster creation, task definition, and running tasks. </a:t>
            </a:r>
          </a:p>
          <a:p>
            <a:endParaRPr lang="en-US"/>
          </a:p>
          <a:p>
            <a:r>
              <a:rPr lang="en-US"/>
              <a:t>You can also continue to customize your Elastic Beanstalk environment as you experiment and learn more about working with containers. When you create an Elastic Beanstalk environment, Elastic Beanstalk provisions and configures all of the AWS resources necessary to run and support your application. In addition to configuring your environment's metadata and update behavior, you can customize these resources by providing values for configuration options.</a:t>
            </a:r>
          </a:p>
          <a:p>
            <a:endParaRPr lang="en-US"/>
          </a:p>
          <a:p>
            <a:r>
              <a:rPr lang="en-US"/>
              <a:t>Elastic Beanstalk uses AWS CloudFormation to launch the resources in your environment and propagate configuration changes. The resources are defined in a template that you can view in the CloudFormation console.</a:t>
            </a:r>
          </a:p>
        </p:txBody>
      </p:sp>
    </p:spTree>
    <p:extLst>
      <p:ext uri="{BB962C8B-B14F-4D97-AF65-F5344CB8AC3E}">
        <p14:creationId xmlns:p14="http://schemas.microsoft.com/office/powerpoint/2010/main" val="2912660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5359052"/>
          </a:xfrm>
        </p:spPr>
        <p:txBody>
          <a:bodyPr/>
          <a:lstStyle/>
          <a:p>
            <a:pPr marR="0">
              <a:tabLst>
                <a:tab pos="457200" algn="l"/>
              </a:tabLst>
            </a:pPr>
            <a:r>
              <a:rPr lang="en-US">
                <a:effectLst/>
                <a:ea typeface="Calibri" panose="020F0502020204030204" pitchFamily="34" charset="0"/>
                <a:cs typeface="Times New Roman" panose="02020603050405020304" pitchFamily="18" charset="0"/>
              </a:rPr>
              <a:t>You can use Elastic Beanstalk to create an environment where your EC2 instances run multiple Docker containers side by side. </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This diagram shows an example Elastic Beanstalk environment that is configured with three Docker containers running on each EC2 instance in an Auto Scaling group. </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The </a:t>
            </a:r>
            <a:r>
              <a:rPr lang="en-US" err="1">
                <a:effectLst/>
                <a:ea typeface="Calibri" panose="020F0502020204030204" pitchFamily="34" charset="0"/>
                <a:cs typeface="Times New Roman" panose="02020603050405020304" pitchFamily="18" charset="0"/>
              </a:rPr>
              <a:t>multicontainer</a:t>
            </a:r>
            <a:r>
              <a:rPr lang="en-US">
                <a:effectLst/>
                <a:ea typeface="Calibri" panose="020F0502020204030204" pitchFamily="34" charset="0"/>
                <a:cs typeface="Times New Roman" panose="02020603050405020304" pitchFamily="18" charset="0"/>
              </a:rPr>
              <a:t> Docker platform for Elastic Beanstalk requires images to be prebuilt and stored in a public or private online image repository. </a:t>
            </a:r>
          </a:p>
          <a:p>
            <a:pPr marR="0">
              <a:tabLst>
                <a:tab pos="457200" algn="l"/>
              </a:tabLst>
            </a:pPr>
            <a:endParaRPr lang="en-US">
              <a:effectLst/>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When you create an environment by using the </a:t>
            </a:r>
            <a:r>
              <a:rPr lang="en-US" err="1">
                <a:effectLst/>
                <a:ea typeface="Calibri" panose="020F0502020204030204" pitchFamily="34" charset="0"/>
                <a:cs typeface="Times New Roman" panose="02020603050405020304" pitchFamily="18" charset="0"/>
              </a:rPr>
              <a:t>multicontainer</a:t>
            </a:r>
            <a:r>
              <a:rPr lang="en-US">
                <a:effectLst/>
                <a:ea typeface="Calibri" panose="020F0502020204030204" pitchFamily="34" charset="0"/>
                <a:cs typeface="Times New Roman" panose="02020603050405020304" pitchFamily="18" charset="0"/>
              </a:rPr>
              <a:t> Docker platform, Elastic Beanstalk automatically creates and configures several Amazon ECS resources. At the same time, it is building the environment to create the necessary containers on each EC2 instance.  </a:t>
            </a:r>
          </a:p>
          <a:p>
            <a:pPr marR="0">
              <a:tabLst>
                <a:tab pos="457200" algn="l"/>
              </a:tabLst>
            </a:pPr>
            <a:endParaRPr lang="en-US">
              <a:ea typeface="Calibri" panose="020F0502020204030204" pitchFamily="34" charset="0"/>
              <a:cs typeface="Times New Roman" panose="02020603050405020304" pitchFamily="18" charset="0"/>
            </a:endParaRPr>
          </a:p>
          <a:p>
            <a:pPr marR="0">
              <a:tabLst>
                <a:tab pos="457200" algn="l"/>
              </a:tabLst>
            </a:pPr>
            <a:r>
              <a:rPr lang="en-US">
                <a:effectLst/>
                <a:ea typeface="Calibri" panose="020F0502020204030204" pitchFamily="34" charset="0"/>
                <a:cs typeface="Times New Roman" panose="02020603050405020304" pitchFamily="18" charset="0"/>
              </a:rPr>
              <a:t>Here are the components that Elastic Beanstalk creates:</a:t>
            </a:r>
          </a:p>
          <a:p>
            <a:pPr marL="171450" marR="0" lvl="0" indent="-171450">
              <a:buFont typeface="Arial" panose="020B0604020202020204" pitchFamily="34" charset="0"/>
              <a:buChar char="•"/>
              <a:tabLst>
                <a:tab pos="457200" algn="l"/>
              </a:tabLst>
            </a:pPr>
            <a:r>
              <a:rPr lang="en-US" b="1">
                <a:effectLst/>
                <a:ea typeface="Calibri" panose="020F0502020204030204" pitchFamily="34" charset="0"/>
                <a:cs typeface="Times New Roman" panose="02020603050405020304" pitchFamily="18" charset="0"/>
              </a:rPr>
              <a:t>Amazon ECS cluster: </a:t>
            </a:r>
            <a:r>
              <a:rPr lang="en-US">
                <a:effectLst/>
                <a:ea typeface="Calibri" panose="020F0502020204030204" pitchFamily="34" charset="0"/>
                <a:cs typeface="Times New Roman" panose="02020603050405020304" pitchFamily="18" charset="0"/>
              </a:rPr>
              <a:t>Container instances in Amazon ECS are organized into clusters. When they are used with Elastic Beanstalk, one cluster is always created for each </a:t>
            </a:r>
            <a:r>
              <a:rPr lang="en-US" err="1">
                <a:effectLst/>
                <a:ea typeface="Calibri" panose="020F0502020204030204" pitchFamily="34" charset="0"/>
                <a:cs typeface="Times New Roman" panose="02020603050405020304" pitchFamily="18" charset="0"/>
              </a:rPr>
              <a:t>multicontainer</a:t>
            </a:r>
            <a:r>
              <a:rPr lang="en-US">
                <a:effectLst/>
                <a:ea typeface="Calibri" panose="020F0502020204030204" pitchFamily="34" charset="0"/>
                <a:cs typeface="Times New Roman" panose="02020603050405020304" pitchFamily="18" charset="0"/>
              </a:rPr>
              <a:t> Docker environment. </a:t>
            </a:r>
          </a:p>
          <a:p>
            <a:pPr marL="171450" marR="0" lvl="0" indent="-171450">
              <a:buFont typeface="Arial" panose="020B0604020202020204" pitchFamily="34" charset="0"/>
              <a:buChar char="•"/>
              <a:tabLst>
                <a:tab pos="457200" algn="l"/>
              </a:tabLst>
            </a:pPr>
            <a:r>
              <a:rPr lang="en-US" b="1">
                <a:effectLst/>
                <a:ea typeface="Calibri" panose="020F0502020204030204" pitchFamily="34" charset="0"/>
                <a:cs typeface="Times New Roman" panose="02020603050405020304" pitchFamily="18" charset="0"/>
              </a:rPr>
              <a:t>Amazon ECS task definition: </a:t>
            </a:r>
            <a:r>
              <a:rPr lang="en-US">
                <a:effectLst/>
                <a:ea typeface="Calibri" panose="020F0502020204030204" pitchFamily="34" charset="0"/>
                <a:cs typeface="Times New Roman" panose="02020603050405020304" pitchFamily="18" charset="0"/>
              </a:rPr>
              <a:t>Elastic Beanstalk uses the </a:t>
            </a:r>
            <a:r>
              <a:rPr lang="en-US" err="1">
                <a:effectLst/>
                <a:ea typeface="Calibri" panose="020F0502020204030204" pitchFamily="34" charset="0"/>
                <a:cs typeface="Times New Roman" panose="02020603050405020304" pitchFamily="18" charset="0"/>
              </a:rPr>
              <a:t>Dockerrun.aws.json</a:t>
            </a:r>
            <a:r>
              <a:rPr lang="en-US">
                <a:effectLst/>
                <a:ea typeface="Calibri" panose="020F0502020204030204" pitchFamily="34" charset="0"/>
                <a:cs typeface="Times New Roman" panose="02020603050405020304" pitchFamily="18" charset="0"/>
              </a:rPr>
              <a:t> file in your project to generate the Amazon ECS task definition that configures container instances in the environment. </a:t>
            </a:r>
          </a:p>
          <a:p>
            <a:pPr marL="171450" marR="0" lvl="0" indent="-171450">
              <a:buFont typeface="Arial" panose="020B0604020202020204" pitchFamily="34" charset="0"/>
              <a:buChar char="•"/>
              <a:tabLst>
                <a:tab pos="457200" algn="l"/>
              </a:tabLst>
            </a:pPr>
            <a:r>
              <a:rPr lang="en-US" b="1">
                <a:effectLst/>
                <a:ea typeface="Calibri" panose="020F0502020204030204" pitchFamily="34" charset="0"/>
                <a:cs typeface="Times New Roman" panose="02020603050405020304" pitchFamily="18" charset="0"/>
              </a:rPr>
              <a:t>Amazon ECS task: </a:t>
            </a:r>
            <a:r>
              <a:rPr lang="en-US">
                <a:effectLst/>
                <a:ea typeface="Calibri" panose="020F0502020204030204" pitchFamily="34" charset="0"/>
                <a:cs typeface="Times New Roman" panose="02020603050405020304" pitchFamily="18" charset="0"/>
              </a:rPr>
              <a:t>Elastic Beanstalk communicates with Amazon ECS to run a task on every instance in the environment to coordinate container deployment. In a scalable environment, Elastic Beanstalk initiates a new task whenever an instance is added to the cluster. In rare cases, you might need to increase the amount of space that is reserved for containers and images.</a:t>
            </a:r>
          </a:p>
          <a:p>
            <a:pPr marL="171450" marR="0" lvl="0" indent="-171450">
              <a:buFont typeface="Arial" panose="020B0604020202020204" pitchFamily="34" charset="0"/>
              <a:buChar char="•"/>
              <a:tabLst>
                <a:tab pos="457200" algn="l"/>
              </a:tabLst>
            </a:pPr>
            <a:r>
              <a:rPr lang="en-US" b="1">
                <a:effectLst/>
                <a:ea typeface="Calibri" panose="020F0502020204030204" pitchFamily="34" charset="0"/>
                <a:cs typeface="Times New Roman" panose="02020603050405020304" pitchFamily="18" charset="0"/>
              </a:rPr>
              <a:t>Amazon ECS container agent: </a:t>
            </a:r>
            <a:r>
              <a:rPr lang="en-US">
                <a:effectLst/>
                <a:ea typeface="Calibri" panose="020F0502020204030204" pitchFamily="34" charset="0"/>
                <a:cs typeface="Times New Roman" panose="02020603050405020304" pitchFamily="18" charset="0"/>
              </a:rPr>
              <a:t>The agent runs in a Docker container on the instances in your environment. The agent polls the Amazon ECS service and waits for a task to run. </a:t>
            </a:r>
          </a:p>
          <a:p>
            <a:pPr marL="171450" marR="0" lvl="0" indent="-171450">
              <a:buFont typeface="Arial" panose="020B0604020202020204" pitchFamily="34" charset="0"/>
              <a:buChar char="•"/>
              <a:tabLst>
                <a:tab pos="457200" algn="l"/>
              </a:tabLst>
            </a:pPr>
            <a:r>
              <a:rPr lang="en-US" b="1">
                <a:effectLst/>
                <a:ea typeface="Calibri" panose="020F0502020204030204" pitchFamily="34" charset="0"/>
                <a:cs typeface="Times New Roman" panose="02020603050405020304" pitchFamily="18" charset="0"/>
              </a:rPr>
              <a:t>Amazon ECS data volumes: </a:t>
            </a:r>
            <a:r>
              <a:rPr lang="en-US">
                <a:effectLst/>
                <a:ea typeface="Calibri" panose="020F0502020204030204" pitchFamily="34" charset="0"/>
                <a:cs typeface="Times New Roman" panose="02020603050405020304" pitchFamily="18" charset="0"/>
              </a:rPr>
              <a:t>Elastic Beanstalk inserts volume definitions (in addition to the volumes that you define in </a:t>
            </a:r>
            <a:r>
              <a:rPr lang="en-US" err="1">
                <a:effectLst/>
                <a:ea typeface="Calibri" panose="020F0502020204030204" pitchFamily="34" charset="0"/>
                <a:cs typeface="Times New Roman" panose="02020603050405020304" pitchFamily="18" charset="0"/>
              </a:rPr>
              <a:t>Dockerrun.aws.json</a:t>
            </a:r>
            <a:r>
              <a:rPr lang="en-US">
                <a:effectLst/>
                <a:ea typeface="Calibri" panose="020F0502020204030204" pitchFamily="34" charset="0"/>
                <a:cs typeface="Times New Roman" panose="02020603050405020304" pitchFamily="18" charset="0"/>
              </a:rPr>
              <a:t>) into the task definition to facilitate log collection. </a:t>
            </a:r>
          </a:p>
          <a:p>
            <a:pPr marL="171450" marR="0" lvl="0" indent="-171450">
              <a:buFont typeface="Arial" panose="020B0604020202020204" pitchFamily="34" charset="0"/>
              <a:buChar char="•"/>
              <a:tabLst>
                <a:tab pos="457200" algn="l"/>
              </a:tabLst>
            </a:pPr>
            <a:r>
              <a:rPr lang="en-US">
                <a:effectLst/>
                <a:ea typeface="Calibri" panose="020F0502020204030204" pitchFamily="34" charset="0"/>
                <a:cs typeface="Times New Roman" panose="02020603050405020304" pitchFamily="18" charset="0"/>
              </a:rPr>
              <a:t>Elastic Beanstalk creates log volumes on the container instance, one for each container, at /var/log/containers/</a:t>
            </a:r>
            <a:r>
              <a:rPr lang="en-US" err="1">
                <a:effectLst/>
                <a:ea typeface="Calibri" panose="020F0502020204030204" pitchFamily="34" charset="0"/>
                <a:cs typeface="Times New Roman" panose="02020603050405020304" pitchFamily="18" charset="0"/>
              </a:rPr>
              <a:t>containername</a:t>
            </a:r>
            <a:r>
              <a:rPr lang="en-US">
                <a:effectLst/>
                <a:ea typeface="Calibri" panose="020F0502020204030204" pitchFamily="34" charset="0"/>
                <a:cs typeface="Times New Roman" panose="02020603050405020304" pitchFamily="18" charset="0"/>
              </a:rPr>
              <a:t>. These volumes are named </a:t>
            </a:r>
            <a:r>
              <a:rPr lang="en-US" err="1">
                <a:effectLst/>
                <a:ea typeface="Calibri" panose="020F0502020204030204" pitchFamily="34" charset="0"/>
                <a:cs typeface="Times New Roman" panose="02020603050405020304" pitchFamily="18" charset="0"/>
              </a:rPr>
              <a:t>awseb</a:t>
            </a:r>
            <a:r>
              <a:rPr lang="en-US">
                <a:effectLst/>
                <a:ea typeface="Calibri" panose="020F0502020204030204" pitchFamily="34" charset="0"/>
                <a:cs typeface="Times New Roman" panose="02020603050405020304" pitchFamily="18" charset="0"/>
              </a:rPr>
              <a:t>-logs-</a:t>
            </a:r>
            <a:r>
              <a:rPr lang="en-US" err="1">
                <a:effectLst/>
                <a:ea typeface="Calibri" panose="020F0502020204030204" pitchFamily="34" charset="0"/>
                <a:cs typeface="Times New Roman" panose="02020603050405020304" pitchFamily="18" charset="0"/>
              </a:rPr>
              <a:t>containername</a:t>
            </a:r>
            <a:r>
              <a:rPr lang="en-US">
                <a:effectLst/>
                <a:ea typeface="Calibri" panose="020F0502020204030204" pitchFamily="34" charset="0"/>
                <a:cs typeface="Times New Roman" panose="02020603050405020304" pitchFamily="18" charset="0"/>
              </a:rPr>
              <a:t> and are provided for containers to mount.</a:t>
            </a:r>
            <a:endParaRPr lang="en-US"/>
          </a:p>
        </p:txBody>
      </p:sp>
    </p:spTree>
    <p:extLst>
      <p:ext uri="{BB962C8B-B14F-4D97-AF65-F5344CB8AC3E}">
        <p14:creationId xmlns:p14="http://schemas.microsoft.com/office/powerpoint/2010/main" val="3238003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a:t>Elastic Beanstalk defines a large number of configuration options that you can use to configure your environment's behavior and the resources that it contains. Configuration options are organized into namespaces.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You can use the configuration options in the </a:t>
            </a:r>
            <a:r>
              <a:rPr lang="en-US" err="1"/>
              <a:t>aws:elasticbeanstalk:command</a:t>
            </a:r>
            <a:r>
              <a:rPr lang="en-US"/>
              <a:t> namespace to configure your deployments.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If you choose the traffic-splitting policy, additional options for this policy are available in the </a:t>
            </a:r>
            <a:r>
              <a:rPr lang="en-US" err="1"/>
              <a:t>aws:elasticbeanstalk:trafficsplitting</a:t>
            </a:r>
            <a:r>
              <a:rPr lang="en-US"/>
              <a:t> namespace.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These deployment options can be set by using </a:t>
            </a:r>
            <a:r>
              <a:rPr lang="en-US" b="0"/>
              <a:t>configuration files (.</a:t>
            </a:r>
            <a:r>
              <a:rPr lang="en-US" b="0" err="1"/>
              <a:t>ebextensions</a:t>
            </a:r>
            <a:r>
              <a:rPr lang="en-US" b="0"/>
              <a:t>).</a:t>
            </a:r>
            <a:endParaRPr lang="en-US"/>
          </a:p>
        </p:txBody>
      </p:sp>
    </p:spTree>
    <p:extLst>
      <p:ext uri="{BB962C8B-B14F-4D97-AF65-F5344CB8AC3E}">
        <p14:creationId xmlns:p14="http://schemas.microsoft.com/office/powerpoint/2010/main" val="3048498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You can use traffic-splitting deployments to perform canary testing. You direct some incoming client traffic to your new application version to verify the application's health. As soon as the application’s health is verified, you can commit to the new version and direct all traffic to it.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During a traffic-splitting deployment, Elastic Beanstalk creates a new set of instances in a separate temporary Auto Scaling group. Elastic Beanstalk instructs the load balancer to direct a certain percentage of your environment's incoming traffic (</a:t>
            </a:r>
            <a:r>
              <a:rPr lang="en-US" err="1">
                <a:effectLst/>
                <a:ea typeface="Calibri" panose="020F0502020204030204" pitchFamily="34" charset="0"/>
                <a:cs typeface="Times New Roman" panose="02020603050405020304" pitchFamily="18" charset="0"/>
              </a:rPr>
              <a:t>NewVersionPercent</a:t>
            </a:r>
            <a:r>
              <a:rPr lang="en-US">
                <a:effectLst/>
                <a:ea typeface="Calibri" panose="020F0502020204030204" pitchFamily="34" charset="0"/>
                <a:cs typeface="Times New Roman" panose="02020603050405020304" pitchFamily="18" charset="0"/>
              </a:rPr>
              <a:t>) to the new instances. The decision is based on the configuration values in the </a:t>
            </a:r>
            <a:r>
              <a:rPr lang="en-US" err="1">
                <a:effectLst/>
                <a:ea typeface="Calibri" panose="020F0502020204030204" pitchFamily="34" charset="0"/>
                <a:cs typeface="Times New Roman" panose="02020603050405020304" pitchFamily="18" charset="0"/>
              </a:rPr>
              <a:t>aws:elasticbeanstalk:trafficsplitting</a:t>
            </a:r>
            <a:r>
              <a:rPr lang="en-US">
                <a:effectLst/>
                <a:ea typeface="Calibri" panose="020F0502020204030204" pitchFamily="34" charset="0"/>
                <a:cs typeface="Times New Roman" panose="02020603050405020304" pitchFamily="18" charset="0"/>
              </a:rPr>
              <a:t> namespace of your configuration file.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Then, for the configured amount of time (</a:t>
            </a:r>
            <a:r>
              <a:rPr lang="en-US" err="1">
                <a:effectLst/>
                <a:ea typeface="Calibri" panose="020F0502020204030204" pitchFamily="34" charset="0"/>
                <a:cs typeface="Times New Roman" panose="02020603050405020304" pitchFamily="18" charset="0"/>
              </a:rPr>
              <a:t>EvaluationTime</a:t>
            </a:r>
            <a:r>
              <a:rPr lang="en-US">
                <a:effectLst/>
                <a:ea typeface="Calibri" panose="020F0502020204030204" pitchFamily="34" charset="0"/>
                <a:cs typeface="Times New Roman" panose="02020603050405020304" pitchFamily="18" charset="0"/>
              </a:rPr>
              <a:t>), Elastic Beanstalk tracks the health of the new set of instances. If all is well, Elastic Beanstalk shifts remaining traffic to the new instances and attaches them to the environment's original Auto Scaling group. They replace the old instances. Then, Elastic Beanstalk cleans up—it terminates the old instances and removes the temporary Auto Scaling group.</a:t>
            </a:r>
          </a:p>
        </p:txBody>
      </p:sp>
    </p:spTree>
    <p:extLst>
      <p:ext uri="{BB962C8B-B14F-4D97-AF65-F5344CB8AC3E}">
        <p14:creationId xmlns:p14="http://schemas.microsoft.com/office/powerpoint/2010/main" val="22952844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R="0">
              <a:spcBef>
                <a:spcPts val="0"/>
              </a:spcBef>
              <a:tabLst>
                <a:tab pos="457200" algn="l"/>
              </a:tabLst>
            </a:pPr>
            <a:r>
              <a:rPr lang="en-US">
                <a:effectLst/>
                <a:ea typeface="Calibri" panose="020F0502020204030204" pitchFamily="34" charset="0"/>
                <a:cs typeface="Times New Roman" panose="02020603050405020304" pitchFamily="18" charset="0"/>
              </a:rPr>
              <a:t>Blue/green deployments are similar to immutable deployments because you create an entirely new environment and then move your application to that environment.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With a blue/green deployment, you deploy the new version to a separate environment. You then swap CNAMEs of the two environments to redirect traffic to the new version instantly.</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Elastic Beanstalk gives you the option to clone an environment. Then, you can deploy your updates and test the new version in the clone. After completing all verification and testing, use the swap URL option in the original environment (blue) to redirect all traffic to your newly deployed version. </a:t>
            </a:r>
          </a:p>
          <a:p>
            <a:pPr marR="0">
              <a:spcBef>
                <a:spcPts val="0"/>
              </a:spcBef>
              <a:tabLst>
                <a:tab pos="457200" algn="l"/>
              </a:tabLst>
            </a:pPr>
            <a:endParaRPr lang="en-US">
              <a:effectLst/>
              <a:ea typeface="Calibri" panose="020F0502020204030204" pitchFamily="34" charset="0"/>
              <a:cs typeface="Times New Roman" panose="02020603050405020304" pitchFamily="18" charset="0"/>
            </a:endParaRPr>
          </a:p>
          <a:p>
            <a:pPr marR="0">
              <a:spcBef>
                <a:spcPts val="0"/>
              </a:spcBef>
              <a:tabLst>
                <a:tab pos="457200" algn="l"/>
              </a:tabLst>
            </a:pPr>
            <a:r>
              <a:rPr lang="en-US">
                <a:effectLst/>
                <a:ea typeface="Calibri" panose="020F0502020204030204" pitchFamily="34" charset="0"/>
                <a:cs typeface="Times New Roman" panose="02020603050405020304" pitchFamily="18" charset="0"/>
              </a:rPr>
              <a:t>Blue/green deployment is required when you want to update an environment to an incompatible platform version.</a:t>
            </a:r>
          </a:p>
        </p:txBody>
      </p:sp>
    </p:spTree>
    <p:extLst>
      <p:ext uri="{BB962C8B-B14F-4D97-AF65-F5344CB8AC3E}">
        <p14:creationId xmlns:p14="http://schemas.microsoft.com/office/powerpoint/2010/main" val="959468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438dcf6b14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1438dcf6b14_0_2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subTitle" idx="1"/>
          </p:nvPr>
        </p:nvSpPr>
        <p:spPr>
          <a:xfrm>
            <a:off x="457172" y="1203299"/>
            <a:ext cx="8228700" cy="2982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800"/>
              <a:buNone/>
              <a:defRPr/>
            </a:lvl1pPr>
            <a:lvl2pPr lvl="1" algn="l" rtl="0">
              <a:spcBef>
                <a:spcPts val="1600"/>
              </a:spcBef>
              <a:spcAft>
                <a:spcPts val="0"/>
              </a:spcAft>
              <a:buSzPts val="1400"/>
              <a:buNone/>
              <a:defRPr/>
            </a:lvl2pPr>
            <a:lvl3pPr lvl="2" algn="l" rtl="0">
              <a:spcBef>
                <a:spcPts val="1600"/>
              </a:spcBef>
              <a:spcAft>
                <a:spcPts val="0"/>
              </a:spcAft>
              <a:buSzPts val="1400"/>
              <a:buNone/>
              <a:defRPr/>
            </a:lvl3pPr>
            <a:lvl4pPr lvl="3" algn="l" rtl="0">
              <a:spcBef>
                <a:spcPts val="1600"/>
              </a:spcBef>
              <a:spcAft>
                <a:spcPts val="0"/>
              </a:spcAft>
              <a:buSzPts val="1400"/>
              <a:buNone/>
              <a:defRPr/>
            </a:lvl4pPr>
            <a:lvl5pPr lvl="4" algn="l" rtl="0">
              <a:spcBef>
                <a:spcPts val="1600"/>
              </a:spcBef>
              <a:spcAft>
                <a:spcPts val="0"/>
              </a:spcAft>
              <a:buSzPts val="1400"/>
              <a:buNone/>
              <a:defRPr/>
            </a:lvl5pPr>
            <a:lvl6pPr lvl="5" algn="l" rtl="0">
              <a:spcBef>
                <a:spcPts val="1600"/>
              </a:spcBef>
              <a:spcAft>
                <a:spcPts val="0"/>
              </a:spcAft>
              <a:buSzPts val="1400"/>
              <a:buNone/>
              <a:defRPr/>
            </a:lvl6pPr>
            <a:lvl7pPr lvl="6" algn="l" rtl="0">
              <a:spcBef>
                <a:spcPts val="1600"/>
              </a:spcBef>
              <a:spcAft>
                <a:spcPts val="0"/>
              </a:spcAft>
              <a:buSzPts val="1400"/>
              <a:buNone/>
              <a:defRPr/>
            </a:lvl7pPr>
            <a:lvl8pPr lvl="7" algn="l" rtl="0">
              <a:spcBef>
                <a:spcPts val="1600"/>
              </a:spcBef>
              <a:spcAft>
                <a:spcPts val="0"/>
              </a:spcAft>
              <a:buSzPts val="1400"/>
              <a:buNone/>
              <a:defRPr/>
            </a:lvl8pPr>
            <a:lvl9pPr lvl="8" algn="l" rtl="0">
              <a:spcBef>
                <a:spcPts val="1600"/>
              </a:spcBef>
              <a:spcAft>
                <a:spcPts val="160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8510778" y="4834890"/>
            <a:ext cx="363474" cy="171450"/>
          </a:xfrm>
        </p:spPr>
        <p:txBody>
          <a:bodyPr/>
          <a:lstStyle>
            <a:lvl1pPr>
              <a:defRPr>
                <a:solidFill>
                  <a:srgbClr val="232F3E"/>
                </a:solidFill>
              </a:defRPr>
            </a:lvl1pPr>
          </a:lstStyle>
          <a:p>
            <a:fld id="{4037B1B0-0345-4E15-985A-6BECCDBE474F}" type="slidenum">
              <a:rPr lang="en-US" smtClean="0"/>
              <a:pPr/>
              <a:t>‹#›</a:t>
            </a:fld>
            <a:endParaRPr lang="en-US"/>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4319" y="771283"/>
            <a:ext cx="8613648" cy="3429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274320" y="226314"/>
            <a:ext cx="8599932" cy="54864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955232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8510778" y="4834890"/>
            <a:ext cx="363474" cy="17145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274320" y="226314"/>
            <a:ext cx="8599932" cy="548489"/>
          </a:xfrm>
        </p:spPr>
        <p:txBody>
          <a:bodyPr/>
          <a:lstStyle>
            <a:lvl1pPr>
              <a:lnSpc>
                <a:spcPct val="90000"/>
              </a:lnSpc>
              <a:spcAft>
                <a:spcPts val="0"/>
              </a:spcAft>
              <a:defRPr>
                <a:solidFill>
                  <a:srgbClr val="232F3E"/>
                </a:solidFill>
                <a:latin typeface="Amazon Ember Display Heavy"/>
              </a:defRPr>
            </a:lvl1pPr>
          </a:lstStyle>
          <a:p>
            <a:r>
              <a:rPr lang="en-US"/>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4319" y="771283"/>
            <a:ext cx="8613648" cy="3429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274320" y="822960"/>
            <a:ext cx="8599932" cy="3998214"/>
          </a:xfrm>
        </p:spPr>
        <p:txBody>
          <a:bodyPr>
            <a:normAutofit/>
          </a:bodyPr>
          <a:lstStyle>
            <a:lvl1pPr>
              <a:lnSpc>
                <a:spcPct val="100000"/>
              </a:lnSpc>
              <a:spcBef>
                <a:spcPts val="0"/>
              </a:spcBef>
              <a:spcAft>
                <a:spcPts val="900"/>
              </a:spcAft>
              <a:defRPr>
                <a:solidFill>
                  <a:srgbClr val="232F3E"/>
                </a:solidFill>
              </a:defRPr>
            </a:lvl1pPr>
            <a:lvl2pPr marL="342900" indent="-171450">
              <a:lnSpc>
                <a:spcPct val="100000"/>
              </a:lnSpc>
              <a:spcBef>
                <a:spcPts val="0"/>
              </a:spcBef>
              <a:spcAft>
                <a:spcPts val="900"/>
              </a:spcAft>
              <a:defRPr>
                <a:solidFill>
                  <a:srgbClr val="232F3E"/>
                </a:solidFill>
              </a:defRPr>
            </a:lvl2pPr>
            <a:lvl3pPr marL="511969" indent="-171450">
              <a:lnSpc>
                <a:spcPct val="100000"/>
              </a:lnSpc>
              <a:spcBef>
                <a:spcPts val="0"/>
              </a:spcBef>
              <a:spcAft>
                <a:spcPts val="900"/>
              </a:spcAft>
              <a:defRPr>
                <a:solidFill>
                  <a:srgbClr val="232F3E"/>
                </a:solidFill>
              </a:defRPr>
            </a:lvl3pPr>
            <a:lvl4pPr marL="685800" indent="-171450">
              <a:lnSpc>
                <a:spcPct val="100000"/>
              </a:lnSpc>
              <a:spcBef>
                <a:spcPts val="0"/>
              </a:spcBef>
              <a:spcAft>
                <a:spcPts val="900"/>
              </a:spcAft>
              <a:defRPr>
                <a:solidFill>
                  <a:srgbClr val="232F3E"/>
                </a:solidFill>
              </a:defRPr>
            </a:lvl4pPr>
            <a:lvl5pPr marL="859631" indent="-171450">
              <a:lnSpc>
                <a:spcPct val="100000"/>
              </a:lnSpc>
              <a:spcBef>
                <a:spcPts val="0"/>
              </a:spcBef>
              <a:spcAft>
                <a:spcPts val="900"/>
              </a:spcAft>
              <a:defRPr>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57538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8510778" y="4834890"/>
            <a:ext cx="363474" cy="17145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274320" y="226314"/>
            <a:ext cx="8599932" cy="548489"/>
          </a:xfrm>
        </p:spPr>
        <p:txBody>
          <a:bodyPr/>
          <a:lstStyle>
            <a:lvl1pPr>
              <a:defRPr>
                <a:solidFill>
                  <a:srgbClr val="232F3E"/>
                </a:solidFill>
                <a:latin typeface="Amazon Ember Display Heavy"/>
              </a:defRPr>
            </a:lvl1pPr>
          </a:lstStyle>
          <a:p>
            <a:r>
              <a:rPr lang="en-US"/>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4319" y="771283"/>
            <a:ext cx="8613648" cy="3429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274320" y="822960"/>
            <a:ext cx="4251960" cy="3998214"/>
          </a:xfrm>
        </p:spPr>
        <p:txBody>
          <a:bodyPr>
            <a:noAutofit/>
          </a:bodyPr>
          <a:lstStyle>
            <a:lvl1pPr>
              <a:lnSpc>
                <a:spcPct val="100000"/>
              </a:lnSpc>
              <a:spcAft>
                <a:spcPts val="900"/>
              </a:spcAft>
              <a:defRPr sz="2100">
                <a:solidFill>
                  <a:srgbClr val="232F3E"/>
                </a:solidFill>
              </a:defRPr>
            </a:lvl1pPr>
            <a:lvl2pPr marL="342900" indent="-171450">
              <a:lnSpc>
                <a:spcPct val="100000"/>
              </a:lnSpc>
              <a:spcAft>
                <a:spcPts val="900"/>
              </a:spcAft>
              <a:defRPr sz="1800">
                <a:solidFill>
                  <a:srgbClr val="232F3E"/>
                </a:solidFill>
              </a:defRPr>
            </a:lvl2pPr>
            <a:lvl3pPr marL="513160" indent="-171450">
              <a:lnSpc>
                <a:spcPct val="100000"/>
              </a:lnSpc>
              <a:spcAft>
                <a:spcPts val="900"/>
              </a:spcAft>
              <a:defRPr sz="1500">
                <a:solidFill>
                  <a:srgbClr val="232F3E"/>
                </a:solidFill>
              </a:defRPr>
            </a:lvl3pPr>
            <a:lvl4pPr marL="685800" indent="-171450">
              <a:lnSpc>
                <a:spcPct val="100000"/>
              </a:lnSpc>
              <a:spcAft>
                <a:spcPts val="900"/>
              </a:spcAft>
              <a:defRPr sz="1350">
                <a:solidFill>
                  <a:srgbClr val="232F3E"/>
                </a:solidFill>
              </a:defRPr>
            </a:lvl4pPr>
            <a:lvl5pPr marL="858441" indent="-171450">
              <a:lnSpc>
                <a:spcPct val="100000"/>
              </a:lnSpc>
              <a:spcAft>
                <a:spcPts val="900"/>
              </a:spcAft>
              <a:defRPr sz="135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622292" y="822960"/>
            <a:ext cx="4251960" cy="3998214"/>
          </a:xfrm>
        </p:spPr>
        <p:txBody>
          <a:bodyPr>
            <a:noAutofit/>
          </a:bodyPr>
          <a:lstStyle>
            <a:lvl1pPr>
              <a:lnSpc>
                <a:spcPct val="100000"/>
              </a:lnSpc>
              <a:spcAft>
                <a:spcPts val="900"/>
              </a:spcAft>
              <a:defRPr sz="2100">
                <a:solidFill>
                  <a:srgbClr val="232F3E"/>
                </a:solidFill>
              </a:defRPr>
            </a:lvl1pPr>
            <a:lvl2pPr marL="342900" indent="-171450">
              <a:lnSpc>
                <a:spcPct val="100000"/>
              </a:lnSpc>
              <a:spcAft>
                <a:spcPts val="900"/>
              </a:spcAft>
              <a:defRPr sz="1800">
                <a:solidFill>
                  <a:srgbClr val="232F3E"/>
                </a:solidFill>
              </a:defRPr>
            </a:lvl2pPr>
            <a:lvl3pPr marL="513160" indent="-171450">
              <a:lnSpc>
                <a:spcPct val="100000"/>
              </a:lnSpc>
              <a:spcAft>
                <a:spcPts val="900"/>
              </a:spcAft>
              <a:defRPr sz="1500">
                <a:solidFill>
                  <a:srgbClr val="232F3E"/>
                </a:solidFill>
              </a:defRPr>
            </a:lvl3pPr>
            <a:lvl4pPr marL="685800" indent="-171450">
              <a:lnSpc>
                <a:spcPct val="100000"/>
              </a:lnSpc>
              <a:spcAft>
                <a:spcPts val="900"/>
              </a:spcAft>
              <a:defRPr sz="1350">
                <a:solidFill>
                  <a:srgbClr val="232F3E"/>
                </a:solidFill>
              </a:defRPr>
            </a:lvl4pPr>
            <a:lvl5pPr marL="858441" indent="-171450">
              <a:lnSpc>
                <a:spcPct val="100000"/>
              </a:lnSpc>
              <a:spcAft>
                <a:spcPts val="900"/>
              </a:spcAft>
              <a:defRPr sz="135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803788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8510778" y="4834890"/>
            <a:ext cx="363474" cy="171450"/>
          </a:xfrm>
        </p:spPr>
        <p:txBody>
          <a:bodyPr/>
          <a:lstStyle>
            <a:lvl1pPr>
              <a:defRPr>
                <a:solidFill>
                  <a:srgbClr val="232F3E"/>
                </a:solidFill>
              </a:defRPr>
            </a:lvl1pPr>
          </a:lstStyle>
          <a:p>
            <a:fld id="{4037B1B0-0345-4E15-985A-6BECCDBE474F}"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274320" y="226314"/>
            <a:ext cx="8599932" cy="548489"/>
          </a:xfrm>
        </p:spPr>
        <p:txBody>
          <a:bodyPr/>
          <a:lstStyle>
            <a:lvl1pPr>
              <a:defRPr>
                <a:solidFill>
                  <a:srgbClr val="232F3E"/>
                </a:solidFill>
                <a:latin typeface="Amazon Ember Display Heavy"/>
              </a:defRPr>
            </a:lvl1pPr>
          </a:lstStyle>
          <a:p>
            <a:r>
              <a:rPr lang="en-US"/>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4319" y="771283"/>
            <a:ext cx="8613648" cy="3429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822960" y="1714500"/>
            <a:ext cx="1714500" cy="1714500"/>
          </a:xfrm>
        </p:spPr>
        <p:txBody>
          <a:bodyPr anchor="t">
            <a:normAutofit/>
          </a:bodyPr>
          <a:lstStyle>
            <a:lvl1pPr marL="0" indent="0" algn="ctr">
              <a:buNone/>
              <a:defRPr sz="1500">
                <a:solidFill>
                  <a:srgbClr val="232F3E"/>
                </a:solidFill>
                <a:latin typeface="+mn-lt"/>
              </a:defRPr>
            </a:lvl1pPr>
          </a:lstStyle>
          <a:p>
            <a:r>
              <a:rPr lang="en-US"/>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274320" y="3497580"/>
            <a:ext cx="2811780" cy="1337310"/>
          </a:xfrm>
          <a:noFill/>
          <a:ln>
            <a:noFill/>
          </a:ln>
        </p:spPr>
        <p:txBody>
          <a:bodyPr lIns="91440" anchor="t">
            <a:noAutofit/>
          </a:bodyPr>
          <a:lstStyle>
            <a:lvl1pPr marL="0" indent="0" algn="ctr">
              <a:lnSpc>
                <a:spcPct val="100000"/>
              </a:lnSpc>
              <a:spcBef>
                <a:spcPts val="0"/>
              </a:spcBef>
              <a:spcAft>
                <a:spcPts val="0"/>
              </a:spcAft>
              <a:buNone/>
              <a:defRPr sz="1800" b="0">
                <a:solidFill>
                  <a:srgbClr val="232F3E"/>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717036" y="1714500"/>
            <a:ext cx="1714500" cy="1714500"/>
          </a:xfrm>
        </p:spPr>
        <p:txBody>
          <a:bodyPr anchor="t">
            <a:normAutofit/>
          </a:bodyPr>
          <a:lstStyle>
            <a:lvl1pPr marL="0" indent="0" algn="ctr">
              <a:buNone/>
              <a:defRPr sz="1500">
                <a:solidFill>
                  <a:srgbClr val="232F3E"/>
                </a:solidFill>
                <a:latin typeface="+mn-lt"/>
              </a:defRPr>
            </a:lvl1pPr>
          </a:lstStyle>
          <a:p>
            <a:r>
              <a:rPr lang="en-US"/>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3168396" y="3497580"/>
            <a:ext cx="2811780" cy="1337310"/>
          </a:xfrm>
          <a:noFill/>
          <a:ln>
            <a:noFill/>
          </a:ln>
        </p:spPr>
        <p:txBody>
          <a:bodyPr lIns="91440" anchor="t">
            <a:noAutofit/>
          </a:bodyPr>
          <a:lstStyle>
            <a:lvl1pPr marL="0" indent="0" algn="ctr">
              <a:lnSpc>
                <a:spcPct val="100000"/>
              </a:lnSpc>
              <a:spcBef>
                <a:spcPts val="0"/>
              </a:spcBef>
              <a:spcAft>
                <a:spcPts val="0"/>
              </a:spcAft>
              <a:buNone/>
              <a:defRPr sz="1800" b="0">
                <a:solidFill>
                  <a:srgbClr val="232F3E"/>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611112" y="1714500"/>
            <a:ext cx="1714500" cy="1714500"/>
          </a:xfrm>
        </p:spPr>
        <p:txBody>
          <a:bodyPr anchor="t">
            <a:normAutofit/>
          </a:bodyPr>
          <a:lstStyle>
            <a:lvl1pPr marL="0" indent="0" algn="ctr">
              <a:buNone/>
              <a:defRPr sz="1500">
                <a:solidFill>
                  <a:srgbClr val="232F3E"/>
                </a:solidFill>
                <a:latin typeface="+mn-lt"/>
              </a:defRPr>
            </a:lvl1pPr>
          </a:lstStyle>
          <a:p>
            <a:r>
              <a:rPr lang="en-US"/>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6062472" y="3497580"/>
            <a:ext cx="2811780" cy="1337310"/>
          </a:xfrm>
          <a:noFill/>
          <a:ln>
            <a:noFill/>
          </a:ln>
        </p:spPr>
        <p:txBody>
          <a:bodyPr lIns="91440" anchor="t">
            <a:noAutofit/>
          </a:bodyPr>
          <a:lstStyle>
            <a:lvl1pPr marL="0" indent="0" algn="ctr">
              <a:lnSpc>
                <a:spcPct val="100000"/>
              </a:lnSpc>
              <a:spcBef>
                <a:spcPts val="0"/>
              </a:spcBef>
              <a:spcAft>
                <a:spcPts val="0"/>
              </a:spcAft>
              <a:buNone/>
              <a:defRPr sz="1800" b="0">
                <a:solidFill>
                  <a:srgbClr val="232F3E"/>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content text</a:t>
            </a:r>
          </a:p>
        </p:txBody>
      </p:sp>
    </p:spTree>
    <p:custDataLst>
      <p:tags r:id="rId1"/>
    </p:custDataLst>
    <p:extLst>
      <p:ext uri="{BB962C8B-B14F-4D97-AF65-F5344CB8AC3E}">
        <p14:creationId xmlns:p14="http://schemas.microsoft.com/office/powerpoint/2010/main" val="2274795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274319" y="771283"/>
            <a:ext cx="8613648" cy="4131945"/>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8510778" y="4834890"/>
            <a:ext cx="363474" cy="171450"/>
          </a:xfrm>
        </p:spPr>
        <p:txBody>
          <a:bodyPr/>
          <a:lstStyle>
            <a:lvl1pPr>
              <a:defRPr>
                <a:solidFill>
                  <a:srgbClr val="232F3E"/>
                </a:solidFill>
              </a:defRPr>
            </a:lvl1pPr>
          </a:lstStyle>
          <a:p>
            <a:fld id="{4037B1B0-0345-4E15-985A-6BECCDBE474F}" type="slidenum">
              <a:rPr lang="en-US" smtClean="0"/>
              <a:pPr/>
              <a:t>‹#›</a:t>
            </a:fld>
            <a:endParaRPr lang="en-US"/>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274320" y="226314"/>
            <a:ext cx="8599932" cy="548489"/>
          </a:xfrm>
        </p:spPr>
        <p:txBody>
          <a:bodyPr/>
          <a:lstStyle>
            <a:lvl1pPr>
              <a:defRPr>
                <a:solidFill>
                  <a:srgbClr val="232F3E"/>
                </a:solidFill>
                <a:latin typeface="Amazon Ember Display Heavy"/>
              </a:defRPr>
            </a:lvl1pPr>
          </a:lstStyle>
          <a:p>
            <a:r>
              <a:rPr lang="en-US"/>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398913" y="1637105"/>
            <a:ext cx="1714500" cy="1714500"/>
          </a:xfrm>
        </p:spPr>
        <p:txBody>
          <a:bodyPr anchor="t">
            <a:noAutofit/>
          </a:bodyPr>
          <a:lstStyle>
            <a:lvl1pPr marL="0" indent="0" algn="ctr">
              <a:buNone/>
              <a:defRPr sz="1500">
                <a:solidFill>
                  <a:srgbClr val="232F3E"/>
                </a:solidFill>
              </a:defRPr>
            </a:lvl1pPr>
          </a:lstStyle>
          <a:p>
            <a:r>
              <a:rPr lang="en-US"/>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398913" y="3381196"/>
            <a:ext cx="1714501" cy="685800"/>
          </a:xfrm>
        </p:spPr>
        <p:txBody>
          <a:bodyPr>
            <a:noAutofit/>
          </a:bodyPr>
          <a:lstStyle>
            <a:lvl1pPr algn="ctr">
              <a:spcAft>
                <a:spcPts val="0"/>
              </a:spcAft>
              <a:buNone/>
              <a:defRPr sz="1500">
                <a:solidFill>
                  <a:srgbClr val="232F3E"/>
                </a:solidFill>
                <a:latin typeface="Amazon Ember Display"/>
              </a:defRPr>
            </a:lvl1pPr>
          </a:lstStyle>
          <a:p>
            <a:pPr lvl="0"/>
            <a:r>
              <a:rPr lang="en-US"/>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2338578" y="822960"/>
            <a:ext cx="6535674" cy="3998214"/>
          </a:xfrm>
        </p:spPr>
        <p:txBody>
          <a:bodyPr anchor="ctr">
            <a:normAutofit/>
          </a:bodyPr>
          <a:lstStyle>
            <a:lvl1pPr>
              <a:lnSpc>
                <a:spcPct val="100000"/>
              </a:lnSpc>
              <a:spcAft>
                <a:spcPts val="900"/>
              </a:spcAft>
              <a:defRPr sz="2400">
                <a:solidFill>
                  <a:srgbClr val="232F3E"/>
                </a:solidFill>
              </a:defRPr>
            </a:lvl1pPr>
            <a:lvl2pPr marL="342900" indent="-171450">
              <a:lnSpc>
                <a:spcPct val="100000"/>
              </a:lnSpc>
              <a:spcAft>
                <a:spcPts val="900"/>
              </a:spcAft>
              <a:defRPr sz="2100">
                <a:solidFill>
                  <a:srgbClr val="232F3E"/>
                </a:solidFill>
              </a:defRPr>
            </a:lvl2pPr>
            <a:lvl3pPr marL="513160" indent="-171450">
              <a:lnSpc>
                <a:spcPct val="100000"/>
              </a:lnSpc>
              <a:spcAft>
                <a:spcPts val="900"/>
              </a:spcAft>
              <a:defRPr sz="1800">
                <a:solidFill>
                  <a:srgbClr val="232F3E"/>
                </a:solidFill>
              </a:defRPr>
            </a:lvl3pPr>
            <a:lvl4pPr marL="685800" indent="-171450">
              <a:lnSpc>
                <a:spcPct val="100000"/>
              </a:lnSpc>
              <a:spcAft>
                <a:spcPts val="900"/>
              </a:spcAft>
              <a:defRPr sz="1500">
                <a:solidFill>
                  <a:srgbClr val="232F3E"/>
                </a:solidFill>
              </a:defRPr>
            </a:lvl4pPr>
            <a:lvl5pPr marL="858441" indent="-171450">
              <a:lnSpc>
                <a:spcPct val="100000"/>
              </a:lnSpc>
              <a:spcAft>
                <a:spcPts val="900"/>
              </a:spcAft>
              <a:defRPr sz="1500">
                <a:solidFill>
                  <a:srgbClr val="232F3E"/>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9167326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 uri="{C183D7F6-B498-43B3-948B-1728B52AA6E4}">
                <adec:decorative xmlns:adec="http://schemas.microsoft.com/office/drawing/2017/decorative" val="1"/>
              </a:ext>
            </a:extLst>
          </p:cNvPr>
          <p:cNvPicPr>
            <a:picLocks/>
          </p:cNvPicPr>
          <p:nvPr userDrawn="1"/>
        </p:nvPicPr>
        <p:blipFill>
          <a:blip r:embed="rId3"/>
          <a:stretch>
            <a:fillRect/>
          </a:stretch>
        </p:blipFill>
        <p:spPr>
          <a:xfrm>
            <a:off x="1852" y="4"/>
            <a:ext cx="9141714" cy="85725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273844"/>
            <a:ext cx="6775704" cy="355589"/>
          </a:xfrm>
        </p:spPr>
        <p:txBody>
          <a:bodyPr>
            <a:noAutofit/>
          </a:bodyPr>
          <a:lstStyle>
            <a:lvl1pPr>
              <a:defRPr sz="3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431899" y="273844"/>
            <a:ext cx="1329492" cy="336805"/>
          </a:xfrm>
          <a:prstGeom prst="rect">
            <a:avLst/>
          </a:prstGeom>
        </p:spPr>
      </p:pic>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314325" y="1146131"/>
            <a:ext cx="8515350" cy="3486591"/>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4767263"/>
            <a:ext cx="2801593" cy="273844"/>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2020, Amazon Web Services, Inc. or its Affiliates. All rights reserved.</a:t>
            </a:r>
          </a:p>
        </p:txBody>
      </p:sp>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6772275" y="4767263"/>
            <a:ext cx="2057400" cy="273844"/>
          </a:xfrm>
        </p:spPr>
        <p:txBody>
          <a:bodyPr/>
          <a:lstStyle/>
          <a:p>
            <a:fld id="{B6A95138-A96E-2F42-A959-2EFD44FE4AB7}" type="slidenum">
              <a:rPr lang="en-US" smtClean="0"/>
              <a:t>‹#›</a:t>
            </a:fld>
            <a:endParaRPr lang="en-US"/>
          </a:p>
        </p:txBody>
      </p:sp>
    </p:spTree>
    <p:custDataLst>
      <p:tags r:id="rId1"/>
    </p:custDataLst>
    <p:extLst>
      <p:ext uri="{BB962C8B-B14F-4D97-AF65-F5344CB8AC3E}">
        <p14:creationId xmlns:p14="http://schemas.microsoft.com/office/powerpoint/2010/main" val="1045581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61" name="Google Shape;61;p15"/>
          <p:cNvSpPr txBox="1">
            <a:spLocks noGrp="1"/>
          </p:cNvSpPr>
          <p:nvPr>
            <p:ph type="subTitle" idx="1"/>
          </p:nvPr>
        </p:nvSpPr>
        <p:spPr>
          <a:xfrm>
            <a:off x="457172" y="1203299"/>
            <a:ext cx="8228700" cy="2982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64" name="Google Shape;64;p16"/>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6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68" name="Google Shape;68;p18"/>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69" name="Google Shape;69;p18"/>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72"/>
        <p:cNvGrpSpPr/>
        <p:nvPr/>
      </p:nvGrpSpPr>
      <p:grpSpPr>
        <a:xfrm>
          <a:off x="0" y="0"/>
          <a:ext cx="0" cy="0"/>
          <a:chOff x="0" y="0"/>
          <a:chExt cx="0" cy="0"/>
        </a:xfrm>
      </p:grpSpPr>
      <p:sp>
        <p:nvSpPr>
          <p:cNvPr id="73" name="Google Shape;73;p20"/>
          <p:cNvSpPr txBox="1">
            <a:spLocks noGrp="1"/>
          </p:cNvSpPr>
          <p:nvPr>
            <p:ph type="subTitle" idx="1"/>
          </p:nvPr>
        </p:nvSpPr>
        <p:spPr>
          <a:xfrm>
            <a:off x="457172" y="205067"/>
            <a:ext cx="8228700" cy="39804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76" name="Google Shape;76;p21"/>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77" name="Google Shape;77;p21"/>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78" name="Google Shape;78;p21"/>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79"/>
        <p:cNvGrpSpPr/>
        <p:nvPr/>
      </p:nvGrpSpPr>
      <p:grpSpPr>
        <a:xfrm>
          <a:off x="0" y="0"/>
          <a:ext cx="0" cy="0"/>
          <a:chOff x="0" y="0"/>
          <a:chExt cx="0" cy="0"/>
        </a:xfrm>
      </p:grpSpPr>
      <p:sp>
        <p:nvSpPr>
          <p:cNvPr id="80" name="Google Shape;80;p22"/>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81" name="Google Shape;81;p22"/>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82" name="Google Shape;82;p22"/>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83" name="Google Shape;83;p22"/>
          <p:cNvSpPr txBox="1">
            <a:spLocks noGrp="1"/>
          </p:cNvSpPr>
          <p:nvPr>
            <p:ph type="body" idx="3"/>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86" name="Google Shape;86;p23"/>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87" name="Google Shape;87;p23"/>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88" name="Google Shape;88;p23"/>
          <p:cNvSpPr txBox="1">
            <a:spLocks noGrp="1"/>
          </p:cNvSpPr>
          <p:nvPr>
            <p:ph type="body" idx="3"/>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89"/>
        <p:cNvGrpSpPr/>
        <p:nvPr/>
      </p:nvGrpSpPr>
      <p:grpSpPr>
        <a:xfrm>
          <a:off x="0" y="0"/>
          <a:ext cx="0" cy="0"/>
          <a:chOff x="0" y="0"/>
          <a:chExt cx="0" cy="0"/>
        </a:xfrm>
      </p:grpSpPr>
      <p:sp>
        <p:nvSpPr>
          <p:cNvPr id="90" name="Google Shape;90;p24"/>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91" name="Google Shape;91;p24"/>
          <p:cNvSpPr txBox="1">
            <a:spLocks noGrp="1"/>
          </p:cNvSpPr>
          <p:nvPr>
            <p:ph type="body" idx="1"/>
          </p:nvPr>
        </p:nvSpPr>
        <p:spPr>
          <a:xfrm>
            <a:off x="457172" y="1203299"/>
            <a:ext cx="82287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92" name="Google Shape;92;p24"/>
          <p:cNvSpPr txBox="1">
            <a:spLocks noGrp="1"/>
          </p:cNvSpPr>
          <p:nvPr>
            <p:ph type="body" idx="2"/>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93"/>
        <p:cNvGrpSpPr/>
        <p:nvPr/>
      </p:nvGrpSpPr>
      <p:grpSpPr>
        <a:xfrm>
          <a:off x="0" y="0"/>
          <a:ext cx="0" cy="0"/>
          <a:chOff x="0" y="0"/>
          <a:chExt cx="0" cy="0"/>
        </a:xfrm>
      </p:grpSpPr>
      <p:sp>
        <p:nvSpPr>
          <p:cNvPr id="94" name="Google Shape;94;p25"/>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95" name="Google Shape;95;p25"/>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96" name="Google Shape;96;p25"/>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97" name="Google Shape;97;p25"/>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98" name="Google Shape;98;p25"/>
          <p:cNvSpPr txBox="1">
            <a:spLocks noGrp="1"/>
          </p:cNvSpPr>
          <p:nvPr>
            <p:ph type="body" idx="4"/>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99"/>
        <p:cNvGrpSpPr/>
        <p:nvPr/>
      </p:nvGrpSpPr>
      <p:grpSpPr>
        <a:xfrm>
          <a:off x="0" y="0"/>
          <a:ext cx="0" cy="0"/>
          <a:chOff x="0" y="0"/>
          <a:chExt cx="0" cy="0"/>
        </a:xfrm>
      </p:grpSpPr>
      <p:sp>
        <p:nvSpPr>
          <p:cNvPr id="100" name="Google Shape;100;p26"/>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300"/>
              <a:buNone/>
              <a:defRPr/>
            </a:lvl1pPr>
            <a:lvl2pPr lvl="1" algn="l" rtl="0">
              <a:spcBef>
                <a:spcPts val="0"/>
              </a:spcBef>
              <a:spcAft>
                <a:spcPts val="0"/>
              </a:spcAft>
              <a:buSzPts val="1300"/>
              <a:buNone/>
              <a:defRPr/>
            </a:lvl2pPr>
            <a:lvl3pPr lvl="2" algn="l" rtl="0">
              <a:spcBef>
                <a:spcPts val="0"/>
              </a:spcBef>
              <a:spcAft>
                <a:spcPts val="0"/>
              </a:spcAft>
              <a:buSzPts val="1300"/>
              <a:buNone/>
              <a:defRPr/>
            </a:lvl3pPr>
            <a:lvl4pPr lvl="3" algn="l" rtl="0">
              <a:spcBef>
                <a:spcPts val="0"/>
              </a:spcBef>
              <a:spcAft>
                <a:spcPts val="0"/>
              </a:spcAft>
              <a:buSzPts val="1300"/>
              <a:buNone/>
              <a:defRPr/>
            </a:lvl4pPr>
            <a:lvl5pPr lvl="4" algn="l" rtl="0">
              <a:spcBef>
                <a:spcPts val="0"/>
              </a:spcBef>
              <a:spcAft>
                <a:spcPts val="0"/>
              </a:spcAft>
              <a:buSzPts val="1300"/>
              <a:buNone/>
              <a:defRPr/>
            </a:lvl5pPr>
            <a:lvl6pPr lvl="5" algn="l" rtl="0">
              <a:spcBef>
                <a:spcPts val="0"/>
              </a:spcBef>
              <a:spcAft>
                <a:spcPts val="0"/>
              </a:spcAft>
              <a:buSzPts val="1300"/>
              <a:buNone/>
              <a:defRPr/>
            </a:lvl6pPr>
            <a:lvl7pPr lvl="6" algn="l" rtl="0">
              <a:spcBef>
                <a:spcPts val="0"/>
              </a:spcBef>
              <a:spcAft>
                <a:spcPts val="0"/>
              </a:spcAft>
              <a:buSzPts val="1300"/>
              <a:buNone/>
              <a:defRPr/>
            </a:lvl7pPr>
            <a:lvl8pPr lvl="7" algn="l" rtl="0">
              <a:spcBef>
                <a:spcPts val="0"/>
              </a:spcBef>
              <a:spcAft>
                <a:spcPts val="0"/>
              </a:spcAft>
              <a:buSzPts val="1300"/>
              <a:buNone/>
              <a:defRPr/>
            </a:lvl8pPr>
            <a:lvl9pPr lvl="8" algn="l" rtl="0">
              <a:spcBef>
                <a:spcPts val="0"/>
              </a:spcBef>
              <a:spcAft>
                <a:spcPts val="0"/>
              </a:spcAft>
              <a:buSzPts val="1300"/>
              <a:buNone/>
              <a:defRPr/>
            </a:lvl9pPr>
          </a:lstStyle>
          <a:p>
            <a:endParaRPr/>
          </a:p>
        </p:txBody>
      </p:sp>
      <p:sp>
        <p:nvSpPr>
          <p:cNvPr id="101" name="Google Shape;101;p26"/>
          <p:cNvSpPr txBox="1">
            <a:spLocks noGrp="1"/>
          </p:cNvSpPr>
          <p:nvPr>
            <p:ph type="body" idx="1"/>
          </p:nvPr>
        </p:nvSpPr>
        <p:spPr>
          <a:xfrm>
            <a:off x="457172" y="1203299"/>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102" name="Google Shape;102;p26"/>
          <p:cNvSpPr txBox="1">
            <a:spLocks noGrp="1"/>
          </p:cNvSpPr>
          <p:nvPr>
            <p:ph type="body" idx="2"/>
          </p:nvPr>
        </p:nvSpPr>
        <p:spPr>
          <a:xfrm>
            <a:off x="3239388" y="1203299"/>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103" name="Google Shape;103;p26"/>
          <p:cNvSpPr txBox="1">
            <a:spLocks noGrp="1"/>
          </p:cNvSpPr>
          <p:nvPr>
            <p:ph type="body" idx="3"/>
          </p:nvPr>
        </p:nvSpPr>
        <p:spPr>
          <a:xfrm>
            <a:off x="6021277" y="1203299"/>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104" name="Google Shape;104;p26"/>
          <p:cNvSpPr txBox="1">
            <a:spLocks noGrp="1"/>
          </p:cNvSpPr>
          <p:nvPr>
            <p:ph type="body" idx="4"/>
          </p:nvPr>
        </p:nvSpPr>
        <p:spPr>
          <a:xfrm>
            <a:off x="457172" y="2761220"/>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105" name="Google Shape;105;p26"/>
          <p:cNvSpPr txBox="1">
            <a:spLocks noGrp="1"/>
          </p:cNvSpPr>
          <p:nvPr>
            <p:ph type="body" idx="5"/>
          </p:nvPr>
        </p:nvSpPr>
        <p:spPr>
          <a:xfrm>
            <a:off x="3239388" y="2761220"/>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
        <p:nvSpPr>
          <p:cNvPr id="106" name="Google Shape;106;p26"/>
          <p:cNvSpPr txBox="1">
            <a:spLocks noGrp="1"/>
          </p:cNvSpPr>
          <p:nvPr>
            <p:ph type="body" idx="6"/>
          </p:nvPr>
        </p:nvSpPr>
        <p:spPr>
          <a:xfrm>
            <a:off x="6021277" y="2761220"/>
            <a:ext cx="2649300" cy="1422300"/>
          </a:xfrm>
          <a:prstGeom prst="rect">
            <a:avLst/>
          </a:prstGeom>
          <a:noFill/>
          <a:ln>
            <a:noFill/>
          </a:ln>
        </p:spPr>
        <p:txBody>
          <a:bodyPr spcFirstLastPara="1" wrap="square" lIns="0" tIns="0" rIns="0" bIns="0" anchor="t" anchorCtr="0">
            <a:noAutofit/>
          </a:bodyPr>
          <a:lstStyle>
            <a:lvl1pPr marL="457200" lvl="0" indent="-228600" algn="l" rtl="0">
              <a:spcBef>
                <a:spcPts val="0"/>
              </a:spcBef>
              <a:spcAft>
                <a:spcPts val="0"/>
              </a:spcAft>
              <a:buSzPts val="1300"/>
              <a:buNone/>
              <a:defRPr/>
            </a:lvl1pPr>
            <a:lvl2pPr marL="914400" lvl="1" indent="-228600" algn="l" rtl="0">
              <a:spcBef>
                <a:spcPts val="0"/>
              </a:spcBef>
              <a:spcAft>
                <a:spcPts val="0"/>
              </a:spcAft>
              <a:buSzPts val="1300"/>
              <a:buNone/>
              <a:defRPr/>
            </a:lvl2pPr>
            <a:lvl3pPr marL="1371600" lvl="2" indent="-228600" algn="l" rtl="0">
              <a:spcBef>
                <a:spcPts val="0"/>
              </a:spcBef>
              <a:spcAft>
                <a:spcPts val="0"/>
              </a:spcAft>
              <a:buSzPts val="1300"/>
              <a:buNone/>
              <a:defRPr/>
            </a:lvl3pPr>
            <a:lvl4pPr marL="1828800" lvl="3" indent="-228600" algn="l" rtl="0">
              <a:spcBef>
                <a:spcPts val="0"/>
              </a:spcBef>
              <a:spcAft>
                <a:spcPts val="0"/>
              </a:spcAft>
              <a:buSzPts val="1300"/>
              <a:buNone/>
              <a:defRPr/>
            </a:lvl4pPr>
            <a:lvl5pPr marL="2286000" lvl="4" indent="-228600" algn="l" rtl="0">
              <a:spcBef>
                <a:spcPts val="0"/>
              </a:spcBef>
              <a:spcAft>
                <a:spcPts val="0"/>
              </a:spcAft>
              <a:buSzPts val="1300"/>
              <a:buNone/>
              <a:defRPr/>
            </a:lvl5pPr>
            <a:lvl6pPr marL="2743200" lvl="5" indent="-228600" algn="l" rtl="0">
              <a:spcBef>
                <a:spcPts val="0"/>
              </a:spcBef>
              <a:spcAft>
                <a:spcPts val="0"/>
              </a:spcAft>
              <a:buSzPts val="1300"/>
              <a:buNone/>
              <a:defRPr/>
            </a:lvl6pPr>
            <a:lvl7pPr marL="3200400" lvl="6" indent="-228600" algn="l" rtl="0">
              <a:spcBef>
                <a:spcPts val="0"/>
              </a:spcBef>
              <a:spcAft>
                <a:spcPts val="0"/>
              </a:spcAft>
              <a:buSzPts val="1300"/>
              <a:buNone/>
              <a:defRPr/>
            </a:lvl7pPr>
            <a:lvl8pPr marL="3657600" lvl="7" indent="-228600" algn="l" rtl="0">
              <a:spcBef>
                <a:spcPts val="0"/>
              </a:spcBef>
              <a:spcAft>
                <a:spcPts val="0"/>
              </a:spcAft>
              <a:buSzPts val="1300"/>
              <a:buNone/>
              <a:defRPr/>
            </a:lvl8pPr>
            <a:lvl9pPr marL="4114800" lvl="8" indent="-228600" algn="l" rtl="0">
              <a:spcBef>
                <a:spcPts val="0"/>
              </a:spcBef>
              <a:spcAft>
                <a:spcPts val="0"/>
              </a:spcAft>
              <a:buSzPts val="13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07"/>
        <p:cNvGrpSpPr/>
        <p:nvPr/>
      </p:nvGrpSpPr>
      <p:grpSpPr>
        <a:xfrm>
          <a:off x="0" y="0"/>
          <a:ext cx="0" cy="0"/>
          <a:chOff x="0" y="0"/>
          <a:chExt cx="0" cy="0"/>
        </a:xfrm>
      </p:grpSpPr>
      <p:sp>
        <p:nvSpPr>
          <p:cNvPr id="108" name="Google Shape;108;p27"/>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228600" rtl="0">
              <a:spcBef>
                <a:spcPts val="0"/>
              </a:spcBef>
              <a:spcAft>
                <a:spcPts val="0"/>
              </a:spcAft>
              <a:buSzPts val="1300"/>
              <a:buNone/>
              <a:defRPr/>
            </a:lvl1pPr>
            <a:lvl2pPr marL="914400" lvl="1" indent="-228600" rtl="0">
              <a:spcBef>
                <a:spcPts val="0"/>
              </a:spcBef>
              <a:spcAft>
                <a:spcPts val="0"/>
              </a:spcAft>
              <a:buSzPts val="1300"/>
              <a:buNone/>
              <a:defRPr/>
            </a:lvl2pPr>
            <a:lvl3pPr marL="1371600" lvl="2" indent="-228600" rtl="0">
              <a:spcBef>
                <a:spcPts val="0"/>
              </a:spcBef>
              <a:spcAft>
                <a:spcPts val="0"/>
              </a:spcAft>
              <a:buSzPts val="1300"/>
              <a:buNone/>
              <a:defRPr/>
            </a:lvl3pPr>
            <a:lvl4pPr marL="1828800" lvl="3" indent="-228600" rtl="0">
              <a:spcBef>
                <a:spcPts val="0"/>
              </a:spcBef>
              <a:spcAft>
                <a:spcPts val="0"/>
              </a:spcAft>
              <a:buSzPts val="1300"/>
              <a:buNone/>
              <a:defRPr/>
            </a:lvl4pPr>
            <a:lvl5pPr marL="2286000" lvl="4" indent="-228600" rtl="0">
              <a:spcBef>
                <a:spcPts val="0"/>
              </a:spcBef>
              <a:spcAft>
                <a:spcPts val="0"/>
              </a:spcAft>
              <a:buSzPts val="1300"/>
              <a:buNone/>
              <a:defRPr/>
            </a:lvl5pPr>
            <a:lvl6pPr marL="2743200" lvl="5" indent="-228600" rtl="0">
              <a:spcBef>
                <a:spcPts val="0"/>
              </a:spcBef>
              <a:spcAft>
                <a:spcPts val="0"/>
              </a:spcAft>
              <a:buSzPts val="1300"/>
              <a:buNone/>
              <a:defRPr/>
            </a:lvl6pPr>
            <a:lvl7pPr marL="3200400" lvl="6" indent="-228600" rtl="0">
              <a:spcBef>
                <a:spcPts val="0"/>
              </a:spcBef>
              <a:spcAft>
                <a:spcPts val="0"/>
              </a:spcAft>
              <a:buSzPts val="1300"/>
              <a:buNone/>
              <a:defRPr/>
            </a:lvl7pPr>
            <a:lvl8pPr marL="3657600" lvl="7" indent="-228600" rtl="0">
              <a:spcBef>
                <a:spcPts val="0"/>
              </a:spcBef>
              <a:spcAft>
                <a:spcPts val="0"/>
              </a:spcAft>
              <a:buSzPts val="1300"/>
              <a:buNone/>
              <a:defRPr/>
            </a:lvl8pPr>
            <a:lvl9pPr marL="4114800" lvl="8" indent="-228600" rtl="0">
              <a:spcBef>
                <a:spcPts val="0"/>
              </a:spcBef>
              <a:spcAft>
                <a:spcPts val="0"/>
              </a:spcAft>
              <a:buSzPts val="1300"/>
              <a:buNone/>
              <a:defRPr/>
            </a:lvl9pPr>
          </a:lstStyle>
          <a:p>
            <a:endParaRPr/>
          </a:p>
        </p:txBody>
      </p:sp>
      <p:sp>
        <p:nvSpPr>
          <p:cNvPr id="109" name="Google Shape;109;p27"/>
          <p:cNvSpPr txBox="1">
            <a:spLocks noGrp="1"/>
          </p:cNvSpPr>
          <p:nvPr>
            <p:ph type="sldNum" idx="12"/>
          </p:nvPr>
        </p:nvSpPr>
        <p:spPr>
          <a:xfrm>
            <a:off x="8472458" y="4663217"/>
            <a:ext cx="548700" cy="393600"/>
          </a:xfrm>
          <a:prstGeom prst="rect">
            <a:avLst/>
          </a:prstGeom>
        </p:spPr>
        <p:txBody>
          <a:bodyPr spcFirstLastPara="1" wrap="square" lIns="0" tIns="0" rIns="0" bIns="0"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110" name="Google Shape;110;p27"/>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7"/>
          <p:cNvSpPr txBox="1">
            <a:spLocks noGrp="1"/>
          </p:cNvSpPr>
          <p:nvPr>
            <p:ph type="subTitle" idx="2"/>
          </p:nvPr>
        </p:nvSpPr>
        <p:spPr>
          <a:xfrm>
            <a:off x="0" y="0"/>
            <a:ext cx="6916200" cy="393600"/>
          </a:xfrm>
          <a:prstGeom prst="rect">
            <a:avLst/>
          </a:prstGeom>
        </p:spPr>
        <p:txBody>
          <a:bodyPr spcFirstLastPara="1" wrap="square" lIns="0" tIns="0" rIns="0" bIns="0" anchor="t" anchorCtr="0">
            <a:noAutofit/>
          </a:bodyPr>
          <a:lstStyle>
            <a:lvl1pPr lvl="0" rtl="0">
              <a:spcBef>
                <a:spcPts val="0"/>
              </a:spcBef>
              <a:spcAft>
                <a:spcPts val="0"/>
              </a:spcAft>
              <a:buNone/>
              <a:defRPr sz="1200" i="1">
                <a:solidFill>
                  <a:srgbClr val="6AA84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12" name="Google Shape;112;p27"/>
          <p:cNvSpPr txBox="1">
            <a:spLocks noGrp="1"/>
          </p:cNvSpPr>
          <p:nvPr>
            <p:ph type="title"/>
          </p:nvPr>
        </p:nvSpPr>
        <p:spPr>
          <a:xfrm>
            <a:off x="132250" y="129900"/>
            <a:ext cx="8520600" cy="572700"/>
          </a:xfrm>
          <a:prstGeom prst="rect">
            <a:avLst/>
          </a:prstGeom>
        </p:spPr>
        <p:txBody>
          <a:bodyPr spcFirstLastPara="1" wrap="square" lIns="0" tIns="0" rIns="0" bIns="0" anchor="t" anchorCtr="0">
            <a:noAutofit/>
          </a:bodyPr>
          <a:lstStyle>
            <a:lvl1pPr lvl="0" rtl="0">
              <a:spcBef>
                <a:spcPts val="0"/>
              </a:spcBef>
              <a:spcAft>
                <a:spcPts val="0"/>
              </a:spcAft>
              <a:buClr>
                <a:srgbClr val="38761D"/>
              </a:buClr>
              <a:buSzPts val="2800"/>
              <a:buNone/>
              <a:defRPr sz="2800" b="1">
                <a:solidFill>
                  <a:srgbClr val="38761D"/>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8"/>
        <p:cNvGrpSpPr/>
        <p:nvPr/>
      </p:nvGrpSpPr>
      <p:grpSpPr>
        <a:xfrm>
          <a:off x="0" y="0"/>
          <a:ext cx="0" cy="0"/>
          <a:chOff x="0" y="0"/>
          <a:chExt cx="0" cy="0"/>
        </a:xfrm>
      </p:grpSpPr>
      <p:pic>
        <p:nvPicPr>
          <p:cNvPr id="119" name="Google Shape;119;p29"/>
          <p:cNvPicPr preferRelativeResize="0"/>
          <p:nvPr/>
        </p:nvPicPr>
        <p:blipFill rotWithShape="1">
          <a:blip r:embed="rId2">
            <a:alphaModFix/>
          </a:blip>
          <a:srcRect l="16443" t="7295"/>
          <a:stretch/>
        </p:blipFill>
        <p:spPr>
          <a:xfrm>
            <a:off x="3740385" y="418200"/>
            <a:ext cx="5403615" cy="3967400"/>
          </a:xfrm>
          <a:prstGeom prst="rect">
            <a:avLst/>
          </a:prstGeom>
          <a:noFill/>
          <a:ln>
            <a:noFill/>
          </a:ln>
        </p:spPr>
      </p:pic>
      <p:sp>
        <p:nvSpPr>
          <p:cNvPr id="120" name="Google Shape;120;p29"/>
          <p:cNvSpPr txBox="1">
            <a:spLocks noGrp="1"/>
          </p:cNvSpPr>
          <p:nvPr>
            <p:ph type="ctrTitle"/>
          </p:nvPr>
        </p:nvSpPr>
        <p:spPr>
          <a:xfrm>
            <a:off x="297175" y="1144175"/>
            <a:ext cx="4119900" cy="10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21" name="Google Shape;121;p29"/>
          <p:cNvSpPr txBox="1">
            <a:spLocks noGrp="1"/>
          </p:cNvSpPr>
          <p:nvPr>
            <p:ph type="subTitle" idx="1"/>
          </p:nvPr>
        </p:nvSpPr>
        <p:spPr>
          <a:xfrm>
            <a:off x="297175" y="2266550"/>
            <a:ext cx="36621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2" name="Google Shape;12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angepaste lay-out 1">
  <p:cSld name="CUSTOM">
    <p:spTree>
      <p:nvGrpSpPr>
        <p:cNvPr id="1" name="Shape 123"/>
        <p:cNvGrpSpPr/>
        <p:nvPr/>
      </p:nvGrpSpPr>
      <p:grpSpPr>
        <a:xfrm>
          <a:off x="0" y="0"/>
          <a:ext cx="0" cy="0"/>
          <a:chOff x="0" y="0"/>
          <a:chExt cx="0" cy="0"/>
        </a:xfrm>
      </p:grpSpPr>
      <p:pic>
        <p:nvPicPr>
          <p:cNvPr id="124" name="Google Shape;124;p30"/>
          <p:cNvPicPr preferRelativeResize="0"/>
          <p:nvPr/>
        </p:nvPicPr>
        <p:blipFill rotWithShape="1">
          <a:blip r:embed="rId2">
            <a:alphaModFix/>
          </a:blip>
          <a:srcRect/>
          <a:stretch/>
        </p:blipFill>
        <p:spPr>
          <a:xfrm>
            <a:off x="4671275" y="-25"/>
            <a:ext cx="4472726" cy="5100875"/>
          </a:xfrm>
          <a:prstGeom prst="rect">
            <a:avLst/>
          </a:prstGeom>
          <a:noFill/>
          <a:ln>
            <a:noFill/>
          </a:ln>
        </p:spPr>
      </p:pic>
      <p:sp>
        <p:nvSpPr>
          <p:cNvPr id="125" name="Google Shape;125;p30"/>
          <p:cNvSpPr txBox="1">
            <a:spLocks noGrp="1"/>
          </p:cNvSpPr>
          <p:nvPr>
            <p:ph type="title"/>
          </p:nvPr>
        </p:nvSpPr>
        <p:spPr>
          <a:xfrm>
            <a:off x="4584150" y="1512950"/>
            <a:ext cx="4366200" cy="986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26" name="Google Shape;126;p30"/>
          <p:cNvSpPr/>
          <p:nvPr/>
        </p:nvSpPr>
        <p:spPr>
          <a:xfrm>
            <a:off x="0" y="-25"/>
            <a:ext cx="4540500" cy="51435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0"/>
          <p:cNvSpPr txBox="1">
            <a:spLocks noGrp="1"/>
          </p:cNvSpPr>
          <p:nvPr>
            <p:ph type="subTitle" idx="1"/>
          </p:nvPr>
        </p:nvSpPr>
        <p:spPr>
          <a:xfrm>
            <a:off x="4830450" y="2499050"/>
            <a:ext cx="3662100" cy="55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8" name="Google Shape;128;p30"/>
          <p:cNvSpPr txBox="1">
            <a:spLocks noGrp="1"/>
          </p:cNvSpPr>
          <p:nvPr>
            <p:ph type="body" idx="2"/>
          </p:nvPr>
        </p:nvSpPr>
        <p:spPr>
          <a:xfrm>
            <a:off x="4907675" y="3102100"/>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9"/>
        <p:cNvGrpSpPr/>
        <p:nvPr/>
      </p:nvGrpSpPr>
      <p:grpSpPr>
        <a:xfrm>
          <a:off x="0" y="0"/>
          <a:ext cx="0" cy="0"/>
          <a:chOff x="0" y="0"/>
          <a:chExt cx="0" cy="0"/>
        </a:xfrm>
      </p:grpSpPr>
      <p:sp>
        <p:nvSpPr>
          <p:cNvPr id="130" name="Google Shape;130;p3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1" name="Google Shape;131;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2" name="Google Shape;132;p31"/>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3"/>
        <p:cNvGrpSpPr/>
        <p:nvPr/>
      </p:nvGrpSpPr>
      <p:grpSpPr>
        <a:xfrm>
          <a:off x="0" y="0"/>
          <a:ext cx="0" cy="0"/>
          <a:chOff x="0" y="0"/>
          <a:chExt cx="0" cy="0"/>
        </a:xfrm>
      </p:grpSpPr>
      <p:sp>
        <p:nvSpPr>
          <p:cNvPr id="134" name="Google Shape;134;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135" name="Google Shape;135;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6" name="Google Shape;136;p32"/>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32"/>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38761D"/>
              </a:buClr>
              <a:buSzPts val="2800"/>
              <a:buNone/>
              <a:defRPr sz="2800" b="1">
                <a:solidFill>
                  <a:srgbClr val="38761D"/>
                </a:solidFill>
              </a:defRPr>
            </a:lvl1pPr>
            <a:lvl2pPr lvl="1" algn="l" rtl="0">
              <a:lnSpc>
                <a:spcPct val="100000"/>
              </a:lnSpc>
              <a:spcBef>
                <a:spcPts val="0"/>
              </a:spcBef>
              <a:spcAft>
                <a:spcPts val="0"/>
              </a:spcAft>
              <a:buClr>
                <a:schemeClr val="dk1"/>
              </a:buClr>
              <a:buSzPts val="2800"/>
              <a:buNone/>
              <a:defRPr sz="2800">
                <a:solidFill>
                  <a:schemeClr val="dk1"/>
                </a:solidFill>
              </a:defRPr>
            </a:lvl2pPr>
            <a:lvl3pPr lvl="2" algn="l" rtl="0">
              <a:lnSpc>
                <a:spcPct val="100000"/>
              </a:lnSpc>
              <a:spcBef>
                <a:spcPts val="0"/>
              </a:spcBef>
              <a:spcAft>
                <a:spcPts val="0"/>
              </a:spcAft>
              <a:buClr>
                <a:schemeClr val="dk1"/>
              </a:buClr>
              <a:buSzPts val="2800"/>
              <a:buNone/>
              <a:defRPr sz="2800">
                <a:solidFill>
                  <a:schemeClr val="dk1"/>
                </a:solidFill>
              </a:defRPr>
            </a:lvl3pPr>
            <a:lvl4pPr lvl="3" algn="l" rtl="0">
              <a:lnSpc>
                <a:spcPct val="100000"/>
              </a:lnSpc>
              <a:spcBef>
                <a:spcPts val="0"/>
              </a:spcBef>
              <a:spcAft>
                <a:spcPts val="0"/>
              </a:spcAft>
              <a:buClr>
                <a:schemeClr val="dk1"/>
              </a:buClr>
              <a:buSzPts val="2800"/>
              <a:buNone/>
              <a:defRPr sz="2800">
                <a:solidFill>
                  <a:schemeClr val="dk1"/>
                </a:solidFill>
              </a:defRPr>
            </a:lvl4pPr>
            <a:lvl5pPr lvl="4" algn="l" rtl="0">
              <a:lnSpc>
                <a:spcPct val="100000"/>
              </a:lnSpc>
              <a:spcBef>
                <a:spcPts val="0"/>
              </a:spcBef>
              <a:spcAft>
                <a:spcPts val="0"/>
              </a:spcAft>
              <a:buClr>
                <a:schemeClr val="dk1"/>
              </a:buClr>
              <a:buSzPts val="2800"/>
              <a:buNone/>
              <a:defRPr sz="2800">
                <a:solidFill>
                  <a:schemeClr val="dk1"/>
                </a:solidFill>
              </a:defRPr>
            </a:lvl5pPr>
            <a:lvl6pPr lvl="5" algn="l" rtl="0">
              <a:lnSpc>
                <a:spcPct val="100000"/>
              </a:lnSpc>
              <a:spcBef>
                <a:spcPts val="0"/>
              </a:spcBef>
              <a:spcAft>
                <a:spcPts val="0"/>
              </a:spcAft>
              <a:buClr>
                <a:schemeClr val="dk1"/>
              </a:buClr>
              <a:buSzPts val="2800"/>
              <a:buNone/>
              <a:defRPr sz="2800">
                <a:solidFill>
                  <a:schemeClr val="dk1"/>
                </a:solidFill>
              </a:defRPr>
            </a:lvl6pPr>
            <a:lvl7pPr lvl="6" algn="l" rtl="0">
              <a:lnSpc>
                <a:spcPct val="100000"/>
              </a:lnSpc>
              <a:spcBef>
                <a:spcPts val="0"/>
              </a:spcBef>
              <a:spcAft>
                <a:spcPts val="0"/>
              </a:spcAft>
              <a:buClr>
                <a:schemeClr val="dk1"/>
              </a:buClr>
              <a:buSzPts val="2800"/>
              <a:buNone/>
              <a:defRPr sz="2800">
                <a:solidFill>
                  <a:schemeClr val="dk1"/>
                </a:solidFill>
              </a:defRPr>
            </a:lvl7pPr>
            <a:lvl8pPr lvl="7" algn="l" rtl="0">
              <a:lnSpc>
                <a:spcPct val="100000"/>
              </a:lnSpc>
              <a:spcBef>
                <a:spcPts val="0"/>
              </a:spcBef>
              <a:spcAft>
                <a:spcPts val="0"/>
              </a:spcAft>
              <a:buClr>
                <a:schemeClr val="dk1"/>
              </a:buClr>
              <a:buSzPts val="2800"/>
              <a:buNone/>
              <a:defRPr sz="2800">
                <a:solidFill>
                  <a:schemeClr val="dk1"/>
                </a:solidFill>
              </a:defRPr>
            </a:lvl8pPr>
            <a:lvl9pPr lvl="8" algn="l" rtl="0">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8"/>
        <p:cNvGrpSpPr/>
        <p:nvPr/>
      </p:nvGrpSpPr>
      <p:grpSpPr>
        <a:xfrm>
          <a:off x="0" y="0"/>
          <a:ext cx="0" cy="0"/>
          <a:chOff x="0" y="0"/>
          <a:chExt cx="0" cy="0"/>
        </a:xfrm>
      </p:grpSpPr>
      <p:sp>
        <p:nvSpPr>
          <p:cNvPr id="139" name="Google Shape;139;p33"/>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40" name="Google Shape;140;p3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41" name="Google Shape;141;p3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42" name="Google Shape;142;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43" name="Google Shape;143;p33"/>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4"/>
        <p:cNvGrpSpPr/>
        <p:nvPr/>
      </p:nvGrpSpPr>
      <p:grpSpPr>
        <a:xfrm>
          <a:off x="0" y="0"/>
          <a:ext cx="0" cy="0"/>
          <a:chOff x="0" y="0"/>
          <a:chExt cx="0" cy="0"/>
        </a:xfrm>
      </p:grpSpPr>
      <p:sp>
        <p:nvSpPr>
          <p:cNvPr id="145" name="Google Shape;145;p34"/>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46" name="Google Shape;146;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47" name="Google Shape;147;p34"/>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35"/>
          <p:cNvSpPr txBox="1">
            <a:spLocks noGrp="1"/>
          </p:cNvSpPr>
          <p:nvPr>
            <p:ph type="title"/>
          </p:nvPr>
        </p:nvSpPr>
        <p:spPr>
          <a:xfrm>
            <a:off x="334175" y="450150"/>
            <a:ext cx="85653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150" name="Google Shape;150;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1" name="Google Shape;151;p35"/>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2"/>
        <p:cNvGrpSpPr/>
        <p:nvPr/>
      </p:nvGrpSpPr>
      <p:grpSpPr>
        <a:xfrm>
          <a:off x="0" y="0"/>
          <a:ext cx="0" cy="0"/>
          <a:chOff x="0" y="0"/>
          <a:chExt cx="0" cy="0"/>
        </a:xfrm>
      </p:grpSpPr>
      <p:sp>
        <p:nvSpPr>
          <p:cNvPr id="153" name="Google Shape;153;p3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155" name="Google Shape;155;p3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56" name="Google Shape;156;p3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157" name="Google Shape;157;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8" name="Google Shape;158;p36"/>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3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a:endParaRPr/>
          </a:p>
        </p:txBody>
      </p:sp>
      <p:sp>
        <p:nvSpPr>
          <p:cNvPr id="161" name="Google Shape;161;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2" name="Google Shape;162;p37"/>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3"/>
        <p:cNvGrpSpPr/>
        <p:nvPr/>
      </p:nvGrpSpPr>
      <p:grpSpPr>
        <a:xfrm>
          <a:off x="0" y="0"/>
          <a:ext cx="0" cy="0"/>
          <a:chOff x="0" y="0"/>
          <a:chExt cx="0" cy="0"/>
        </a:xfrm>
      </p:grpSpPr>
      <p:sp>
        <p:nvSpPr>
          <p:cNvPr id="164" name="Google Shape;164;p3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165" name="Google Shape;165;p3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a:endParaRPr/>
          </a:p>
        </p:txBody>
      </p:sp>
      <p:sp>
        <p:nvSpPr>
          <p:cNvPr id="166" name="Google Shape;166;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7" name="Google Shape;167;p38"/>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8"/>
        <p:cNvGrpSpPr/>
        <p:nvPr/>
      </p:nvGrpSpPr>
      <p:grpSpPr>
        <a:xfrm>
          <a:off x="0" y="0"/>
          <a:ext cx="0" cy="0"/>
          <a:chOff x="0" y="0"/>
          <a:chExt cx="0" cy="0"/>
        </a:xfrm>
      </p:grpSpPr>
      <p:sp>
        <p:nvSpPr>
          <p:cNvPr id="169" name="Google Shape;169;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70" name="Google Shape;170;p39"/>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77"/>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78"/>
        <p:cNvGrpSpPr/>
        <p:nvPr/>
      </p:nvGrpSpPr>
      <p:grpSpPr>
        <a:xfrm>
          <a:off x="0" y="0"/>
          <a:ext cx="0" cy="0"/>
          <a:chOff x="0" y="0"/>
          <a:chExt cx="0" cy="0"/>
        </a:xfrm>
      </p:grpSpPr>
      <p:sp>
        <p:nvSpPr>
          <p:cNvPr id="179" name="Google Shape;179;p42"/>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80" name="Google Shape;180;p42"/>
          <p:cNvSpPr txBox="1">
            <a:spLocks noGrp="1"/>
          </p:cNvSpPr>
          <p:nvPr>
            <p:ph type="subTitle" idx="1"/>
          </p:nvPr>
        </p:nvSpPr>
        <p:spPr>
          <a:xfrm>
            <a:off x="457172" y="1203299"/>
            <a:ext cx="8228700" cy="2982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81"/>
        <p:cNvGrpSpPr/>
        <p:nvPr/>
      </p:nvGrpSpPr>
      <p:grpSpPr>
        <a:xfrm>
          <a:off x="0" y="0"/>
          <a:ext cx="0" cy="0"/>
          <a:chOff x="0" y="0"/>
          <a:chExt cx="0" cy="0"/>
        </a:xfrm>
      </p:grpSpPr>
      <p:sp>
        <p:nvSpPr>
          <p:cNvPr id="182" name="Google Shape;182;p4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83" name="Google Shape;183;p4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84"/>
        <p:cNvGrpSpPr/>
        <p:nvPr/>
      </p:nvGrpSpPr>
      <p:grpSpPr>
        <a:xfrm>
          <a:off x="0" y="0"/>
          <a:ext cx="0" cy="0"/>
          <a:chOff x="0" y="0"/>
          <a:chExt cx="0" cy="0"/>
        </a:xfrm>
      </p:grpSpPr>
      <p:sp>
        <p:nvSpPr>
          <p:cNvPr id="185" name="Google Shape;185;p44"/>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86" name="Google Shape;186;p44"/>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87" name="Google Shape;187;p44"/>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8"/>
        <p:cNvGrpSpPr/>
        <p:nvPr/>
      </p:nvGrpSpPr>
      <p:grpSpPr>
        <a:xfrm>
          <a:off x="0" y="0"/>
          <a:ext cx="0" cy="0"/>
          <a:chOff x="0" y="0"/>
          <a:chExt cx="0" cy="0"/>
        </a:xfrm>
      </p:grpSpPr>
      <p:sp>
        <p:nvSpPr>
          <p:cNvPr id="189" name="Google Shape;189;p45"/>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90"/>
        <p:cNvGrpSpPr/>
        <p:nvPr/>
      </p:nvGrpSpPr>
      <p:grpSpPr>
        <a:xfrm>
          <a:off x="0" y="0"/>
          <a:ext cx="0" cy="0"/>
          <a:chOff x="0" y="0"/>
          <a:chExt cx="0" cy="0"/>
        </a:xfrm>
      </p:grpSpPr>
      <p:sp>
        <p:nvSpPr>
          <p:cNvPr id="191" name="Google Shape;191;p46"/>
          <p:cNvSpPr txBox="1">
            <a:spLocks noGrp="1"/>
          </p:cNvSpPr>
          <p:nvPr>
            <p:ph type="subTitle" idx="1"/>
          </p:nvPr>
        </p:nvSpPr>
        <p:spPr>
          <a:xfrm>
            <a:off x="457172" y="205067"/>
            <a:ext cx="8228700" cy="39804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92"/>
        <p:cNvGrpSpPr/>
        <p:nvPr/>
      </p:nvGrpSpPr>
      <p:grpSpPr>
        <a:xfrm>
          <a:off x="0" y="0"/>
          <a:ext cx="0" cy="0"/>
          <a:chOff x="0" y="0"/>
          <a:chExt cx="0" cy="0"/>
        </a:xfrm>
      </p:grpSpPr>
      <p:sp>
        <p:nvSpPr>
          <p:cNvPr id="193" name="Google Shape;193;p47"/>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94" name="Google Shape;194;p47"/>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95" name="Google Shape;195;p47"/>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96" name="Google Shape;196;p47"/>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97"/>
        <p:cNvGrpSpPr/>
        <p:nvPr/>
      </p:nvGrpSpPr>
      <p:grpSpPr>
        <a:xfrm>
          <a:off x="0" y="0"/>
          <a:ext cx="0" cy="0"/>
          <a:chOff x="0" y="0"/>
          <a:chExt cx="0" cy="0"/>
        </a:xfrm>
      </p:grpSpPr>
      <p:sp>
        <p:nvSpPr>
          <p:cNvPr id="198" name="Google Shape;198;p48"/>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99" name="Google Shape;199;p48"/>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00" name="Google Shape;200;p48"/>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01" name="Google Shape;201;p48"/>
          <p:cNvSpPr txBox="1">
            <a:spLocks noGrp="1"/>
          </p:cNvSpPr>
          <p:nvPr>
            <p:ph type="body" idx="3"/>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02"/>
        <p:cNvGrpSpPr/>
        <p:nvPr/>
      </p:nvGrpSpPr>
      <p:grpSpPr>
        <a:xfrm>
          <a:off x="0" y="0"/>
          <a:ext cx="0" cy="0"/>
          <a:chOff x="0" y="0"/>
          <a:chExt cx="0" cy="0"/>
        </a:xfrm>
      </p:grpSpPr>
      <p:sp>
        <p:nvSpPr>
          <p:cNvPr id="203" name="Google Shape;203;p49"/>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204" name="Google Shape;204;p49"/>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05" name="Google Shape;205;p49"/>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06" name="Google Shape;206;p49"/>
          <p:cNvSpPr txBox="1">
            <a:spLocks noGrp="1"/>
          </p:cNvSpPr>
          <p:nvPr>
            <p:ph type="body" idx="3"/>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07"/>
        <p:cNvGrpSpPr/>
        <p:nvPr/>
      </p:nvGrpSpPr>
      <p:grpSpPr>
        <a:xfrm>
          <a:off x="0" y="0"/>
          <a:ext cx="0" cy="0"/>
          <a:chOff x="0" y="0"/>
          <a:chExt cx="0" cy="0"/>
        </a:xfrm>
      </p:grpSpPr>
      <p:sp>
        <p:nvSpPr>
          <p:cNvPr id="208" name="Google Shape;208;p50"/>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209" name="Google Shape;209;p50"/>
          <p:cNvSpPr txBox="1">
            <a:spLocks noGrp="1"/>
          </p:cNvSpPr>
          <p:nvPr>
            <p:ph type="body" idx="1"/>
          </p:nvPr>
        </p:nvSpPr>
        <p:spPr>
          <a:xfrm>
            <a:off x="457172" y="1203299"/>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10" name="Google Shape;210;p50"/>
          <p:cNvSpPr txBox="1">
            <a:spLocks noGrp="1"/>
          </p:cNvSpPr>
          <p:nvPr>
            <p:ph type="body" idx="2"/>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11"/>
        <p:cNvGrpSpPr/>
        <p:nvPr/>
      </p:nvGrpSpPr>
      <p:grpSpPr>
        <a:xfrm>
          <a:off x="0" y="0"/>
          <a:ext cx="0" cy="0"/>
          <a:chOff x="0" y="0"/>
          <a:chExt cx="0" cy="0"/>
        </a:xfrm>
      </p:grpSpPr>
      <p:sp>
        <p:nvSpPr>
          <p:cNvPr id="212" name="Google Shape;212;p51"/>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213" name="Google Shape;213;p51"/>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14" name="Google Shape;214;p51"/>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15" name="Google Shape;215;p51"/>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16" name="Google Shape;216;p51"/>
          <p:cNvSpPr txBox="1">
            <a:spLocks noGrp="1"/>
          </p:cNvSpPr>
          <p:nvPr>
            <p:ph type="body" idx="4"/>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17"/>
        <p:cNvGrpSpPr/>
        <p:nvPr/>
      </p:nvGrpSpPr>
      <p:grpSpPr>
        <a:xfrm>
          <a:off x="0" y="0"/>
          <a:ext cx="0" cy="0"/>
          <a:chOff x="0" y="0"/>
          <a:chExt cx="0" cy="0"/>
        </a:xfrm>
      </p:grpSpPr>
      <p:sp>
        <p:nvSpPr>
          <p:cNvPr id="218" name="Google Shape;218;p52"/>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219" name="Google Shape;219;p52"/>
          <p:cNvSpPr txBox="1">
            <a:spLocks noGrp="1"/>
          </p:cNvSpPr>
          <p:nvPr>
            <p:ph type="body" idx="1"/>
          </p:nvPr>
        </p:nvSpPr>
        <p:spPr>
          <a:xfrm>
            <a:off x="457172"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0" name="Google Shape;220;p52"/>
          <p:cNvSpPr txBox="1">
            <a:spLocks noGrp="1"/>
          </p:cNvSpPr>
          <p:nvPr>
            <p:ph type="body" idx="2"/>
          </p:nvPr>
        </p:nvSpPr>
        <p:spPr>
          <a:xfrm>
            <a:off x="3239388"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1" name="Google Shape;221;p52"/>
          <p:cNvSpPr txBox="1">
            <a:spLocks noGrp="1"/>
          </p:cNvSpPr>
          <p:nvPr>
            <p:ph type="body" idx="3"/>
          </p:nvPr>
        </p:nvSpPr>
        <p:spPr>
          <a:xfrm>
            <a:off x="6021277"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2" name="Google Shape;222;p52"/>
          <p:cNvSpPr txBox="1">
            <a:spLocks noGrp="1"/>
          </p:cNvSpPr>
          <p:nvPr>
            <p:ph type="body" idx="4"/>
          </p:nvPr>
        </p:nvSpPr>
        <p:spPr>
          <a:xfrm>
            <a:off x="457172"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3" name="Google Shape;223;p52"/>
          <p:cNvSpPr txBox="1">
            <a:spLocks noGrp="1"/>
          </p:cNvSpPr>
          <p:nvPr>
            <p:ph type="body" idx="5"/>
          </p:nvPr>
        </p:nvSpPr>
        <p:spPr>
          <a:xfrm>
            <a:off x="3239388"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4" name="Google Shape;224;p52"/>
          <p:cNvSpPr txBox="1">
            <a:spLocks noGrp="1"/>
          </p:cNvSpPr>
          <p:nvPr>
            <p:ph type="body" idx="6"/>
          </p:nvPr>
        </p:nvSpPr>
        <p:spPr>
          <a:xfrm>
            <a:off x="6021277"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225"/>
        <p:cNvGrpSpPr/>
        <p:nvPr/>
      </p:nvGrpSpPr>
      <p:grpSpPr>
        <a:xfrm>
          <a:off x="0" y="0"/>
          <a:ext cx="0" cy="0"/>
          <a:chOff x="0" y="0"/>
          <a:chExt cx="0" cy="0"/>
        </a:xfrm>
      </p:grpSpPr>
      <p:sp>
        <p:nvSpPr>
          <p:cNvPr id="226" name="Google Shape;226;p53"/>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227" name="Google Shape;227;p53"/>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GB"/>
              <a:t>‹#›</a:t>
            </a:fld>
            <a:endParaRPr/>
          </a:p>
        </p:txBody>
      </p:sp>
      <p:sp>
        <p:nvSpPr>
          <p:cNvPr id="228" name="Google Shape;228;p53"/>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53"/>
          <p:cNvSpPr txBox="1">
            <a:spLocks noGrp="1"/>
          </p:cNvSpPr>
          <p:nvPr>
            <p:ph type="subTitle" idx="2"/>
          </p:nvPr>
        </p:nvSpPr>
        <p:spPr>
          <a:xfrm>
            <a:off x="0" y="0"/>
            <a:ext cx="6916200" cy="3936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300"/>
              <a:buNone/>
              <a:defRPr sz="1200" i="1">
                <a:solidFill>
                  <a:srgbClr val="6AA84F"/>
                </a:solidFill>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230" name="Google Shape;230;p53"/>
          <p:cNvSpPr txBox="1">
            <a:spLocks noGrp="1"/>
          </p:cNvSpPr>
          <p:nvPr>
            <p:ph type="title"/>
          </p:nvPr>
        </p:nvSpPr>
        <p:spPr>
          <a:xfrm>
            <a:off x="132250" y="129900"/>
            <a:ext cx="8520600" cy="572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38761D"/>
              </a:buClr>
              <a:buSzPts val="2800"/>
              <a:buNone/>
              <a:defRPr sz="2800" b="1">
                <a:solidFill>
                  <a:srgbClr val="38761D"/>
                </a:solidFill>
              </a:defRPr>
            </a:lvl1pPr>
            <a:lvl2pPr lvl="1" algn="l" rtl="0">
              <a:lnSpc>
                <a:spcPct val="100000"/>
              </a:lnSpc>
              <a:spcBef>
                <a:spcPts val="0"/>
              </a:spcBef>
              <a:spcAft>
                <a:spcPts val="0"/>
              </a:spcAft>
              <a:buClr>
                <a:schemeClr val="dk1"/>
              </a:buClr>
              <a:buSzPts val="2800"/>
              <a:buNone/>
              <a:defRPr sz="2800">
                <a:solidFill>
                  <a:schemeClr val="dk1"/>
                </a:solidFill>
              </a:defRPr>
            </a:lvl2pPr>
            <a:lvl3pPr lvl="2" algn="l" rtl="0">
              <a:lnSpc>
                <a:spcPct val="100000"/>
              </a:lnSpc>
              <a:spcBef>
                <a:spcPts val="0"/>
              </a:spcBef>
              <a:spcAft>
                <a:spcPts val="0"/>
              </a:spcAft>
              <a:buClr>
                <a:schemeClr val="dk1"/>
              </a:buClr>
              <a:buSzPts val="2800"/>
              <a:buNone/>
              <a:defRPr sz="2800">
                <a:solidFill>
                  <a:schemeClr val="dk1"/>
                </a:solidFill>
              </a:defRPr>
            </a:lvl3pPr>
            <a:lvl4pPr lvl="3" algn="l" rtl="0">
              <a:lnSpc>
                <a:spcPct val="100000"/>
              </a:lnSpc>
              <a:spcBef>
                <a:spcPts val="0"/>
              </a:spcBef>
              <a:spcAft>
                <a:spcPts val="0"/>
              </a:spcAft>
              <a:buClr>
                <a:schemeClr val="dk1"/>
              </a:buClr>
              <a:buSzPts val="2800"/>
              <a:buNone/>
              <a:defRPr sz="2800">
                <a:solidFill>
                  <a:schemeClr val="dk1"/>
                </a:solidFill>
              </a:defRPr>
            </a:lvl4pPr>
            <a:lvl5pPr lvl="4" algn="l" rtl="0">
              <a:lnSpc>
                <a:spcPct val="100000"/>
              </a:lnSpc>
              <a:spcBef>
                <a:spcPts val="0"/>
              </a:spcBef>
              <a:spcAft>
                <a:spcPts val="0"/>
              </a:spcAft>
              <a:buClr>
                <a:schemeClr val="dk1"/>
              </a:buClr>
              <a:buSzPts val="2800"/>
              <a:buNone/>
              <a:defRPr sz="2800">
                <a:solidFill>
                  <a:schemeClr val="dk1"/>
                </a:solidFill>
              </a:defRPr>
            </a:lvl5pPr>
            <a:lvl6pPr lvl="5" algn="l" rtl="0">
              <a:lnSpc>
                <a:spcPct val="100000"/>
              </a:lnSpc>
              <a:spcBef>
                <a:spcPts val="0"/>
              </a:spcBef>
              <a:spcAft>
                <a:spcPts val="0"/>
              </a:spcAft>
              <a:buClr>
                <a:schemeClr val="dk1"/>
              </a:buClr>
              <a:buSzPts val="2800"/>
              <a:buNone/>
              <a:defRPr sz="2800">
                <a:solidFill>
                  <a:schemeClr val="dk1"/>
                </a:solidFill>
              </a:defRPr>
            </a:lvl6pPr>
            <a:lvl7pPr lvl="6" algn="l" rtl="0">
              <a:lnSpc>
                <a:spcPct val="100000"/>
              </a:lnSpc>
              <a:spcBef>
                <a:spcPts val="0"/>
              </a:spcBef>
              <a:spcAft>
                <a:spcPts val="0"/>
              </a:spcAft>
              <a:buClr>
                <a:schemeClr val="dk1"/>
              </a:buClr>
              <a:buSzPts val="2800"/>
              <a:buNone/>
              <a:defRPr sz="2800">
                <a:solidFill>
                  <a:schemeClr val="dk1"/>
                </a:solidFill>
              </a:defRPr>
            </a:lvl7pPr>
            <a:lvl8pPr lvl="7" algn="l" rtl="0">
              <a:lnSpc>
                <a:spcPct val="100000"/>
              </a:lnSpc>
              <a:spcBef>
                <a:spcPts val="0"/>
              </a:spcBef>
              <a:spcAft>
                <a:spcPts val="0"/>
              </a:spcAft>
              <a:buClr>
                <a:schemeClr val="dk1"/>
              </a:buClr>
              <a:buSzPts val="2800"/>
              <a:buNone/>
              <a:defRPr sz="2800">
                <a:solidFill>
                  <a:schemeClr val="dk1"/>
                </a:solidFill>
              </a:defRPr>
            </a:lvl8pPr>
            <a:lvl9pPr lvl="8" algn="l" rtl="0">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701" r:id="rId13"/>
    <p:sldLayoutId id="2147483702" r:id="rId14"/>
    <p:sldLayoutId id="2147483703" r:id="rId15"/>
    <p:sldLayoutId id="2147483704" r:id="rId16"/>
    <p:sldLayoutId id="2147483705" r:id="rId17"/>
    <p:sldLayoutId id="214748370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300"/>
              <a:buNone/>
              <a:defRPr sz="1600" b="0" i="0" u="none" strike="noStrike" cap="none"/>
            </a:lvl1pPr>
            <a:lvl2pPr marR="0" lvl="1" algn="l" rtl="0">
              <a:spcBef>
                <a:spcPts val="0"/>
              </a:spcBef>
              <a:spcAft>
                <a:spcPts val="0"/>
              </a:spcAft>
              <a:buSzPts val="1300"/>
              <a:buNone/>
              <a:defRPr sz="1600" b="0" i="0" u="none" strike="noStrike" cap="none"/>
            </a:lvl2pPr>
            <a:lvl3pPr marR="0" lvl="2" algn="l" rtl="0">
              <a:spcBef>
                <a:spcPts val="0"/>
              </a:spcBef>
              <a:spcAft>
                <a:spcPts val="0"/>
              </a:spcAft>
              <a:buSzPts val="1300"/>
              <a:buNone/>
              <a:defRPr sz="1600" b="0" i="0" u="none" strike="noStrike" cap="none"/>
            </a:lvl3pPr>
            <a:lvl4pPr marR="0" lvl="3" algn="l" rtl="0">
              <a:spcBef>
                <a:spcPts val="0"/>
              </a:spcBef>
              <a:spcAft>
                <a:spcPts val="0"/>
              </a:spcAft>
              <a:buSzPts val="1300"/>
              <a:buNone/>
              <a:defRPr sz="1600" b="0" i="0" u="none" strike="noStrike" cap="none"/>
            </a:lvl4pPr>
            <a:lvl5pPr marR="0" lvl="4" algn="l" rtl="0">
              <a:spcBef>
                <a:spcPts val="0"/>
              </a:spcBef>
              <a:spcAft>
                <a:spcPts val="0"/>
              </a:spcAft>
              <a:buSzPts val="1300"/>
              <a:buNone/>
              <a:defRPr sz="1600" b="0" i="0" u="none" strike="noStrike" cap="none"/>
            </a:lvl5pPr>
            <a:lvl6pPr marR="0" lvl="5" algn="l" rtl="0">
              <a:spcBef>
                <a:spcPts val="0"/>
              </a:spcBef>
              <a:spcAft>
                <a:spcPts val="0"/>
              </a:spcAft>
              <a:buSzPts val="1300"/>
              <a:buNone/>
              <a:defRPr sz="1600" b="0" i="0" u="none" strike="noStrike" cap="none"/>
            </a:lvl6pPr>
            <a:lvl7pPr marR="0" lvl="6" algn="l" rtl="0">
              <a:spcBef>
                <a:spcPts val="0"/>
              </a:spcBef>
              <a:spcAft>
                <a:spcPts val="0"/>
              </a:spcAft>
              <a:buSzPts val="1300"/>
              <a:buNone/>
              <a:defRPr sz="1600" b="0" i="0" u="none" strike="noStrike" cap="none"/>
            </a:lvl7pPr>
            <a:lvl8pPr marR="0" lvl="7" algn="l" rtl="0">
              <a:spcBef>
                <a:spcPts val="0"/>
              </a:spcBef>
              <a:spcAft>
                <a:spcPts val="0"/>
              </a:spcAft>
              <a:buSzPts val="1300"/>
              <a:buNone/>
              <a:defRPr sz="1600" b="0" i="0" u="none" strike="noStrike" cap="none"/>
            </a:lvl8pPr>
            <a:lvl9pPr marR="0" lvl="8" algn="l" rtl="0">
              <a:spcBef>
                <a:spcPts val="0"/>
              </a:spcBef>
              <a:spcAft>
                <a:spcPts val="0"/>
              </a:spcAft>
              <a:buSzPts val="1300"/>
              <a:buNone/>
              <a:defRPr sz="1600" b="0" i="0" u="none" strike="noStrike" cap="none"/>
            </a:lvl9pPr>
          </a:lstStyle>
          <a:p>
            <a:endParaRPr/>
          </a:p>
        </p:txBody>
      </p:sp>
      <p:sp>
        <p:nvSpPr>
          <p:cNvPr id="55" name="Google Shape;55;p14"/>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300"/>
              <a:buNone/>
              <a:defRPr sz="1600" b="0" i="0" u="none" strike="noStrike" cap="none"/>
            </a:lvl1pPr>
            <a:lvl2pPr marL="914400" marR="0" lvl="1" indent="-228600" algn="l" rtl="0">
              <a:spcBef>
                <a:spcPts val="0"/>
              </a:spcBef>
              <a:spcAft>
                <a:spcPts val="0"/>
              </a:spcAft>
              <a:buSzPts val="1300"/>
              <a:buNone/>
              <a:defRPr sz="1600" b="0" i="0" u="none" strike="noStrike" cap="none"/>
            </a:lvl2pPr>
            <a:lvl3pPr marL="1371600" marR="0" lvl="2" indent="-228600" algn="l" rtl="0">
              <a:spcBef>
                <a:spcPts val="0"/>
              </a:spcBef>
              <a:spcAft>
                <a:spcPts val="0"/>
              </a:spcAft>
              <a:buSzPts val="1300"/>
              <a:buNone/>
              <a:defRPr sz="1600" b="0" i="0" u="none" strike="noStrike" cap="none"/>
            </a:lvl3pPr>
            <a:lvl4pPr marL="1828800" marR="0" lvl="3" indent="-228600" algn="l" rtl="0">
              <a:spcBef>
                <a:spcPts val="0"/>
              </a:spcBef>
              <a:spcAft>
                <a:spcPts val="0"/>
              </a:spcAft>
              <a:buSzPts val="1300"/>
              <a:buNone/>
              <a:defRPr sz="1600" b="0" i="0" u="none" strike="noStrike" cap="none"/>
            </a:lvl4pPr>
            <a:lvl5pPr marL="2286000" marR="0" lvl="4" indent="-228600" algn="l" rtl="0">
              <a:spcBef>
                <a:spcPts val="0"/>
              </a:spcBef>
              <a:spcAft>
                <a:spcPts val="0"/>
              </a:spcAft>
              <a:buSzPts val="1300"/>
              <a:buNone/>
              <a:defRPr sz="1600" b="0" i="0" u="none" strike="noStrike" cap="none"/>
            </a:lvl5pPr>
            <a:lvl6pPr marL="2743200" marR="0" lvl="5" indent="-228600" algn="l" rtl="0">
              <a:spcBef>
                <a:spcPts val="0"/>
              </a:spcBef>
              <a:spcAft>
                <a:spcPts val="0"/>
              </a:spcAft>
              <a:buSzPts val="1300"/>
              <a:buNone/>
              <a:defRPr sz="1600" b="0" i="0" u="none" strike="noStrike" cap="none"/>
            </a:lvl6pPr>
            <a:lvl7pPr marL="3200400" marR="0" lvl="6" indent="-228600" algn="l" rtl="0">
              <a:spcBef>
                <a:spcPts val="0"/>
              </a:spcBef>
              <a:spcAft>
                <a:spcPts val="0"/>
              </a:spcAft>
              <a:buSzPts val="1300"/>
              <a:buNone/>
              <a:defRPr sz="1600" b="0" i="0" u="none" strike="noStrike" cap="none"/>
            </a:lvl7pPr>
            <a:lvl8pPr marL="3657600" marR="0" lvl="7" indent="-228600" algn="l" rtl="0">
              <a:spcBef>
                <a:spcPts val="0"/>
              </a:spcBef>
              <a:spcAft>
                <a:spcPts val="0"/>
              </a:spcAft>
              <a:buSzPts val="1300"/>
              <a:buNone/>
              <a:defRPr sz="1600" b="0" i="0" u="none" strike="noStrike" cap="none"/>
            </a:lvl8pPr>
            <a:lvl9pPr marL="4114800" marR="0" lvl="8" indent="-228600" algn="l" rtl="0">
              <a:spcBef>
                <a:spcPts val="0"/>
              </a:spcBef>
              <a:spcAft>
                <a:spcPts val="0"/>
              </a:spcAft>
              <a:buSzPts val="1300"/>
              <a:buNone/>
              <a:defRPr sz="1600" b="0" i="0" u="none" strike="noStrike" cap="none"/>
            </a:lvl9pPr>
          </a:lstStyle>
          <a:p>
            <a:endParaRPr/>
          </a:p>
        </p:txBody>
      </p:sp>
      <p:sp>
        <p:nvSpPr>
          <p:cNvPr id="56" name="Google Shape;56;p14"/>
          <p:cNvSpPr txBox="1">
            <a:spLocks noGrp="1"/>
          </p:cNvSpPr>
          <p:nvPr>
            <p:ph type="dt" idx="10"/>
          </p:nvPr>
        </p:nvSpPr>
        <p:spPr>
          <a:xfrm>
            <a:off x="457172" y="4685192"/>
            <a:ext cx="2130300" cy="3543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300"/>
              <a:buNone/>
              <a:defRPr sz="1600" b="0" i="0" u="none" strike="noStrike" cap="none"/>
            </a:lvl1pPr>
            <a:lvl2pPr marR="0" lvl="1" algn="l" rtl="0">
              <a:spcBef>
                <a:spcPts val="0"/>
              </a:spcBef>
              <a:spcAft>
                <a:spcPts val="0"/>
              </a:spcAft>
              <a:buSzPts val="1300"/>
              <a:buNone/>
              <a:defRPr sz="1600" b="0" i="0" u="none" strike="noStrike" cap="none"/>
            </a:lvl2pPr>
            <a:lvl3pPr marR="0" lvl="2" algn="l" rtl="0">
              <a:spcBef>
                <a:spcPts val="0"/>
              </a:spcBef>
              <a:spcAft>
                <a:spcPts val="0"/>
              </a:spcAft>
              <a:buSzPts val="1300"/>
              <a:buNone/>
              <a:defRPr sz="1600" b="0" i="0" u="none" strike="noStrike" cap="none"/>
            </a:lvl3pPr>
            <a:lvl4pPr marR="0" lvl="3" algn="l" rtl="0">
              <a:spcBef>
                <a:spcPts val="0"/>
              </a:spcBef>
              <a:spcAft>
                <a:spcPts val="0"/>
              </a:spcAft>
              <a:buSzPts val="1300"/>
              <a:buNone/>
              <a:defRPr sz="1600" b="0" i="0" u="none" strike="noStrike" cap="none"/>
            </a:lvl4pPr>
            <a:lvl5pPr marR="0" lvl="4" algn="l" rtl="0">
              <a:spcBef>
                <a:spcPts val="0"/>
              </a:spcBef>
              <a:spcAft>
                <a:spcPts val="0"/>
              </a:spcAft>
              <a:buSzPts val="1300"/>
              <a:buNone/>
              <a:defRPr sz="1600" b="0" i="0" u="none" strike="noStrike" cap="none"/>
            </a:lvl5pPr>
            <a:lvl6pPr marR="0" lvl="5" algn="l" rtl="0">
              <a:spcBef>
                <a:spcPts val="0"/>
              </a:spcBef>
              <a:spcAft>
                <a:spcPts val="0"/>
              </a:spcAft>
              <a:buSzPts val="1300"/>
              <a:buNone/>
              <a:defRPr sz="1600" b="0" i="0" u="none" strike="noStrike" cap="none"/>
            </a:lvl6pPr>
            <a:lvl7pPr marR="0" lvl="6" algn="l" rtl="0">
              <a:spcBef>
                <a:spcPts val="0"/>
              </a:spcBef>
              <a:spcAft>
                <a:spcPts val="0"/>
              </a:spcAft>
              <a:buSzPts val="1300"/>
              <a:buNone/>
              <a:defRPr sz="1600" b="0" i="0" u="none" strike="noStrike" cap="none"/>
            </a:lvl7pPr>
            <a:lvl8pPr marR="0" lvl="7" algn="l" rtl="0">
              <a:spcBef>
                <a:spcPts val="0"/>
              </a:spcBef>
              <a:spcAft>
                <a:spcPts val="0"/>
              </a:spcAft>
              <a:buSzPts val="1300"/>
              <a:buNone/>
              <a:defRPr sz="1600" b="0" i="0" u="none" strike="noStrike" cap="none"/>
            </a:lvl8pPr>
            <a:lvl9pPr marR="0" lvl="8" algn="l" rtl="0">
              <a:spcBef>
                <a:spcPts val="0"/>
              </a:spcBef>
              <a:spcAft>
                <a:spcPts val="0"/>
              </a:spcAft>
              <a:buSzPts val="1300"/>
              <a:buNone/>
              <a:defRPr sz="1600" b="0" i="0" u="none" strike="noStrike" cap="none"/>
            </a:lvl9pPr>
          </a:lstStyle>
          <a:p>
            <a:endParaRPr/>
          </a:p>
        </p:txBody>
      </p:sp>
      <p:sp>
        <p:nvSpPr>
          <p:cNvPr id="57" name="Google Shape;57;p14"/>
          <p:cNvSpPr txBox="1">
            <a:spLocks noGrp="1"/>
          </p:cNvSpPr>
          <p:nvPr>
            <p:ph type="ftr" idx="11"/>
          </p:nvPr>
        </p:nvSpPr>
        <p:spPr>
          <a:xfrm>
            <a:off x="3127054" y="4685192"/>
            <a:ext cx="2898000" cy="3543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300"/>
              <a:buNone/>
              <a:defRPr sz="1600" b="0" i="0" u="none" strike="noStrike" cap="none"/>
            </a:lvl1pPr>
            <a:lvl2pPr marR="0" lvl="1" algn="l" rtl="0">
              <a:spcBef>
                <a:spcPts val="0"/>
              </a:spcBef>
              <a:spcAft>
                <a:spcPts val="0"/>
              </a:spcAft>
              <a:buSzPts val="1300"/>
              <a:buNone/>
              <a:defRPr sz="1600" b="0" i="0" u="none" strike="noStrike" cap="none"/>
            </a:lvl2pPr>
            <a:lvl3pPr marR="0" lvl="2" algn="l" rtl="0">
              <a:spcBef>
                <a:spcPts val="0"/>
              </a:spcBef>
              <a:spcAft>
                <a:spcPts val="0"/>
              </a:spcAft>
              <a:buSzPts val="1300"/>
              <a:buNone/>
              <a:defRPr sz="1600" b="0" i="0" u="none" strike="noStrike" cap="none"/>
            </a:lvl3pPr>
            <a:lvl4pPr marR="0" lvl="3" algn="l" rtl="0">
              <a:spcBef>
                <a:spcPts val="0"/>
              </a:spcBef>
              <a:spcAft>
                <a:spcPts val="0"/>
              </a:spcAft>
              <a:buSzPts val="1300"/>
              <a:buNone/>
              <a:defRPr sz="1600" b="0" i="0" u="none" strike="noStrike" cap="none"/>
            </a:lvl4pPr>
            <a:lvl5pPr marR="0" lvl="4" algn="l" rtl="0">
              <a:spcBef>
                <a:spcPts val="0"/>
              </a:spcBef>
              <a:spcAft>
                <a:spcPts val="0"/>
              </a:spcAft>
              <a:buSzPts val="1300"/>
              <a:buNone/>
              <a:defRPr sz="1600" b="0" i="0" u="none" strike="noStrike" cap="none"/>
            </a:lvl5pPr>
            <a:lvl6pPr marR="0" lvl="5" algn="l" rtl="0">
              <a:spcBef>
                <a:spcPts val="0"/>
              </a:spcBef>
              <a:spcAft>
                <a:spcPts val="0"/>
              </a:spcAft>
              <a:buSzPts val="1300"/>
              <a:buNone/>
              <a:defRPr sz="1600" b="0" i="0" u="none" strike="noStrike" cap="none"/>
            </a:lvl6pPr>
            <a:lvl7pPr marR="0" lvl="6" algn="l" rtl="0">
              <a:spcBef>
                <a:spcPts val="0"/>
              </a:spcBef>
              <a:spcAft>
                <a:spcPts val="0"/>
              </a:spcAft>
              <a:buSzPts val="1300"/>
              <a:buNone/>
              <a:defRPr sz="1600" b="0" i="0" u="none" strike="noStrike" cap="none"/>
            </a:lvl7pPr>
            <a:lvl8pPr marR="0" lvl="7" algn="l" rtl="0">
              <a:spcBef>
                <a:spcPts val="0"/>
              </a:spcBef>
              <a:spcAft>
                <a:spcPts val="0"/>
              </a:spcAft>
              <a:buSzPts val="1300"/>
              <a:buNone/>
              <a:defRPr sz="1600" b="0" i="0" u="none" strike="noStrike" cap="none"/>
            </a:lvl8pPr>
            <a:lvl9pPr marR="0" lvl="8" algn="l" rtl="0">
              <a:spcBef>
                <a:spcPts val="0"/>
              </a:spcBef>
              <a:spcAft>
                <a:spcPts val="0"/>
              </a:spcAft>
              <a:buSzPts val="1300"/>
              <a:buNone/>
              <a:defRPr sz="1600" b="0" i="0" u="none" strike="noStrike" cap="none"/>
            </a:lvl9pPr>
          </a:lstStyle>
          <a:p>
            <a:endParaRPr/>
          </a:p>
        </p:txBody>
      </p:sp>
      <p:sp>
        <p:nvSpPr>
          <p:cNvPr id="58" name="Google Shape;58;p14"/>
          <p:cNvSpPr txBox="1">
            <a:spLocks noGrp="1"/>
          </p:cNvSpPr>
          <p:nvPr>
            <p:ph type="sldNum" idx="12"/>
          </p:nvPr>
        </p:nvSpPr>
        <p:spPr>
          <a:xfrm>
            <a:off x="6555842" y="4685192"/>
            <a:ext cx="2130300" cy="35430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300" b="0" i="0" u="none" strike="noStrike" cap="none">
                <a:latin typeface="Times New Roman"/>
                <a:ea typeface="Times New Roman"/>
                <a:cs typeface="Times New Roman"/>
                <a:sym typeface="Times New Roman"/>
              </a:defRPr>
            </a:lvl1pPr>
            <a:lvl2pPr marL="0" marR="0" lvl="1" indent="0" algn="r" rtl="0">
              <a:spcBef>
                <a:spcPts val="0"/>
              </a:spcBef>
              <a:buNone/>
              <a:defRPr sz="1300" b="0" i="0" u="none" strike="noStrike" cap="none">
                <a:latin typeface="Times New Roman"/>
                <a:ea typeface="Times New Roman"/>
                <a:cs typeface="Times New Roman"/>
                <a:sym typeface="Times New Roman"/>
              </a:defRPr>
            </a:lvl2pPr>
            <a:lvl3pPr marL="0" marR="0" lvl="2" indent="0" algn="r" rtl="0">
              <a:spcBef>
                <a:spcPts val="0"/>
              </a:spcBef>
              <a:buNone/>
              <a:defRPr sz="1300" b="0" i="0" u="none" strike="noStrike" cap="none">
                <a:latin typeface="Times New Roman"/>
                <a:ea typeface="Times New Roman"/>
                <a:cs typeface="Times New Roman"/>
                <a:sym typeface="Times New Roman"/>
              </a:defRPr>
            </a:lvl3pPr>
            <a:lvl4pPr marL="0" marR="0" lvl="3" indent="0" algn="r" rtl="0">
              <a:spcBef>
                <a:spcPts val="0"/>
              </a:spcBef>
              <a:buNone/>
              <a:defRPr sz="1300" b="0" i="0" u="none" strike="noStrike" cap="none">
                <a:latin typeface="Times New Roman"/>
                <a:ea typeface="Times New Roman"/>
                <a:cs typeface="Times New Roman"/>
                <a:sym typeface="Times New Roman"/>
              </a:defRPr>
            </a:lvl4pPr>
            <a:lvl5pPr marL="0" marR="0" lvl="4" indent="0" algn="r" rtl="0">
              <a:spcBef>
                <a:spcPts val="0"/>
              </a:spcBef>
              <a:buNone/>
              <a:defRPr sz="1300" b="0" i="0" u="none" strike="noStrike" cap="none">
                <a:latin typeface="Times New Roman"/>
                <a:ea typeface="Times New Roman"/>
                <a:cs typeface="Times New Roman"/>
                <a:sym typeface="Times New Roman"/>
              </a:defRPr>
            </a:lvl5pPr>
            <a:lvl6pPr marL="0" marR="0" lvl="5" indent="0" algn="r" rtl="0">
              <a:spcBef>
                <a:spcPts val="0"/>
              </a:spcBef>
              <a:buNone/>
              <a:defRPr sz="1300" b="0" i="0" u="none" strike="noStrike" cap="none">
                <a:latin typeface="Times New Roman"/>
                <a:ea typeface="Times New Roman"/>
                <a:cs typeface="Times New Roman"/>
                <a:sym typeface="Times New Roman"/>
              </a:defRPr>
            </a:lvl6pPr>
            <a:lvl7pPr marL="0" marR="0" lvl="6" indent="0" algn="r" rtl="0">
              <a:spcBef>
                <a:spcPts val="0"/>
              </a:spcBef>
              <a:buNone/>
              <a:defRPr sz="1300" b="0" i="0" u="none" strike="noStrike" cap="none">
                <a:latin typeface="Times New Roman"/>
                <a:ea typeface="Times New Roman"/>
                <a:cs typeface="Times New Roman"/>
                <a:sym typeface="Times New Roman"/>
              </a:defRPr>
            </a:lvl7pPr>
            <a:lvl8pPr marL="0" marR="0" lvl="7" indent="0" algn="r" rtl="0">
              <a:spcBef>
                <a:spcPts val="0"/>
              </a:spcBef>
              <a:buNone/>
              <a:defRPr sz="1300" b="0" i="0" u="none" strike="noStrike" cap="none">
                <a:latin typeface="Times New Roman"/>
                <a:ea typeface="Times New Roman"/>
                <a:cs typeface="Times New Roman"/>
                <a:sym typeface="Times New Roman"/>
              </a:defRPr>
            </a:lvl8pPr>
            <a:lvl9pPr marL="0" marR="0" lvl="8" indent="0" algn="r" rtl="0">
              <a:spcBef>
                <a:spcPts val="0"/>
              </a:spcBef>
              <a:buNone/>
              <a:defRPr sz="1300" b="0" i="0" u="none" strike="noStrike" cap="none">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3"/>
        <p:cNvGrpSpPr/>
        <p:nvPr/>
      </p:nvGrpSpPr>
      <p:grpSpPr>
        <a:xfrm>
          <a:off x="0" y="0"/>
          <a:ext cx="0" cy="0"/>
          <a:chOff x="0" y="0"/>
          <a:chExt cx="0" cy="0"/>
        </a:xfrm>
      </p:grpSpPr>
      <p:sp>
        <p:nvSpPr>
          <p:cNvPr id="114" name="Google Shape;114;p28"/>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8761D"/>
              </a:buClr>
              <a:buSzPts val="2800"/>
              <a:buFont typeface="Arial"/>
              <a:buNone/>
              <a:defRPr sz="2800" b="1" i="0" u="none" strike="noStrike" cap="none">
                <a:solidFill>
                  <a:srgbClr val="38761D"/>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5" name="Google Shape;115;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16" name="Google Shape;11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17" name="Google Shape;117;p28"/>
          <p:cNvSpPr txBox="1"/>
          <p:nvPr/>
        </p:nvSpPr>
        <p:spPr>
          <a:xfrm>
            <a:off x="-46325" y="-95350"/>
            <a:ext cx="6114600" cy="27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0" i="1" u="none" strike="noStrike" cap="none">
                <a:solidFill>
                  <a:srgbClr val="38761D"/>
                </a:solidFill>
                <a:latin typeface="Arial"/>
                <a:ea typeface="Arial"/>
                <a:cs typeface="Arial"/>
                <a:sym typeface="Arial"/>
              </a:rPr>
              <a:t>Afstandsles (Lesweek 30/30-3/04)  1TIN security essentials 2019-2020 </a:t>
            </a:r>
            <a:endParaRPr sz="1000" b="0" i="1" u="none" strike="noStrike" cap="none">
              <a:solidFill>
                <a:srgbClr val="38761D"/>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71"/>
        <p:cNvGrpSpPr/>
        <p:nvPr/>
      </p:nvGrpSpPr>
      <p:grpSpPr>
        <a:xfrm>
          <a:off x="0" y="0"/>
          <a:ext cx="0" cy="0"/>
          <a:chOff x="0" y="0"/>
          <a:chExt cx="0" cy="0"/>
        </a:xfrm>
      </p:grpSpPr>
      <p:sp>
        <p:nvSpPr>
          <p:cNvPr id="172" name="Google Shape;172;p40"/>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73" name="Google Shape;173;p40"/>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74" name="Google Shape;174;p40"/>
          <p:cNvSpPr txBox="1">
            <a:spLocks noGrp="1"/>
          </p:cNvSpPr>
          <p:nvPr>
            <p:ph type="dt" idx="10"/>
          </p:nvPr>
        </p:nvSpPr>
        <p:spPr>
          <a:xfrm>
            <a:off x="457172" y="4685192"/>
            <a:ext cx="2130300" cy="3543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75" name="Google Shape;175;p40"/>
          <p:cNvSpPr txBox="1">
            <a:spLocks noGrp="1"/>
          </p:cNvSpPr>
          <p:nvPr>
            <p:ph type="ftr" idx="11"/>
          </p:nvPr>
        </p:nvSpPr>
        <p:spPr>
          <a:xfrm>
            <a:off x="3127054" y="4685192"/>
            <a:ext cx="2898000" cy="3543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76" name="Google Shape;176;p40"/>
          <p:cNvSpPr txBox="1">
            <a:spLocks noGrp="1"/>
          </p:cNvSpPr>
          <p:nvPr>
            <p:ph type="sldNum" idx="12"/>
          </p:nvPr>
        </p:nvSpPr>
        <p:spPr>
          <a:xfrm>
            <a:off x="6555842" y="4685192"/>
            <a:ext cx="2130300" cy="3543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10.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6.xml"/><Relationship Id="rId1" Type="http://schemas.openxmlformats.org/officeDocument/2006/relationships/tags" Target="../tags/tag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1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ags" Target="../tags/tag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image" Target="../media/image17.sv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1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9.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ags" Target="../tags/tag20.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2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tags" Target="../tags/tag25.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tags" Target="../tags/tag2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27.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4.xml"/><Relationship Id="rId1" Type="http://schemas.openxmlformats.org/officeDocument/2006/relationships/tags" Target="../tags/tag28.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hyperlink" Target="https://docs.aws.amazon.com/ecs/" TargetMode="External"/><Relationship Id="rId2" Type="http://schemas.openxmlformats.org/officeDocument/2006/relationships/notesSlide" Target="../notesSlides/notesSlide25.xml"/><Relationship Id="rId1" Type="http://schemas.openxmlformats.org/officeDocument/2006/relationships/slideLayout" Target="../slideLayouts/slideLayout45.xml"/><Relationship Id="rId6" Type="http://schemas.openxmlformats.org/officeDocument/2006/relationships/image" Target="../media/image25.png"/><Relationship Id="rId5" Type="http://schemas.openxmlformats.org/officeDocument/2006/relationships/image" Target="../media/image7.png"/><Relationship Id="rId4" Type="http://schemas.openxmlformats.org/officeDocument/2006/relationships/hyperlink" Target="https://docs.aws.amazon.com/ec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54"/>
          <p:cNvSpPr txBox="1">
            <a:spLocks noGrp="1"/>
          </p:cNvSpPr>
          <p:nvPr>
            <p:ph type="ctrTitle"/>
          </p:nvPr>
        </p:nvSpPr>
        <p:spPr>
          <a:xfrm>
            <a:off x="452900" y="690325"/>
            <a:ext cx="4119900" cy="1013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GB"/>
              <a:t>Cloud Services 2</a:t>
            </a:r>
            <a:endParaRPr/>
          </a:p>
          <a:p>
            <a:pPr marL="0" lvl="0" indent="0" algn="ctr" rtl="0">
              <a:lnSpc>
                <a:spcPct val="100000"/>
              </a:lnSpc>
              <a:spcBef>
                <a:spcPts val="0"/>
              </a:spcBef>
              <a:spcAft>
                <a:spcPts val="0"/>
              </a:spcAft>
              <a:buSzPts val="3000"/>
              <a:buNone/>
            </a:pPr>
            <a:endParaRPr/>
          </a:p>
        </p:txBody>
      </p:sp>
      <p:sp>
        <p:nvSpPr>
          <p:cNvPr id="236" name="Google Shape;236;p54"/>
          <p:cNvSpPr txBox="1">
            <a:spLocks noGrp="1"/>
          </p:cNvSpPr>
          <p:nvPr>
            <p:ph type="subTitle" idx="1"/>
          </p:nvPr>
        </p:nvSpPr>
        <p:spPr>
          <a:xfrm>
            <a:off x="1120800" y="2070900"/>
            <a:ext cx="3662100" cy="792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GB" b="1"/>
              <a:t>Amazon Web Services</a:t>
            </a:r>
            <a:endParaRPr b="1"/>
          </a:p>
        </p:txBody>
      </p:sp>
      <p:sp>
        <p:nvSpPr>
          <p:cNvPr id="237" name="Google Shape;237;p54"/>
          <p:cNvSpPr/>
          <p:nvPr/>
        </p:nvSpPr>
        <p:spPr>
          <a:xfrm>
            <a:off x="0" y="0"/>
            <a:ext cx="4809300" cy="4584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55"/>
          <p:cNvPicPr preferRelativeResize="0"/>
          <p:nvPr/>
        </p:nvPicPr>
        <p:blipFill>
          <a:blip r:embed="rId3">
            <a:alphaModFix/>
          </a:blip>
          <a:stretch>
            <a:fillRect/>
          </a:stretch>
        </p:blipFill>
        <p:spPr>
          <a:xfrm>
            <a:off x="1903050" y="982604"/>
            <a:ext cx="5337906" cy="2802424"/>
          </a:xfrm>
          <a:prstGeom prst="rect">
            <a:avLst/>
          </a:prstGeom>
          <a:noFill/>
          <a:ln>
            <a:noFill/>
          </a:ln>
        </p:spPr>
      </p:pic>
      <p:sp>
        <p:nvSpPr>
          <p:cNvPr id="243" name="Google Shape;243;p55"/>
          <p:cNvSpPr txBox="1"/>
          <p:nvPr/>
        </p:nvSpPr>
        <p:spPr>
          <a:xfrm>
            <a:off x="457625" y="176971"/>
            <a:ext cx="8228700" cy="85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endParaRPr sz="4000" b="0" i="0" u="none" strike="noStrike" cap="none">
              <a:latin typeface="Arial"/>
              <a:ea typeface="Arial"/>
              <a:cs typeface="Arial"/>
              <a:sym typeface="Arial"/>
            </a:endParaRPr>
          </a:p>
        </p:txBody>
      </p:sp>
      <p:sp>
        <p:nvSpPr>
          <p:cNvPr id="244" name="Google Shape;244;p55"/>
          <p:cNvSpPr txBox="1"/>
          <p:nvPr/>
        </p:nvSpPr>
        <p:spPr>
          <a:xfrm>
            <a:off x="627092" y="3785027"/>
            <a:ext cx="7888800" cy="1311600"/>
          </a:xfrm>
          <a:prstGeom prst="rect">
            <a:avLst/>
          </a:prstGeom>
          <a:noFill/>
          <a:ln>
            <a:noFill/>
          </a:ln>
        </p:spPr>
        <p:txBody>
          <a:bodyPr spcFirstLastPara="1" wrap="square" lIns="82925" tIns="82925" rIns="82925" bIns="82925" anchor="t" anchorCtr="0">
            <a:noAutofit/>
          </a:bodyPr>
          <a:lstStyle/>
          <a:p>
            <a:pPr marL="0" lvl="0" indent="0" algn="ctr" rtl="0">
              <a:lnSpc>
                <a:spcPct val="115000"/>
              </a:lnSpc>
              <a:spcBef>
                <a:spcPts val="2200"/>
              </a:spcBef>
              <a:spcAft>
                <a:spcPts val="500"/>
              </a:spcAft>
              <a:buNone/>
            </a:pPr>
            <a:r>
              <a:rPr lang="en-GB" sz="2100" b="1">
                <a:solidFill>
                  <a:schemeClr val="dk1"/>
                </a:solidFill>
              </a:rPr>
              <a:t>AWS Container Services</a:t>
            </a:r>
            <a:endParaRPr sz="2100" b="1">
              <a:solidFill>
                <a:schemeClr val="dk1"/>
              </a:solidFill>
            </a:endParaRPr>
          </a:p>
        </p:txBody>
      </p:sp>
      <p:pic>
        <p:nvPicPr>
          <p:cNvPr id="245" name="Google Shape;245;p55"/>
          <p:cNvPicPr preferRelativeResize="0"/>
          <p:nvPr/>
        </p:nvPicPr>
        <p:blipFill>
          <a:blip r:embed="rId4">
            <a:alphaModFix/>
          </a:blip>
          <a:stretch>
            <a:fillRect/>
          </a:stretch>
        </p:blipFill>
        <p:spPr>
          <a:xfrm>
            <a:off x="7322119" y="176969"/>
            <a:ext cx="1729708" cy="7506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3</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latin typeface="Calibri"/>
                <a:ea typeface="Calibri"/>
                <a:cs typeface="Calibri"/>
              </a:rPr>
              <a:t>Comparing monolithic and microservice architectures</a:t>
            </a:r>
          </a:p>
        </p:txBody>
      </p:sp>
      <p:pic>
        <p:nvPicPr>
          <p:cNvPr id="121" name="Background Image Group">
            <a:extLst>
              <a:ext uri="{FF2B5EF4-FFF2-40B4-BE49-F238E27FC236}">
                <a16:creationId xmlns:a16="http://schemas.microsoft.com/office/drawing/2014/main" id="{A3AFBAB2-3C1E-4F29-A33E-727CFC00E65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71409" y="987265"/>
            <a:ext cx="8390348" cy="3918544"/>
          </a:xfrm>
          <a:prstGeom prst="rect">
            <a:avLst/>
          </a:prstGeom>
        </p:spPr>
      </p:pic>
      <p:sp>
        <p:nvSpPr>
          <p:cNvPr id="38" name="TextBox 37">
            <a:extLst>
              <a:ext uri="{FF2B5EF4-FFF2-40B4-BE49-F238E27FC236}">
                <a16:creationId xmlns:a16="http://schemas.microsoft.com/office/drawing/2014/main" id="{0EDE42CF-E795-73B5-7A8F-702423EC9FEC}"/>
              </a:ext>
            </a:extLst>
          </p:cNvPr>
          <p:cNvSpPr txBox="1"/>
          <p:nvPr/>
        </p:nvSpPr>
        <p:spPr>
          <a:xfrm>
            <a:off x="236874" y="1005250"/>
            <a:ext cx="1435730" cy="415498"/>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a:ea typeface="Amazon Ember" panose="020B0603020204020204" pitchFamily="34" charset="0"/>
                <a:cs typeface="Amazon Ember" panose="020B0603020204020204" pitchFamily="34" charset="0"/>
              </a:rPr>
              <a:t>Monolithic</a:t>
            </a:r>
          </a:p>
        </p:txBody>
      </p:sp>
      <p:sp>
        <p:nvSpPr>
          <p:cNvPr id="44" name="TextBox 43">
            <a:extLst>
              <a:ext uri="{FF2B5EF4-FFF2-40B4-BE49-F238E27FC236}">
                <a16:creationId xmlns:a16="http://schemas.microsoft.com/office/drawing/2014/main" id="{7BE23782-2CD3-12C5-C287-6C3A1D623F96}"/>
              </a:ext>
            </a:extLst>
          </p:cNvPr>
          <p:cNvSpPr txBox="1"/>
          <p:nvPr/>
        </p:nvSpPr>
        <p:spPr>
          <a:xfrm>
            <a:off x="1654588" y="2025831"/>
            <a:ext cx="828696" cy="24820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ea typeface="Amazon Ember Light" panose="020B0403020204020204" pitchFamily="34" charset="0"/>
                <a:cs typeface="Amazon Ember Light" panose="020B0403020204020204" pitchFamily="34" charset="0"/>
              </a:rPr>
              <a:t>Browser</a:t>
            </a:r>
          </a:p>
        </p:txBody>
      </p:sp>
      <p:sp>
        <p:nvSpPr>
          <p:cNvPr id="41" name="TextBox 40">
            <a:extLst>
              <a:ext uri="{FF2B5EF4-FFF2-40B4-BE49-F238E27FC236}">
                <a16:creationId xmlns:a16="http://schemas.microsoft.com/office/drawing/2014/main" id="{6778001D-DAD0-AB10-AA3B-2F9DF9CAD788}"/>
              </a:ext>
            </a:extLst>
          </p:cNvPr>
          <p:cNvSpPr txBox="1"/>
          <p:nvPr/>
        </p:nvSpPr>
        <p:spPr>
          <a:xfrm>
            <a:off x="2623109" y="1986014"/>
            <a:ext cx="828696" cy="404085"/>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ea typeface="Amazon Ember Light" panose="020B0403020204020204" pitchFamily="34" charset="0"/>
                <a:cs typeface="Amazon Ember Light" panose="020B0403020204020204" pitchFamily="34" charset="0"/>
              </a:rPr>
              <a:t>Load balancer</a:t>
            </a:r>
          </a:p>
        </p:txBody>
      </p:sp>
      <p:sp>
        <p:nvSpPr>
          <p:cNvPr id="9" name="Rectangle 8">
            <a:extLst>
              <a:ext uri="{FF2B5EF4-FFF2-40B4-BE49-F238E27FC236}">
                <a16:creationId xmlns:a16="http://schemas.microsoft.com/office/drawing/2014/main" id="{106D4EF6-8AD5-B335-7428-062745FE0699}"/>
              </a:ext>
            </a:extLst>
          </p:cNvPr>
          <p:cNvSpPr/>
          <p:nvPr/>
        </p:nvSpPr>
        <p:spPr>
          <a:xfrm>
            <a:off x="3750079" y="1055913"/>
            <a:ext cx="1654628" cy="27432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rPr>
              <a:t>Storefront UI</a:t>
            </a:r>
          </a:p>
        </p:txBody>
      </p:sp>
      <p:sp>
        <p:nvSpPr>
          <p:cNvPr id="10" name="Rectangle 9">
            <a:extLst>
              <a:ext uri="{FF2B5EF4-FFF2-40B4-BE49-F238E27FC236}">
                <a16:creationId xmlns:a16="http://schemas.microsoft.com/office/drawing/2014/main" id="{2BF0D659-09AB-00B3-9BDC-9B6657D74D6A}"/>
              </a:ext>
            </a:extLst>
          </p:cNvPr>
          <p:cNvSpPr/>
          <p:nvPr/>
        </p:nvSpPr>
        <p:spPr>
          <a:xfrm>
            <a:off x="3750079" y="1362194"/>
            <a:ext cx="1654628" cy="2743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rPr>
              <a:t>Account service</a:t>
            </a:r>
          </a:p>
        </p:txBody>
      </p:sp>
      <p:sp>
        <p:nvSpPr>
          <p:cNvPr id="11" name="Rectangle 10">
            <a:extLst>
              <a:ext uri="{FF2B5EF4-FFF2-40B4-BE49-F238E27FC236}">
                <a16:creationId xmlns:a16="http://schemas.microsoft.com/office/drawing/2014/main" id="{60CB52F3-FEC1-F964-1A20-0FC19D207114}"/>
              </a:ext>
            </a:extLst>
          </p:cNvPr>
          <p:cNvSpPr/>
          <p:nvPr/>
        </p:nvSpPr>
        <p:spPr>
          <a:xfrm>
            <a:off x="3750079" y="1668474"/>
            <a:ext cx="1654628" cy="2743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rPr>
              <a:t>Cart service</a:t>
            </a:r>
          </a:p>
        </p:txBody>
      </p:sp>
      <p:sp>
        <p:nvSpPr>
          <p:cNvPr id="12" name="Rectangle 11">
            <a:extLst>
              <a:ext uri="{FF2B5EF4-FFF2-40B4-BE49-F238E27FC236}">
                <a16:creationId xmlns:a16="http://schemas.microsoft.com/office/drawing/2014/main" id="{DD29BD20-E8CA-0864-057C-56E1FDB99DA5}"/>
              </a:ext>
            </a:extLst>
          </p:cNvPr>
          <p:cNvSpPr/>
          <p:nvPr/>
        </p:nvSpPr>
        <p:spPr>
          <a:xfrm>
            <a:off x="3750079" y="1974755"/>
            <a:ext cx="1654628" cy="2743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rPr>
              <a:t>Shipping service</a:t>
            </a:r>
          </a:p>
        </p:txBody>
      </p:sp>
      <p:sp>
        <p:nvSpPr>
          <p:cNvPr id="13" name="Rectangle 12">
            <a:extLst>
              <a:ext uri="{FF2B5EF4-FFF2-40B4-BE49-F238E27FC236}">
                <a16:creationId xmlns:a16="http://schemas.microsoft.com/office/drawing/2014/main" id="{4DC1E35F-6060-25AB-0037-06226A949ACD}"/>
              </a:ext>
            </a:extLst>
          </p:cNvPr>
          <p:cNvSpPr/>
          <p:nvPr/>
        </p:nvSpPr>
        <p:spPr>
          <a:xfrm>
            <a:off x="3750079" y="2281034"/>
            <a:ext cx="1654628" cy="274320"/>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solidFill>
                  <a:schemeClr val="bg1"/>
                </a:solidFill>
              </a:rPr>
              <a:t>Data access service</a:t>
            </a:r>
          </a:p>
        </p:txBody>
      </p:sp>
      <p:sp>
        <p:nvSpPr>
          <p:cNvPr id="40" name="TextBox 39">
            <a:extLst>
              <a:ext uri="{FF2B5EF4-FFF2-40B4-BE49-F238E27FC236}">
                <a16:creationId xmlns:a16="http://schemas.microsoft.com/office/drawing/2014/main" id="{3BE288D8-73FA-40EA-7C7F-59D8CAAE0AF3}"/>
              </a:ext>
            </a:extLst>
          </p:cNvPr>
          <p:cNvSpPr txBox="1"/>
          <p:nvPr/>
        </p:nvSpPr>
        <p:spPr>
          <a:xfrm>
            <a:off x="5974325" y="2117890"/>
            <a:ext cx="884205" cy="24820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13">
                <a:ea typeface="Amazon Ember Light" panose="020B0403020204020204" pitchFamily="34" charset="0"/>
                <a:cs typeface="Amazon Ember Light" panose="020B0403020204020204" pitchFamily="34" charset="0"/>
              </a:rPr>
              <a:t>Database</a:t>
            </a:r>
          </a:p>
        </p:txBody>
      </p:sp>
      <p:sp>
        <p:nvSpPr>
          <p:cNvPr id="39" name="TextBox 38">
            <a:extLst>
              <a:ext uri="{FF2B5EF4-FFF2-40B4-BE49-F238E27FC236}">
                <a16:creationId xmlns:a16="http://schemas.microsoft.com/office/drawing/2014/main" id="{0CB6B162-C0DE-8E4C-7006-FBD8F9528DB5}"/>
              </a:ext>
            </a:extLst>
          </p:cNvPr>
          <p:cNvSpPr txBox="1"/>
          <p:nvPr/>
        </p:nvSpPr>
        <p:spPr>
          <a:xfrm>
            <a:off x="236873" y="3052346"/>
            <a:ext cx="1761540" cy="415498"/>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a:ea typeface="Amazon Ember" panose="020B0603020204020204" pitchFamily="34" charset="0"/>
                <a:cs typeface="Amazon Ember" panose="020B0603020204020204" pitchFamily="34" charset="0"/>
              </a:rPr>
              <a:t>Microservices</a:t>
            </a:r>
          </a:p>
        </p:txBody>
      </p:sp>
      <p:sp>
        <p:nvSpPr>
          <p:cNvPr id="42" name="TextBox 41">
            <a:extLst>
              <a:ext uri="{FF2B5EF4-FFF2-40B4-BE49-F238E27FC236}">
                <a16:creationId xmlns:a16="http://schemas.microsoft.com/office/drawing/2014/main" id="{C107CFDF-C428-FC7E-B9BE-005AD202EE87}"/>
              </a:ext>
            </a:extLst>
          </p:cNvPr>
          <p:cNvSpPr txBox="1"/>
          <p:nvPr/>
        </p:nvSpPr>
        <p:spPr>
          <a:xfrm>
            <a:off x="1654588" y="4225109"/>
            <a:ext cx="828696" cy="24820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ea typeface="Amazon Ember Light" panose="020B0403020204020204" pitchFamily="34" charset="0"/>
                <a:cs typeface="Amazon Ember Light" panose="020B0403020204020204" pitchFamily="34" charset="0"/>
              </a:rPr>
              <a:t>Browser</a:t>
            </a:r>
          </a:p>
        </p:txBody>
      </p:sp>
      <p:sp>
        <p:nvSpPr>
          <p:cNvPr id="43" name="TextBox 42">
            <a:extLst>
              <a:ext uri="{FF2B5EF4-FFF2-40B4-BE49-F238E27FC236}">
                <a16:creationId xmlns:a16="http://schemas.microsoft.com/office/drawing/2014/main" id="{2D1AD7BE-AAE7-6CF2-4542-D679EF3B9A7D}"/>
              </a:ext>
            </a:extLst>
          </p:cNvPr>
          <p:cNvSpPr txBox="1"/>
          <p:nvPr/>
        </p:nvSpPr>
        <p:spPr>
          <a:xfrm>
            <a:off x="2623109" y="4201623"/>
            <a:ext cx="828696" cy="404085"/>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a:ea typeface="Amazon Ember Light" panose="020B0403020204020204" pitchFamily="34" charset="0"/>
                <a:cs typeface="Amazon Ember Light" panose="020B0403020204020204" pitchFamily="34" charset="0"/>
              </a:rPr>
              <a:t>Load balancer</a:t>
            </a:r>
          </a:p>
        </p:txBody>
      </p:sp>
      <p:sp>
        <p:nvSpPr>
          <p:cNvPr id="14" name="Rectangle 13">
            <a:extLst>
              <a:ext uri="{FF2B5EF4-FFF2-40B4-BE49-F238E27FC236}">
                <a16:creationId xmlns:a16="http://schemas.microsoft.com/office/drawing/2014/main" id="{EF909B72-A326-D3A6-FBE5-1A9780E64305}"/>
              </a:ext>
            </a:extLst>
          </p:cNvPr>
          <p:cNvSpPr/>
          <p:nvPr/>
        </p:nvSpPr>
        <p:spPr>
          <a:xfrm>
            <a:off x="3652106" y="3775579"/>
            <a:ext cx="936221" cy="491204"/>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a:solidFill>
                  <a:schemeClr val="bg1"/>
                </a:solidFill>
              </a:rPr>
              <a:t>Storefront UI (Node.js)</a:t>
            </a:r>
          </a:p>
        </p:txBody>
      </p:sp>
      <p:sp>
        <p:nvSpPr>
          <p:cNvPr id="19" name="Rectangle 18">
            <a:extLst>
              <a:ext uri="{FF2B5EF4-FFF2-40B4-BE49-F238E27FC236}">
                <a16:creationId xmlns:a16="http://schemas.microsoft.com/office/drawing/2014/main" id="{750AF695-6950-F2B1-8F44-4FE96931333E}"/>
              </a:ext>
            </a:extLst>
          </p:cNvPr>
          <p:cNvSpPr/>
          <p:nvPr/>
        </p:nvSpPr>
        <p:spPr>
          <a:xfrm>
            <a:off x="5835213" y="3444761"/>
            <a:ext cx="1850633" cy="37436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a:solidFill>
                  <a:schemeClr val="bg1"/>
                </a:solidFill>
              </a:rPr>
              <a:t>Account service (Node.js)</a:t>
            </a:r>
          </a:p>
        </p:txBody>
      </p:sp>
      <p:sp>
        <p:nvSpPr>
          <p:cNvPr id="20" name="Rectangle 19">
            <a:extLst>
              <a:ext uri="{FF2B5EF4-FFF2-40B4-BE49-F238E27FC236}">
                <a16:creationId xmlns:a16="http://schemas.microsoft.com/office/drawing/2014/main" id="{39204867-B230-52AF-5227-D62A3FBAF754}"/>
              </a:ext>
            </a:extLst>
          </p:cNvPr>
          <p:cNvSpPr/>
          <p:nvPr/>
        </p:nvSpPr>
        <p:spPr>
          <a:xfrm>
            <a:off x="5835213" y="3885614"/>
            <a:ext cx="1850632" cy="2743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a:solidFill>
                  <a:schemeClr val="bg1"/>
                </a:solidFill>
              </a:rPr>
              <a:t>Cart service (Python)</a:t>
            </a:r>
          </a:p>
        </p:txBody>
      </p:sp>
      <p:sp>
        <p:nvSpPr>
          <p:cNvPr id="21" name="Rectangle 20">
            <a:extLst>
              <a:ext uri="{FF2B5EF4-FFF2-40B4-BE49-F238E27FC236}">
                <a16:creationId xmlns:a16="http://schemas.microsoft.com/office/drawing/2014/main" id="{6EDC5D8F-1BB4-C76F-4C02-7AC7F8281325}"/>
              </a:ext>
            </a:extLst>
          </p:cNvPr>
          <p:cNvSpPr/>
          <p:nvPr/>
        </p:nvSpPr>
        <p:spPr>
          <a:xfrm>
            <a:off x="5835213" y="4226419"/>
            <a:ext cx="1850632" cy="2743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a:solidFill>
                  <a:schemeClr val="bg1"/>
                </a:solidFill>
              </a:rPr>
              <a:t>Shipping service (Java)</a:t>
            </a:r>
          </a:p>
        </p:txBody>
      </p:sp>
    </p:spTree>
    <p:custDataLst>
      <p:tags r:id="rId1"/>
    </p:custDataLst>
    <p:extLst>
      <p:ext uri="{BB962C8B-B14F-4D97-AF65-F5344CB8AC3E}">
        <p14:creationId xmlns:p14="http://schemas.microsoft.com/office/powerpoint/2010/main" val="3173778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75FFDC-187B-4BED-A05B-D57FB73AEEA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B6A95138-A96E-2F42-A959-2EFD44FE4AB7}" type="slidenum">
              <a:rPr lang="en-US" smtClean="0"/>
              <a:t>4</a:t>
            </a:fld>
            <a:endParaRPr lang="en-US"/>
          </a:p>
        </p:txBody>
      </p:sp>
      <p:sp>
        <p:nvSpPr>
          <p:cNvPr id="2" name="Title 1">
            <a:extLst>
              <a:ext uri="{FF2B5EF4-FFF2-40B4-BE49-F238E27FC236}">
                <a16:creationId xmlns:a16="http://schemas.microsoft.com/office/drawing/2014/main" id="{7D069DB6-62E2-7544-8E21-BB1C3C5973AD}"/>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latin typeface="Calibri"/>
                <a:ea typeface="Calibri"/>
                <a:cs typeface="Calibri"/>
              </a:rPr>
              <a:t>Characteristics of microservices</a:t>
            </a:r>
          </a:p>
        </p:txBody>
      </p:sp>
      <p:sp>
        <p:nvSpPr>
          <p:cNvPr id="5" name="Tijdelijke aanduiding voor inhoud 4">
            <a:extLst>
              <a:ext uri="{FF2B5EF4-FFF2-40B4-BE49-F238E27FC236}">
                <a16:creationId xmlns:a16="http://schemas.microsoft.com/office/drawing/2014/main" id="{966A14EC-F0EB-D3C2-5AF9-E94FFC99E212}"/>
              </a:ext>
            </a:extLst>
          </p:cNvPr>
          <p:cNvSpPr>
            <a:spLocks noGrp="1"/>
          </p:cNvSpPr>
          <p:nvPr>
            <p:ph idx="2"/>
          </p:nvPr>
        </p:nvSpPr>
        <p:spPr/>
        <p:txBody>
          <a:bodyPr/>
          <a:lstStyle/>
          <a:p>
            <a:endParaRPr lang="nl-NL"/>
          </a:p>
        </p:txBody>
      </p:sp>
      <p:grpSp>
        <p:nvGrpSpPr>
          <p:cNvPr id="22" name="Group 21">
            <a:extLst>
              <a:ext uri="{FF2B5EF4-FFF2-40B4-BE49-F238E27FC236}">
                <a16:creationId xmlns:a16="http://schemas.microsoft.com/office/drawing/2014/main" id="{1F190AD7-EA68-4208-B571-DBA2E76DE920}"/>
              </a:ext>
              <a:ext uri="{C183D7F6-B498-43B3-948B-1728B52AA6E4}">
                <adec:decorative xmlns:adec="http://schemas.microsoft.com/office/drawing/2017/decorative" val="1"/>
              </a:ext>
            </a:extLst>
          </p:cNvPr>
          <p:cNvGrpSpPr/>
          <p:nvPr/>
        </p:nvGrpSpPr>
        <p:grpSpPr>
          <a:xfrm>
            <a:off x="3461806" y="1947104"/>
            <a:ext cx="1644891" cy="1572228"/>
            <a:chOff x="3704095" y="2032403"/>
            <a:chExt cx="3378682" cy="3229429"/>
          </a:xfrm>
        </p:grpSpPr>
        <p:sp>
          <p:nvSpPr>
            <p:cNvPr id="9" name="Oval 8">
              <a:extLst>
                <a:ext uri="{FF2B5EF4-FFF2-40B4-BE49-F238E27FC236}">
                  <a16:creationId xmlns:a16="http://schemas.microsoft.com/office/drawing/2014/main" id="{DC78A0D8-A4DA-4A5D-B32E-B07A82B9FF6F}"/>
                </a:ext>
              </a:extLst>
            </p:cNvPr>
            <p:cNvSpPr/>
            <p:nvPr/>
          </p:nvSpPr>
          <p:spPr>
            <a:xfrm>
              <a:off x="3704095" y="2032403"/>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4" name="Oval 13">
              <a:extLst>
                <a:ext uri="{FF2B5EF4-FFF2-40B4-BE49-F238E27FC236}">
                  <a16:creationId xmlns:a16="http://schemas.microsoft.com/office/drawing/2014/main" id="{F468C550-EC27-47C7-AD51-5E65CEC428DD}"/>
                </a:ext>
              </a:extLst>
            </p:cNvPr>
            <p:cNvSpPr/>
            <p:nvPr/>
          </p:nvSpPr>
          <p:spPr>
            <a:xfrm>
              <a:off x="4936236" y="2032403"/>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5" name="Oval 14">
              <a:extLst>
                <a:ext uri="{FF2B5EF4-FFF2-40B4-BE49-F238E27FC236}">
                  <a16:creationId xmlns:a16="http://schemas.microsoft.com/office/drawing/2014/main" id="{64BD0D85-1676-4D18-B46A-514C08DA1A5C}"/>
                </a:ext>
              </a:extLst>
            </p:cNvPr>
            <p:cNvSpPr/>
            <p:nvPr/>
          </p:nvSpPr>
          <p:spPr>
            <a:xfrm>
              <a:off x="6168377" y="2032403"/>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6" name="Oval 15">
              <a:extLst>
                <a:ext uri="{FF2B5EF4-FFF2-40B4-BE49-F238E27FC236}">
                  <a16:creationId xmlns:a16="http://schemas.microsoft.com/office/drawing/2014/main" id="{826A0C4B-1BE7-415D-8874-5FAAA7D3B202}"/>
                </a:ext>
              </a:extLst>
            </p:cNvPr>
            <p:cNvSpPr/>
            <p:nvPr/>
          </p:nvSpPr>
          <p:spPr>
            <a:xfrm>
              <a:off x="3704095" y="3189917"/>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7" name="Oval 16">
              <a:extLst>
                <a:ext uri="{FF2B5EF4-FFF2-40B4-BE49-F238E27FC236}">
                  <a16:creationId xmlns:a16="http://schemas.microsoft.com/office/drawing/2014/main" id="{FE781DAC-8B6C-4333-A537-49A37148F738}"/>
                </a:ext>
              </a:extLst>
            </p:cNvPr>
            <p:cNvSpPr/>
            <p:nvPr/>
          </p:nvSpPr>
          <p:spPr>
            <a:xfrm>
              <a:off x="4936236" y="3189917"/>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8" name="Oval 17">
              <a:extLst>
                <a:ext uri="{FF2B5EF4-FFF2-40B4-BE49-F238E27FC236}">
                  <a16:creationId xmlns:a16="http://schemas.microsoft.com/office/drawing/2014/main" id="{26360FEB-3E92-4234-83E2-004F6913103F}"/>
                </a:ext>
              </a:extLst>
            </p:cNvPr>
            <p:cNvSpPr/>
            <p:nvPr/>
          </p:nvSpPr>
          <p:spPr>
            <a:xfrm>
              <a:off x="6168377" y="3189917"/>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9" name="Oval 18">
              <a:extLst>
                <a:ext uri="{FF2B5EF4-FFF2-40B4-BE49-F238E27FC236}">
                  <a16:creationId xmlns:a16="http://schemas.microsoft.com/office/drawing/2014/main" id="{40550329-BDDB-4DB7-89E1-FBA96C9E6B55}"/>
                </a:ext>
              </a:extLst>
            </p:cNvPr>
            <p:cNvSpPr/>
            <p:nvPr/>
          </p:nvSpPr>
          <p:spPr>
            <a:xfrm>
              <a:off x="3704095" y="4347432"/>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20" name="Oval 19">
              <a:extLst>
                <a:ext uri="{FF2B5EF4-FFF2-40B4-BE49-F238E27FC236}">
                  <a16:creationId xmlns:a16="http://schemas.microsoft.com/office/drawing/2014/main" id="{A5FE396B-C491-4D76-8F92-18F603725531}"/>
                </a:ext>
              </a:extLst>
            </p:cNvPr>
            <p:cNvSpPr/>
            <p:nvPr/>
          </p:nvSpPr>
          <p:spPr>
            <a:xfrm>
              <a:off x="4936236" y="4347432"/>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21" name="Oval 20">
              <a:extLst>
                <a:ext uri="{FF2B5EF4-FFF2-40B4-BE49-F238E27FC236}">
                  <a16:creationId xmlns:a16="http://schemas.microsoft.com/office/drawing/2014/main" id="{D5DE22BA-0556-4CB1-A9BF-EE795FC0D2E0}"/>
                </a:ext>
              </a:extLst>
            </p:cNvPr>
            <p:cNvSpPr/>
            <p:nvPr/>
          </p:nvSpPr>
          <p:spPr>
            <a:xfrm>
              <a:off x="6168377" y="4347432"/>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grpSp>
      <p:sp>
        <p:nvSpPr>
          <p:cNvPr id="23" name="TextBox 22">
            <a:extLst>
              <a:ext uri="{FF2B5EF4-FFF2-40B4-BE49-F238E27FC236}">
                <a16:creationId xmlns:a16="http://schemas.microsoft.com/office/drawing/2014/main" id="{10B21952-23D2-472E-B805-33A34444329F}"/>
              </a:ext>
            </a:extLst>
          </p:cNvPr>
          <p:cNvSpPr txBox="1"/>
          <p:nvPr/>
        </p:nvSpPr>
        <p:spPr>
          <a:xfrm>
            <a:off x="1162295" y="1263175"/>
            <a:ext cx="1744709"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en-US" sz="2100">
                <a:latin typeface="Calibri"/>
                <a:ea typeface="Amazon Ember Light" panose="020B0403020204020204" pitchFamily="34" charset="0"/>
                <a:cs typeface="Amazon Ember Light" panose="020B0403020204020204" pitchFamily="34" charset="0"/>
              </a:rPr>
              <a:t>Decentralized</a:t>
            </a:r>
          </a:p>
        </p:txBody>
      </p:sp>
      <p:sp>
        <p:nvSpPr>
          <p:cNvPr id="24" name="TextBox 23">
            <a:extLst>
              <a:ext uri="{FF2B5EF4-FFF2-40B4-BE49-F238E27FC236}">
                <a16:creationId xmlns:a16="http://schemas.microsoft.com/office/drawing/2014/main" id="{E23ACFC5-AD56-429A-B771-4C0116510983}"/>
              </a:ext>
            </a:extLst>
          </p:cNvPr>
          <p:cNvSpPr txBox="1"/>
          <p:nvPr/>
        </p:nvSpPr>
        <p:spPr>
          <a:xfrm>
            <a:off x="516910" y="2537011"/>
            <a:ext cx="1638911"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en-US" sz="2100">
                <a:latin typeface="Calibri"/>
                <a:ea typeface="Amazon Ember Light" panose="020B0403020204020204" pitchFamily="34" charset="0"/>
                <a:cs typeface="Amazon Ember Light" panose="020B0403020204020204" pitchFamily="34" charset="0"/>
              </a:rPr>
              <a:t>Independent</a:t>
            </a:r>
          </a:p>
        </p:txBody>
      </p:sp>
      <p:sp>
        <p:nvSpPr>
          <p:cNvPr id="25" name="TextBox 24">
            <a:extLst>
              <a:ext uri="{FF2B5EF4-FFF2-40B4-BE49-F238E27FC236}">
                <a16:creationId xmlns:a16="http://schemas.microsoft.com/office/drawing/2014/main" id="{302FA433-0B00-4E46-9E82-A90E8C3B28A2}"/>
              </a:ext>
            </a:extLst>
          </p:cNvPr>
          <p:cNvSpPr txBox="1"/>
          <p:nvPr/>
        </p:nvSpPr>
        <p:spPr>
          <a:xfrm>
            <a:off x="1397936" y="3832496"/>
            <a:ext cx="1509068"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a:r>
              <a:rPr lang="en-US" sz="2100">
                <a:latin typeface="Calibri"/>
                <a:ea typeface="Amazon Ember Light" panose="020B0403020204020204" pitchFamily="34" charset="0"/>
                <a:cs typeface="Amazon Ember Light" panose="020B0403020204020204" pitchFamily="34" charset="0"/>
              </a:rPr>
              <a:t>Black boxes</a:t>
            </a:r>
          </a:p>
        </p:txBody>
      </p:sp>
      <p:sp>
        <p:nvSpPr>
          <p:cNvPr id="26" name="TextBox 25">
            <a:extLst>
              <a:ext uri="{FF2B5EF4-FFF2-40B4-BE49-F238E27FC236}">
                <a16:creationId xmlns:a16="http://schemas.microsoft.com/office/drawing/2014/main" id="{AE1324C9-1724-46EE-ADCA-AFE679F6A3B6}"/>
              </a:ext>
            </a:extLst>
          </p:cNvPr>
          <p:cNvSpPr txBox="1"/>
          <p:nvPr/>
        </p:nvSpPr>
        <p:spPr>
          <a:xfrm>
            <a:off x="5606059" y="1297361"/>
            <a:ext cx="1117133"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a:latin typeface="Calibri"/>
                <a:ea typeface="Amazon Ember Light" panose="020B0403020204020204" pitchFamily="34" charset="0"/>
                <a:cs typeface="Amazon Ember Light" panose="020B0403020204020204" pitchFamily="34" charset="0"/>
              </a:rPr>
              <a:t>Polyglot</a:t>
            </a:r>
          </a:p>
        </p:txBody>
      </p:sp>
      <p:sp>
        <p:nvSpPr>
          <p:cNvPr id="27" name="TextBox 26">
            <a:extLst>
              <a:ext uri="{FF2B5EF4-FFF2-40B4-BE49-F238E27FC236}">
                <a16:creationId xmlns:a16="http://schemas.microsoft.com/office/drawing/2014/main" id="{69603D11-D710-4DD7-BBE7-EE75384D6645}"/>
              </a:ext>
            </a:extLst>
          </p:cNvPr>
          <p:cNvSpPr txBox="1"/>
          <p:nvPr/>
        </p:nvSpPr>
        <p:spPr>
          <a:xfrm>
            <a:off x="6411035" y="2537011"/>
            <a:ext cx="1445348"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a:latin typeface="Calibri"/>
                <a:ea typeface="Amazon Ember Light" panose="020B0403020204020204" pitchFamily="34" charset="0"/>
                <a:cs typeface="Amazon Ember Light" panose="020B0403020204020204" pitchFamily="34" charset="0"/>
              </a:rPr>
              <a:t>Specialized</a:t>
            </a:r>
          </a:p>
        </p:txBody>
      </p:sp>
      <p:sp>
        <p:nvSpPr>
          <p:cNvPr id="28" name="TextBox 27">
            <a:extLst>
              <a:ext uri="{FF2B5EF4-FFF2-40B4-BE49-F238E27FC236}">
                <a16:creationId xmlns:a16="http://schemas.microsoft.com/office/drawing/2014/main" id="{399851ED-8D26-48E7-903B-7E23871F1B87}"/>
              </a:ext>
            </a:extLst>
          </p:cNvPr>
          <p:cNvSpPr txBox="1"/>
          <p:nvPr/>
        </p:nvSpPr>
        <p:spPr>
          <a:xfrm>
            <a:off x="5606060" y="3832496"/>
            <a:ext cx="2735364" cy="415498"/>
          </a:xfrm>
          <a:prstGeom prst="rect">
            <a:avLst/>
          </a:prstGeom>
          <a:noFill/>
        </p:spPr>
        <p:txBody>
          <a:bodyPr wrap="square" lIns="91440" tIns="45720" rIns="91440" bIns="4572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100">
                <a:latin typeface="Calibri"/>
                <a:ea typeface="Amazon Ember Light" panose="020B0403020204020204" pitchFamily="34" charset="0"/>
                <a:cs typeface="Amazon Ember Light" panose="020B0403020204020204" pitchFamily="34" charset="0"/>
              </a:rPr>
              <a:t>You build it, you run it</a:t>
            </a:r>
          </a:p>
        </p:txBody>
      </p:sp>
      <p:cxnSp>
        <p:nvCxnSpPr>
          <p:cNvPr id="38" name="Straight Connector 37">
            <a:extLst>
              <a:ext uri="{FF2B5EF4-FFF2-40B4-BE49-F238E27FC236}">
                <a16:creationId xmlns:a16="http://schemas.microsoft.com/office/drawing/2014/main" id="{1C7462B9-6DA2-4B78-98FA-59A30F63D831}"/>
              </a:ext>
              <a:ext uri="{C183D7F6-B498-43B3-948B-1728B52AA6E4}">
                <adec:decorative xmlns:adec="http://schemas.microsoft.com/office/drawing/2017/decorative" val="1"/>
              </a:ext>
            </a:extLst>
          </p:cNvPr>
          <p:cNvCxnSpPr>
            <a:cxnSpLocks/>
          </p:cNvCxnSpPr>
          <p:nvPr/>
        </p:nvCxnSpPr>
        <p:spPr>
          <a:xfrm>
            <a:off x="3175562" y="1745328"/>
            <a:ext cx="464997" cy="4060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53C61EA-61AE-47F3-BBF4-BA34F3099C48}"/>
              </a:ext>
              <a:ext uri="{C183D7F6-B498-43B3-948B-1728B52AA6E4}">
                <adec:decorative xmlns:adec="http://schemas.microsoft.com/office/drawing/2017/decorative" val="1"/>
              </a:ext>
            </a:extLst>
          </p:cNvPr>
          <p:cNvCxnSpPr>
            <a:cxnSpLocks/>
          </p:cNvCxnSpPr>
          <p:nvPr/>
        </p:nvCxnSpPr>
        <p:spPr>
          <a:xfrm flipV="1">
            <a:off x="2612175" y="2692048"/>
            <a:ext cx="979489" cy="86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3B2272A-0BE6-45DD-B36F-3AE69ACE1488}"/>
              </a:ext>
              <a:ext uri="{C183D7F6-B498-43B3-948B-1728B52AA6E4}">
                <adec:decorative xmlns:adec="http://schemas.microsoft.com/office/drawing/2017/decorative" val="1"/>
              </a:ext>
            </a:extLst>
          </p:cNvPr>
          <p:cNvCxnSpPr>
            <a:cxnSpLocks/>
          </p:cNvCxnSpPr>
          <p:nvPr/>
        </p:nvCxnSpPr>
        <p:spPr>
          <a:xfrm>
            <a:off x="4825332" y="2692048"/>
            <a:ext cx="978254" cy="86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D3D714D-3E25-4336-BD2F-CFF93F3EC266}"/>
              </a:ext>
              <a:ext uri="{C183D7F6-B498-43B3-948B-1728B52AA6E4}">
                <adec:decorative xmlns:adec="http://schemas.microsoft.com/office/drawing/2017/decorative" val="1"/>
              </a:ext>
            </a:extLst>
          </p:cNvPr>
          <p:cNvCxnSpPr>
            <a:cxnSpLocks/>
          </p:cNvCxnSpPr>
          <p:nvPr/>
        </p:nvCxnSpPr>
        <p:spPr>
          <a:xfrm flipH="1">
            <a:off x="3175562" y="3232739"/>
            <a:ext cx="464997" cy="439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874A0D9-236B-45D9-A214-0C38EC21D837}"/>
              </a:ext>
              <a:ext uri="{C183D7F6-B498-43B3-948B-1728B52AA6E4}">
                <adec:decorative xmlns:adec="http://schemas.microsoft.com/office/drawing/2017/decorative" val="1"/>
              </a:ext>
            </a:extLst>
          </p:cNvPr>
          <p:cNvCxnSpPr>
            <a:cxnSpLocks/>
          </p:cNvCxnSpPr>
          <p:nvPr/>
        </p:nvCxnSpPr>
        <p:spPr>
          <a:xfrm flipV="1">
            <a:off x="4776436" y="1770968"/>
            <a:ext cx="423417" cy="3803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34FE3B4-D97B-46FA-BBCA-301C5B463F80}"/>
              </a:ext>
              <a:ext uri="{C183D7F6-B498-43B3-948B-1728B52AA6E4}">
                <adec:decorative xmlns:adec="http://schemas.microsoft.com/office/drawing/2017/decorative" val="1"/>
              </a:ext>
            </a:extLst>
          </p:cNvPr>
          <p:cNvCxnSpPr>
            <a:cxnSpLocks/>
          </p:cNvCxnSpPr>
          <p:nvPr/>
        </p:nvCxnSpPr>
        <p:spPr>
          <a:xfrm>
            <a:off x="4776437" y="3232739"/>
            <a:ext cx="423418" cy="43958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37578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5</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latin typeface="Calibri"/>
                <a:ea typeface="Calibri"/>
                <a:cs typeface="Calibri"/>
              </a:rPr>
              <a:t>Microservices and containers</a:t>
            </a:r>
          </a:p>
        </p:txBody>
      </p:sp>
      <p:graphicFrame>
        <p:nvGraphicFramePr>
          <p:cNvPr id="8" name="Table 2">
            <a:extLst>
              <a:ext uri="{FF2B5EF4-FFF2-40B4-BE49-F238E27FC236}">
                <a16:creationId xmlns:a16="http://schemas.microsoft.com/office/drawing/2014/main" id="{2B8874F1-99BA-427D-8B33-215EB3DBD07C}"/>
              </a:ext>
            </a:extLst>
          </p:cNvPr>
          <p:cNvGraphicFramePr>
            <a:graphicFrameLocks noGrp="1"/>
          </p:cNvGraphicFramePr>
          <p:nvPr>
            <p:ph idx="2"/>
          </p:nvPr>
        </p:nvGraphicFramePr>
        <p:xfrm>
          <a:off x="273844" y="822722"/>
          <a:ext cx="8593074" cy="3924441"/>
        </p:xfrm>
        <a:graphic>
          <a:graphicData uri="http://schemas.openxmlformats.org/drawingml/2006/table">
            <a:tbl>
              <a:tblPr firstRow="1" bandRow="1">
                <a:tableStyleId>{5C22544A-7EE6-4342-B048-85BDC9FD1C3A}</a:tableStyleId>
              </a:tblPr>
              <a:tblGrid>
                <a:gridCol w="2894729">
                  <a:extLst>
                    <a:ext uri="{9D8B030D-6E8A-4147-A177-3AD203B41FA5}">
                      <a16:colId xmlns:a16="http://schemas.microsoft.com/office/drawing/2014/main" val="20000"/>
                    </a:ext>
                  </a:extLst>
                </a:gridCol>
                <a:gridCol w="5698345">
                  <a:extLst>
                    <a:ext uri="{9D8B030D-6E8A-4147-A177-3AD203B41FA5}">
                      <a16:colId xmlns:a16="http://schemas.microsoft.com/office/drawing/2014/main" val="20001"/>
                    </a:ext>
                  </a:extLst>
                </a:gridCol>
              </a:tblGrid>
              <a:tr h="384114">
                <a:tc>
                  <a:txBody>
                    <a:bodyPr/>
                    <a:lstStyle/>
                    <a:p>
                      <a:r>
                        <a:rPr lang="en-US" sz="1200">
                          <a:solidFill>
                            <a:schemeClr val="bg1"/>
                          </a:solidFill>
                        </a:rPr>
                        <a:t>Microservices design</a:t>
                      </a:r>
                    </a:p>
                  </a:txBody>
                  <a:tcPr marL="112979" marR="56489" marT="28248" marB="28248" anchor="ctr"/>
                </a:tc>
                <a:tc>
                  <a:txBody>
                    <a:bodyPr/>
                    <a:lstStyle/>
                    <a:p>
                      <a:r>
                        <a:rPr lang="en-US" sz="1200" kern="1200">
                          <a:solidFill>
                            <a:schemeClr val="bg1"/>
                          </a:solidFill>
                        </a:rPr>
                        <a:t>Container characteristics</a:t>
                      </a:r>
                    </a:p>
                  </a:txBody>
                  <a:tcPr marL="112979" marR="56489" marT="28248" marB="28248" anchor="ctr"/>
                </a:tc>
                <a:extLst>
                  <a:ext uri="{0D108BD9-81ED-4DB2-BD59-A6C34878D82A}">
                    <a16:rowId xmlns:a16="http://schemas.microsoft.com/office/drawing/2014/main" val="10000"/>
                  </a:ext>
                </a:extLst>
              </a:tr>
              <a:tr h="900083">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i="0"/>
                        <a:t>Decentralized, evolutionary design</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i="0"/>
                        <a:t>Smart endpoints, dumb pipes</a:t>
                      </a:r>
                    </a:p>
                  </a:txBody>
                  <a:tcPr marL="68580" marR="68580" marT="34290" marB="34290"/>
                </a:tc>
                <a:tc>
                  <a:txBody>
                    <a:bodyPr/>
                    <a:lstStyle/>
                    <a:p>
                      <a:pPr marL="285750" indent="-285750">
                        <a:spcAft>
                          <a:spcPts val="600"/>
                        </a:spcAft>
                        <a:buFont typeface="Arial" panose="020B0604020202020204" pitchFamily="34" charset="0"/>
                        <a:buChar char="•"/>
                      </a:pPr>
                      <a:r>
                        <a:rPr lang="en-US" sz="1200" baseline="0"/>
                        <a:t>Each container uses the language and technology that are best suited for the service.</a:t>
                      </a:r>
                    </a:p>
                    <a:p>
                      <a:pPr marL="285750" indent="-285750">
                        <a:spcAft>
                          <a:spcPts val="600"/>
                        </a:spcAft>
                        <a:buFont typeface="Arial" panose="020B0604020202020204" pitchFamily="34" charset="0"/>
                        <a:buChar char="•"/>
                      </a:pPr>
                      <a:r>
                        <a:rPr lang="en-US" sz="1200" baseline="0"/>
                        <a:t>Each component or system in the architecture can be isolated, and can evolve separately, instead of updating the system in a monolithic style.</a:t>
                      </a:r>
                      <a:endParaRPr lang="en-US" sz="1200"/>
                    </a:p>
                  </a:txBody>
                  <a:tcPr marL="68580" marR="68580" marT="34290" marB="34290"/>
                </a:tc>
                <a:extLst>
                  <a:ext uri="{0D108BD9-81ED-4DB2-BD59-A6C34878D82A}">
                    <a16:rowId xmlns:a16="http://schemas.microsoft.com/office/drawing/2014/main" val="10001"/>
                  </a:ext>
                </a:extLst>
              </a:tr>
              <a:tr h="456042">
                <a:tc>
                  <a:txBody>
                    <a:bodyPr/>
                    <a:lstStyle/>
                    <a:p>
                      <a:pPr marL="285750" indent="-285750">
                        <a:spcAft>
                          <a:spcPts val="600"/>
                        </a:spcAft>
                        <a:buFont typeface="Arial" panose="020B0604020202020204" pitchFamily="34" charset="0"/>
                        <a:buChar char="•"/>
                      </a:pPr>
                      <a:r>
                        <a:rPr lang="en-US" sz="1200" i="0" baseline="0"/>
                        <a:t>Independent products, not projects </a:t>
                      </a:r>
                    </a:p>
                  </a:txBody>
                  <a:tcPr marL="68580" marR="68580" marT="34290" marB="34290"/>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baseline="0"/>
                        <a:t>You can use containers to package all of your dependencies and libraries into a single, immutable object.</a:t>
                      </a:r>
                    </a:p>
                  </a:txBody>
                  <a:tcPr marL="68580" marR="68580" marT="34290" marB="34290"/>
                </a:tc>
                <a:extLst>
                  <a:ext uri="{0D108BD9-81ED-4DB2-BD59-A6C34878D82A}">
                    <a16:rowId xmlns:a16="http://schemas.microsoft.com/office/drawing/2014/main" val="10002"/>
                  </a:ext>
                </a:extLst>
              </a:tr>
              <a:tr h="1092101">
                <a:tc>
                  <a:txBody>
                    <a:bodyPr/>
                    <a:lstStyle/>
                    <a:p>
                      <a:pPr marL="285750" indent="-285750">
                        <a:spcAft>
                          <a:spcPts val="600"/>
                        </a:spcAft>
                        <a:buFont typeface="Arial" panose="020B0604020202020204" pitchFamily="34" charset="0"/>
                        <a:buChar char="•"/>
                      </a:pPr>
                      <a:r>
                        <a:rPr lang="en-US" sz="1200" i="0" baseline="0"/>
                        <a:t>Designed for failure </a:t>
                      </a:r>
                      <a:endParaRPr lang="en-US" sz="1200" i="0"/>
                    </a:p>
                    <a:p>
                      <a:pPr marL="285750" indent="-285750">
                        <a:spcAft>
                          <a:spcPts val="600"/>
                        </a:spcAft>
                        <a:buFont typeface="Arial" panose="020B0604020202020204" pitchFamily="34" charset="0"/>
                        <a:buChar char="•"/>
                      </a:pPr>
                      <a:r>
                        <a:rPr lang="en-US" sz="1200" i="0" baseline="0"/>
                        <a:t>Disposable</a:t>
                      </a:r>
                      <a:endParaRPr lang="en-US" sz="1200" i="0"/>
                    </a:p>
                  </a:txBody>
                  <a:tcPr marL="68580" marR="68580" marT="34290" marB="34290"/>
                </a:tc>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baseline="0"/>
                        <a:t>You can gracefully shut down a container when something goes wrong and create a new instance. You start fast, fail fast, and release any file handlers.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baseline="0"/>
                        <a:t>The development pattern is like a circuit breaker. Containers are added and removed, workloads change, and resources are temporary because they constantly change.</a:t>
                      </a:r>
                    </a:p>
                  </a:txBody>
                  <a:tcPr marL="68580" marR="68580" marT="34290" marB="34290"/>
                </a:tc>
                <a:extLst>
                  <a:ext uri="{0D108BD9-81ED-4DB2-BD59-A6C34878D82A}">
                    <a16:rowId xmlns:a16="http://schemas.microsoft.com/office/drawing/2014/main" val="10003"/>
                  </a:ext>
                </a:extLst>
              </a:tr>
              <a:tr h="1092101">
                <a:tc>
                  <a:txBody>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i="0"/>
                        <a:t>Development and production parity</a:t>
                      </a:r>
                    </a:p>
                  </a:txBody>
                  <a:tcPr marL="68580" marR="68580" marT="34290" marB="34290"/>
                </a:tc>
                <a:tc>
                  <a:txBody>
                    <a:bodyPr/>
                    <a:lstStyle/>
                    <a:p>
                      <a:pPr marL="285750" indent="-285750">
                        <a:spcAft>
                          <a:spcPts val="600"/>
                        </a:spcAft>
                        <a:buFont typeface="Arial" panose="020B0604020202020204" pitchFamily="34" charset="0"/>
                        <a:buChar char="•"/>
                      </a:pPr>
                      <a:r>
                        <a:rPr lang="en-US" sz="1200" baseline="0"/>
                        <a:t>Containers can make development, testing, and production environments consistent.</a:t>
                      </a:r>
                    </a:p>
                    <a:p>
                      <a:pPr marL="285750" indent="-285750">
                        <a:spcAft>
                          <a:spcPts val="600"/>
                        </a:spcAft>
                        <a:buFont typeface="Arial" panose="020B0604020202020204" pitchFamily="34" charset="0"/>
                        <a:buChar char="•"/>
                      </a:pPr>
                      <a:r>
                        <a:rPr lang="en-US" sz="1200" baseline="0"/>
                        <a:t>This consistency facilitates DevOps, in which a containerized application that works on a developer's system will work the same way on a production system.</a:t>
                      </a:r>
                      <a:endParaRPr lang="en-US" sz="1200"/>
                    </a:p>
                  </a:txBody>
                  <a:tcPr marL="68580" marR="68580" marT="34290" marB="34290"/>
                </a:tc>
                <a:extLst>
                  <a:ext uri="{0D108BD9-81ED-4DB2-BD59-A6C34878D82A}">
                    <a16:rowId xmlns:a16="http://schemas.microsoft.com/office/drawing/2014/main" val="1851897531"/>
                  </a:ext>
                </a:extLst>
              </a:tr>
            </a:tbl>
          </a:graphicData>
        </a:graphic>
      </p:graphicFrame>
    </p:spTree>
    <p:custDataLst>
      <p:tags r:id="rId1"/>
    </p:custDataLst>
    <p:extLst>
      <p:ext uri="{BB962C8B-B14F-4D97-AF65-F5344CB8AC3E}">
        <p14:creationId xmlns:p14="http://schemas.microsoft.com/office/powerpoint/2010/main" val="3172384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6</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latin typeface="Calibri"/>
                <a:ea typeface="Calibri"/>
                <a:cs typeface="Calibri"/>
              </a:rPr>
              <a:t>Challenges of managing containers at scale</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t>State of containers</a:t>
            </a:r>
          </a:p>
          <a:p>
            <a:r>
              <a:rPr lang="en-US"/>
              <a:t>Scheduling of starts and stops</a:t>
            </a:r>
          </a:p>
          <a:p>
            <a:r>
              <a:rPr lang="en-US"/>
              <a:t>Resources available on each server</a:t>
            </a:r>
          </a:p>
          <a:p>
            <a:r>
              <a:rPr lang="en-US"/>
              <a:t>Maximizing availability, resilience, and performance</a:t>
            </a:r>
          </a:p>
        </p:txBody>
      </p:sp>
      <p:pic>
        <p:nvPicPr>
          <p:cNvPr id="7" name="Content Placeholder 8">
            <a:extLst>
              <a:ext uri="{FF2B5EF4-FFF2-40B4-BE49-F238E27FC236}">
                <a16:creationId xmlns:a16="http://schemas.microsoft.com/office/drawing/2014/main" id="{47059CD3-9E08-42E0-B25E-CEFB5BD8E7B7}"/>
              </a:ext>
              <a:ext uri="{C183D7F6-B498-43B3-948B-1728B52AA6E4}">
                <adec:decorative xmlns:adec="http://schemas.microsoft.com/office/drawing/2017/decorative" val="1"/>
              </a:ext>
            </a:extLst>
          </p:cNvPr>
          <p:cNvPicPr>
            <a:picLocks noGrp="1" noChangeAspect="1"/>
          </p:cNvPicPr>
          <p:nvPr>
            <p:ph idx="3"/>
          </p:nvPr>
        </p:nvPicPr>
        <p:blipFill>
          <a:blip r:embed="rId4">
            <a:extLst>
              <a:ext uri="{28A0092B-C50C-407E-A947-70E740481C1C}">
                <a14:useLocalDpi xmlns:a14="http://schemas.microsoft.com/office/drawing/2010/main"/>
              </a:ext>
            </a:extLst>
          </a:blip>
          <a:stretch>
            <a:fillRect/>
          </a:stretch>
        </p:blipFill>
        <p:spPr>
          <a:xfrm>
            <a:off x="4622007" y="1227708"/>
            <a:ext cx="4251722" cy="3188147"/>
          </a:xfrm>
        </p:spPr>
      </p:pic>
    </p:spTree>
    <p:custDataLst>
      <p:tags r:id="rId1"/>
    </p:custDataLst>
    <p:extLst>
      <p:ext uri="{BB962C8B-B14F-4D97-AF65-F5344CB8AC3E}">
        <p14:creationId xmlns:p14="http://schemas.microsoft.com/office/powerpoint/2010/main" val="412243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7</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Container orchestration platforms</a:t>
            </a:r>
            <a:endParaRPr lang="en-US" sz="2800" b="1">
              <a:cs typeface="Arial"/>
            </a:endParaRPr>
          </a:p>
        </p:txBody>
      </p:sp>
      <p:pic>
        <p:nvPicPr>
          <p:cNvPr id="23" name="Picture Placeholder 22">
            <a:extLst>
              <a:ext uri="{FF2B5EF4-FFF2-40B4-BE49-F238E27FC236}">
                <a16:creationId xmlns:a16="http://schemas.microsoft.com/office/drawing/2014/main" id="{9C01DBBF-623B-4ED1-811B-35CD4DE524F8}"/>
              </a:ext>
              <a:ext uri="{C183D7F6-B498-43B3-948B-1728B52AA6E4}">
                <adec:decorative xmlns:adec="http://schemas.microsoft.com/office/drawing/2017/decorative" val="1"/>
              </a:ext>
            </a:extLst>
          </p:cNvPr>
          <p:cNvPicPr>
            <a:picLocks noGrp="1" noChangeAspect="1"/>
          </p:cNvPicPr>
          <p:nvPr>
            <p:ph type="pic" idx="22"/>
          </p:nvPr>
        </p:nvPicPr>
        <p:blipFill>
          <a:blip r:embed="rId4"/>
          <a:srcRect/>
          <a:stretch>
            <a:fillRect/>
          </a:stretch>
        </p:blipFill>
        <p:spPr/>
      </p:pic>
      <p:sp>
        <p:nvSpPr>
          <p:cNvPr id="17" name="Text Placeholder 16">
            <a:extLst>
              <a:ext uri="{FF2B5EF4-FFF2-40B4-BE49-F238E27FC236}">
                <a16:creationId xmlns:a16="http://schemas.microsoft.com/office/drawing/2014/main" id="{7D948F7E-7217-40F5-8934-CDE464466BB0}"/>
              </a:ext>
            </a:extLst>
          </p:cNvPr>
          <p:cNvSpPr>
            <a:spLocks noGrp="1"/>
          </p:cNvSpPr>
          <p:nvPr>
            <p:ph type="body" idx="3"/>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t>Scheduling</a:t>
            </a:r>
          </a:p>
        </p:txBody>
      </p:sp>
      <p:pic>
        <p:nvPicPr>
          <p:cNvPr id="24" name="Picture Placeholder 23">
            <a:extLst>
              <a:ext uri="{FF2B5EF4-FFF2-40B4-BE49-F238E27FC236}">
                <a16:creationId xmlns:a16="http://schemas.microsoft.com/office/drawing/2014/main" id="{F61845F0-1A52-4FCF-888F-9E12E5FF0C0E}"/>
              </a:ext>
              <a:ext uri="{C183D7F6-B498-43B3-948B-1728B52AA6E4}">
                <adec:decorative xmlns:adec="http://schemas.microsoft.com/office/drawing/2017/decorative" val="1"/>
              </a:ext>
            </a:extLst>
          </p:cNvPr>
          <p:cNvPicPr>
            <a:picLocks noGrp="1" noChangeAspect="1"/>
          </p:cNvPicPr>
          <p:nvPr>
            <p:ph type="pic" idx="23"/>
          </p:nvPr>
        </p:nvPicPr>
        <p:blipFill>
          <a:blip r:embed="rId5"/>
          <a:srcRect/>
          <a:stretch>
            <a:fillRect/>
          </a:stretch>
        </p:blipFill>
        <p:spPr/>
      </p:pic>
      <p:sp>
        <p:nvSpPr>
          <p:cNvPr id="18" name="Text Placeholder 17">
            <a:extLst>
              <a:ext uri="{FF2B5EF4-FFF2-40B4-BE49-F238E27FC236}">
                <a16:creationId xmlns:a16="http://schemas.microsoft.com/office/drawing/2014/main" id="{3EEC9F81-9837-4D8D-827C-7BD79B4B3DA6}"/>
              </a:ext>
            </a:extLst>
          </p:cNvPr>
          <p:cNvSpPr>
            <a:spLocks noGrp="1"/>
          </p:cNvSpPr>
          <p:nvPr>
            <p:ph type="body" idx="4"/>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t>Placement</a:t>
            </a:r>
          </a:p>
        </p:txBody>
      </p:sp>
      <p:pic>
        <p:nvPicPr>
          <p:cNvPr id="25" name="Picture Placeholder 24">
            <a:extLst>
              <a:ext uri="{FF2B5EF4-FFF2-40B4-BE49-F238E27FC236}">
                <a16:creationId xmlns:a16="http://schemas.microsoft.com/office/drawing/2014/main" id="{3C1F22E4-B251-45CD-9D76-40D47B08EF3C}"/>
              </a:ext>
              <a:ext uri="{C183D7F6-B498-43B3-948B-1728B52AA6E4}">
                <adec:decorative xmlns:adec="http://schemas.microsoft.com/office/drawing/2017/decorative" val="1"/>
              </a:ext>
            </a:extLst>
          </p:cNvPr>
          <p:cNvPicPr>
            <a:picLocks noGrp="1" noChangeAspect="1"/>
          </p:cNvPicPr>
          <p:nvPr>
            <p:ph type="pic" idx="24"/>
          </p:nvPr>
        </p:nvPicPr>
        <p:blipFill>
          <a:blip r:embed="rId6"/>
          <a:srcRect/>
          <a:stretch>
            <a:fillRect/>
          </a:stretch>
        </p:blipFill>
        <p:spPr/>
      </p:pic>
      <p:sp>
        <p:nvSpPr>
          <p:cNvPr id="19" name="Text Placeholder 18">
            <a:extLst>
              <a:ext uri="{FF2B5EF4-FFF2-40B4-BE49-F238E27FC236}">
                <a16:creationId xmlns:a16="http://schemas.microsoft.com/office/drawing/2014/main" id="{E03A4064-0E34-415E-9A7F-1417E9CFD1EC}"/>
              </a:ext>
            </a:extLst>
          </p:cNvPr>
          <p:cNvSpPr>
            <a:spLocks noGrp="1"/>
          </p:cNvSpPr>
          <p:nvPr>
            <p:ph type="body" idx="5"/>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t>Service integration</a:t>
            </a:r>
          </a:p>
        </p:txBody>
      </p:sp>
    </p:spTree>
    <p:custDataLst>
      <p:tags r:id="rId1"/>
    </p:custDataLst>
    <p:extLst>
      <p:ext uri="{BB962C8B-B14F-4D97-AF65-F5344CB8AC3E}">
        <p14:creationId xmlns:p14="http://schemas.microsoft.com/office/powerpoint/2010/main" val="2752220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8</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ECS</a:t>
            </a:r>
          </a:p>
        </p:txBody>
      </p:sp>
      <p:pic>
        <p:nvPicPr>
          <p:cNvPr id="14" name="Picture Placeholder 13">
            <a:extLst>
              <a:ext uri="{FF2B5EF4-FFF2-40B4-BE49-F238E27FC236}">
                <a16:creationId xmlns:a16="http://schemas.microsoft.com/office/drawing/2014/main" id="{FE7B58E4-6F6F-474D-9119-C8250E552FDB}"/>
              </a:ext>
              <a:ext uri="{C183D7F6-B498-43B3-948B-1728B52AA6E4}">
                <adec:decorative xmlns:adec="http://schemas.microsoft.com/office/drawing/2017/decorative" val="1"/>
              </a:ext>
            </a:extLst>
          </p:cNvPr>
          <p:cNvPicPr>
            <a:picLocks noGrp="1" noChangeAspect="1"/>
          </p:cNvPicPr>
          <p:nvPr>
            <p:ph type="pic" idx="3"/>
          </p:nvPr>
        </p:nvPicPr>
        <p:blipFill>
          <a:blip r:embed="rId4"/>
          <a:srcRect/>
          <a:stretch>
            <a:fillRect/>
          </a:stretch>
        </p:blipFill>
        <p:spPr/>
      </p:pic>
      <p:sp>
        <p:nvSpPr>
          <p:cNvPr id="13" name="Text Placeholder 12">
            <a:extLst>
              <a:ext uri="{FF2B5EF4-FFF2-40B4-BE49-F238E27FC236}">
                <a16:creationId xmlns:a16="http://schemas.microsoft.com/office/drawing/2014/main" id="{A634A043-1213-4545-B391-8D7FEBB194B5}"/>
              </a:ext>
            </a:extLst>
          </p:cNvPr>
          <p:cNvSpPr>
            <a:spLocks noGrp="1"/>
          </p:cNvSpPr>
          <p:nvPr>
            <p:ph type="body" idx="4"/>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r>
              <a:rPr lang="en-US"/>
              <a:t>Amazon Elastic Container Service (Amazon ECS)</a:t>
            </a:r>
          </a:p>
          <a:p>
            <a:endParaRPr lang="en-US"/>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a:t>Fully managed container orchestration service</a:t>
            </a:r>
          </a:p>
          <a:p>
            <a:pPr lvl="1"/>
            <a:r>
              <a:rPr lang="en-US"/>
              <a:t>Scales rapidly to thousands of containers with no additional complexity</a:t>
            </a:r>
          </a:p>
          <a:p>
            <a:pPr lvl="1"/>
            <a:r>
              <a:rPr lang="en-US"/>
              <a:t>Schedules placement across managed clusters</a:t>
            </a:r>
          </a:p>
          <a:p>
            <a:pPr lvl="1"/>
            <a:r>
              <a:rPr lang="en-US"/>
              <a:t>Integrates with third-party schedulers and other AWS services</a:t>
            </a:r>
          </a:p>
        </p:txBody>
      </p:sp>
    </p:spTree>
    <p:custDataLst>
      <p:tags r:id="rId1"/>
    </p:custDataLst>
    <p:extLst>
      <p:ext uri="{BB962C8B-B14F-4D97-AF65-F5344CB8AC3E}">
        <p14:creationId xmlns:p14="http://schemas.microsoft.com/office/powerpoint/2010/main" val="3960246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9</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ECR</a:t>
            </a:r>
          </a:p>
        </p:txBody>
      </p:sp>
      <p:pic>
        <p:nvPicPr>
          <p:cNvPr id="14" name="Picture Placeholder 13">
            <a:extLst>
              <a:ext uri="{FF2B5EF4-FFF2-40B4-BE49-F238E27FC236}">
                <a16:creationId xmlns:a16="http://schemas.microsoft.com/office/drawing/2014/main" id="{EFE7E432-D78C-44A6-BF64-12963CE471F2}"/>
              </a:ext>
              <a:ext uri="{C183D7F6-B498-43B3-948B-1728B52AA6E4}">
                <adec:decorative xmlns:adec="http://schemas.microsoft.com/office/drawing/2017/decorative" val="1"/>
              </a:ext>
            </a:extLst>
          </p:cNvPr>
          <p:cNvPicPr>
            <a:picLocks noGrp="1" noChangeAspect="1"/>
          </p:cNvPicPr>
          <p:nvPr>
            <p:ph type="pic" idx="3"/>
          </p:nvPr>
        </p:nvPicPr>
        <p:blipFill>
          <a:blip r:embed="rId4"/>
          <a:srcRect/>
          <a:stretch>
            <a:fillRect/>
          </a:stretch>
        </p:blipFill>
        <p:spPr/>
      </p:pic>
      <p:sp>
        <p:nvSpPr>
          <p:cNvPr id="13" name="Text Placeholder 12">
            <a:extLst>
              <a:ext uri="{FF2B5EF4-FFF2-40B4-BE49-F238E27FC236}">
                <a16:creationId xmlns:a16="http://schemas.microsoft.com/office/drawing/2014/main" id="{AFF14B7C-4F66-4AD6-BB0F-DFC2B8FADF4A}"/>
              </a:ext>
            </a:extLst>
          </p:cNvPr>
          <p:cNvSpPr>
            <a:spLocks noGrp="1"/>
          </p:cNvSpPr>
          <p:nvPr>
            <p:ph type="body" idx="4"/>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r>
              <a:rPr lang="en-US"/>
              <a:t>Amazon Elastic Container Registry (Amazon ECR)</a:t>
            </a:r>
          </a:p>
          <a:p>
            <a:endParaRPr lang="en-US"/>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a:t>Fully managed container registry that you can use to easily store, run, and manage container images for applications that run on Amazon ECS</a:t>
            </a:r>
          </a:p>
          <a:p>
            <a:pPr lvl="1"/>
            <a:r>
              <a:rPr lang="en-US"/>
              <a:t>Scalable and highly available</a:t>
            </a:r>
          </a:p>
          <a:p>
            <a:pPr lvl="1"/>
            <a:r>
              <a:rPr lang="en-US"/>
              <a:t>Integrated with Amazon ECS and Docker CLI</a:t>
            </a:r>
          </a:p>
          <a:p>
            <a:pPr lvl="1"/>
            <a:r>
              <a:rPr lang="en-US"/>
              <a:t>Secure:</a:t>
            </a:r>
          </a:p>
          <a:p>
            <a:pPr lvl="2"/>
            <a:r>
              <a:rPr lang="en-US"/>
              <a:t>Encryption at rest</a:t>
            </a:r>
          </a:p>
          <a:p>
            <a:pPr lvl="2"/>
            <a:r>
              <a:rPr lang="en-US"/>
              <a:t>Integration with the AWS Identity and Access Management Service (IAM)</a:t>
            </a:r>
          </a:p>
        </p:txBody>
      </p:sp>
    </p:spTree>
    <p:custDataLst>
      <p:tags r:id="rId1"/>
    </p:custDataLst>
    <p:extLst>
      <p:ext uri="{BB962C8B-B14F-4D97-AF65-F5344CB8AC3E}">
        <p14:creationId xmlns:p14="http://schemas.microsoft.com/office/powerpoint/2010/main" val="3230553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10</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ECS solution architecture</a:t>
            </a:r>
          </a:p>
        </p:txBody>
      </p:sp>
      <p:pic>
        <p:nvPicPr>
          <p:cNvPr id="54" name="Content Placeholder 53" descr="Diagram shows ECS solution architecture. See notes for more details.">
            <a:extLst>
              <a:ext uri="{FF2B5EF4-FFF2-40B4-BE49-F238E27FC236}">
                <a16:creationId xmlns:a16="http://schemas.microsoft.com/office/drawing/2014/main" id="{F074902D-4EDF-4805-A25B-E965E1851157}"/>
              </a:ext>
            </a:extLst>
          </p:cNvPr>
          <p:cNvPicPr>
            <a:picLocks noGrp="1" noChangeAspect="1"/>
          </p:cNvPicPr>
          <p:nvPr>
            <p:ph idx="2"/>
          </p:nvPr>
        </p:nvPicPr>
        <p:blipFill>
          <a:blip r:embed="rId4"/>
          <a:stretch>
            <a:fillRect/>
          </a:stretch>
        </p:blipFill>
        <p:spPr>
          <a:xfrm>
            <a:off x="273844" y="1315117"/>
            <a:ext cx="8599885" cy="3013328"/>
          </a:xfrm>
        </p:spPr>
      </p:pic>
    </p:spTree>
    <p:custDataLst>
      <p:tags r:id="rId1"/>
    </p:custDataLst>
    <p:extLst>
      <p:ext uri="{BB962C8B-B14F-4D97-AF65-F5344CB8AC3E}">
        <p14:creationId xmlns:p14="http://schemas.microsoft.com/office/powerpoint/2010/main" val="2744960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09D89C-6A07-4D31-A303-3355531317D6}"/>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B6A95138-A96E-2F42-A959-2EFD44FE4AB7}" type="slidenum">
              <a:rPr lang="en-US" smtClean="0"/>
              <a:t>11</a:t>
            </a:fld>
            <a:endParaRPr lang="en-US"/>
          </a:p>
        </p:txBody>
      </p:sp>
      <p:sp>
        <p:nvSpPr>
          <p:cNvPr id="2" name="Title 1">
            <a:extLst>
              <a:ext uri="{FF2B5EF4-FFF2-40B4-BE49-F238E27FC236}">
                <a16:creationId xmlns:a16="http://schemas.microsoft.com/office/drawing/2014/main" id="{A447CB6E-157B-E945-B752-56AE07DED69F}"/>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AWS Fargate</a:t>
            </a:r>
          </a:p>
        </p:txBody>
      </p:sp>
      <p:sp>
        <p:nvSpPr>
          <p:cNvPr id="8" name="Tijdelijke aanduiding voor inhoud 7">
            <a:extLst>
              <a:ext uri="{FF2B5EF4-FFF2-40B4-BE49-F238E27FC236}">
                <a16:creationId xmlns:a16="http://schemas.microsoft.com/office/drawing/2014/main" id="{D3B6EE45-EC67-49D4-2D0B-2E1785503930}"/>
              </a:ext>
            </a:extLst>
          </p:cNvPr>
          <p:cNvSpPr>
            <a:spLocks noGrp="1"/>
          </p:cNvSpPr>
          <p:nvPr>
            <p:ph idx="2"/>
          </p:nvPr>
        </p:nvSpPr>
        <p:spPr/>
        <p:txBody>
          <a:bodyPr/>
          <a:lstStyle/>
          <a:p>
            <a:endParaRPr lang="nl-NL"/>
          </a:p>
        </p:txBody>
      </p:sp>
      <p:grpSp>
        <p:nvGrpSpPr>
          <p:cNvPr id="5" name="Group 4">
            <a:extLst>
              <a:ext uri="{FF2B5EF4-FFF2-40B4-BE49-F238E27FC236}">
                <a16:creationId xmlns:a16="http://schemas.microsoft.com/office/drawing/2014/main" id="{EBF9AC95-5DD7-40FD-B86A-4C10EBD4B773}"/>
              </a:ext>
              <a:ext uri="{C183D7F6-B498-43B3-948B-1728B52AA6E4}">
                <adec:decorative xmlns:adec="http://schemas.microsoft.com/office/drawing/2017/decorative" val="1"/>
              </a:ext>
            </a:extLst>
          </p:cNvPr>
          <p:cNvGrpSpPr/>
          <p:nvPr/>
        </p:nvGrpSpPr>
        <p:grpSpPr>
          <a:xfrm>
            <a:off x="573009" y="1437369"/>
            <a:ext cx="2164312" cy="3033794"/>
            <a:chOff x="764011" y="1916492"/>
            <a:chExt cx="2885749" cy="4045058"/>
          </a:xfrm>
        </p:grpSpPr>
        <p:pic>
          <p:nvPicPr>
            <p:cNvPr id="9" name="Graphic 8">
              <a:extLst>
                <a:ext uri="{FF2B5EF4-FFF2-40B4-BE49-F238E27FC236}">
                  <a16:creationId xmlns:a16="http://schemas.microsoft.com/office/drawing/2014/main" id="{0A368070-BF36-4FEF-9DDE-CD86E46CD1A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1085" y="2743200"/>
              <a:ext cx="1371600" cy="1371600"/>
            </a:xfrm>
            <a:prstGeom prst="rect">
              <a:avLst/>
            </a:prstGeom>
          </p:spPr>
        </p:pic>
        <p:sp>
          <p:nvSpPr>
            <p:cNvPr id="6" name="TextBox 5">
              <a:extLst>
                <a:ext uri="{FF2B5EF4-FFF2-40B4-BE49-F238E27FC236}">
                  <a16:creationId xmlns:a16="http://schemas.microsoft.com/office/drawing/2014/main" id="{F401917E-735F-0941-A1C4-41F94BBFBDA2}"/>
                </a:ext>
              </a:extLst>
            </p:cNvPr>
            <p:cNvSpPr txBox="1"/>
            <p:nvPr/>
          </p:nvSpPr>
          <p:spPr>
            <a:xfrm>
              <a:off x="1300170" y="4331526"/>
              <a:ext cx="1813430" cy="89255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950">
                  <a:latin typeface="Amazon Ember" panose="020B0603020204020204" pitchFamily="34" charset="0"/>
                  <a:ea typeface="Amazon Ember" panose="020B0603020204020204" pitchFamily="34" charset="0"/>
                  <a:cs typeface="Amazon Ember" panose="020B0603020204020204" pitchFamily="34" charset="0"/>
                </a:rPr>
                <a:t>AWS Fargate</a:t>
              </a:r>
            </a:p>
          </p:txBody>
        </p:sp>
        <p:sp>
          <p:nvSpPr>
            <p:cNvPr id="7" name="Rectangle 6">
              <a:extLst>
                <a:ext uri="{FF2B5EF4-FFF2-40B4-BE49-F238E27FC236}">
                  <a16:creationId xmlns:a16="http://schemas.microsoft.com/office/drawing/2014/main" id="{C31EFD06-94B8-A243-AAC7-3B467B92B058}"/>
                </a:ext>
                <a:ext uri="{C183D7F6-B498-43B3-948B-1728B52AA6E4}">
                  <adec:decorative xmlns:adec="http://schemas.microsoft.com/office/drawing/2017/decorative" val="1"/>
                </a:ext>
              </a:extLst>
            </p:cNvPr>
            <p:cNvSpPr/>
            <p:nvPr/>
          </p:nvSpPr>
          <p:spPr>
            <a:xfrm>
              <a:off x="764011" y="1916492"/>
              <a:ext cx="2885749" cy="4045058"/>
            </a:xfrm>
            <a:prstGeom prst="rect">
              <a:avLst/>
            </a:prstGeom>
            <a:noFill/>
            <a:ln w="508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grpSp>
      <p:sp>
        <p:nvSpPr>
          <p:cNvPr id="10" name="Rectangle 9">
            <a:extLst>
              <a:ext uri="{FF2B5EF4-FFF2-40B4-BE49-F238E27FC236}">
                <a16:creationId xmlns:a16="http://schemas.microsoft.com/office/drawing/2014/main" id="{7B5003F2-28CD-244C-BF96-23F934B99EC3}"/>
              </a:ext>
            </a:extLst>
          </p:cNvPr>
          <p:cNvSpPr/>
          <p:nvPr/>
        </p:nvSpPr>
        <p:spPr>
          <a:xfrm>
            <a:off x="3196333" y="1539592"/>
            <a:ext cx="5486400" cy="3319370"/>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57175" lvl="1" indent="-257175">
              <a:lnSpc>
                <a:spcPct val="90000"/>
              </a:lnSpc>
              <a:spcBef>
                <a:spcPts val="1800"/>
              </a:spcBef>
              <a:buClr>
                <a:schemeClr val="tx1">
                  <a:lumMod val="85000"/>
                  <a:lumOff val="15000"/>
                </a:schemeClr>
              </a:buClr>
              <a:buSzPct val="125000"/>
              <a:buFont typeface="Arial" panose="020B0604020202020204" pitchFamily="34" charset="0"/>
              <a:buChar char="•"/>
            </a:pPr>
            <a:r>
              <a:rPr lang="en-US" sz="1800">
                <a:ea typeface="Amazon Ember" panose="020B0603020204020204" pitchFamily="34" charset="0"/>
                <a:cs typeface="Amazon Ember" panose="020B0603020204020204" pitchFamily="34" charset="0"/>
              </a:rPr>
              <a:t>Is a </a:t>
            </a:r>
            <a:r>
              <a:rPr lang="en-US" sz="180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fully managed </a:t>
            </a: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container service</a:t>
            </a:r>
          </a:p>
          <a:p>
            <a:pPr marL="257175" lvl="1" indent="-257175">
              <a:lnSpc>
                <a:spcPct val="90000"/>
              </a:lnSpc>
              <a:spcBef>
                <a:spcPts val="1800"/>
              </a:spcBef>
              <a:buClr>
                <a:schemeClr val="tx1">
                  <a:lumMod val="85000"/>
                  <a:lumOff val="15000"/>
                </a:schemeClr>
              </a:buClr>
              <a:buSzPct val="125000"/>
              <a:buFont typeface="Arial" panose="020B0604020202020204" pitchFamily="34" charset="0"/>
              <a:buChar char="•"/>
            </a:pP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Works with </a:t>
            </a:r>
            <a:r>
              <a:rPr lang="en-US" sz="180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Amazon Elastic Container Service</a:t>
            </a: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(Amazon ECS) and </a:t>
            </a:r>
            <a:r>
              <a:rPr lang="en-US" sz="180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Amazon Elastic Kubernetes</a:t>
            </a: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80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Service</a:t>
            </a: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(Amazon EKS)</a:t>
            </a:r>
          </a:p>
          <a:p>
            <a:pPr marL="257175" lvl="1" indent="-257175">
              <a:lnSpc>
                <a:spcPct val="90000"/>
              </a:lnSpc>
              <a:spcBef>
                <a:spcPts val="1800"/>
              </a:spcBef>
              <a:buClr>
                <a:schemeClr val="tx1">
                  <a:lumMod val="85000"/>
                  <a:lumOff val="15000"/>
                </a:schemeClr>
              </a:buClr>
              <a:buSzPct val="125000"/>
              <a:buFont typeface="Arial" panose="020B0604020202020204" pitchFamily="34" charset="0"/>
              <a:buChar char="•"/>
            </a:pP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Provisions, manages, and scales your container clusters</a:t>
            </a:r>
          </a:p>
          <a:p>
            <a:pPr marL="257175" lvl="1" indent="-257175">
              <a:lnSpc>
                <a:spcPct val="90000"/>
              </a:lnSpc>
              <a:spcBef>
                <a:spcPts val="1800"/>
              </a:spcBef>
              <a:buClr>
                <a:schemeClr val="tx1">
                  <a:lumMod val="85000"/>
                  <a:lumOff val="15000"/>
                </a:schemeClr>
              </a:buClr>
              <a:buSzPct val="125000"/>
              <a:buFont typeface="Arial" panose="020B0604020202020204" pitchFamily="34" charset="0"/>
              <a:buChar char="•"/>
            </a:pP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Manages runtime environment</a:t>
            </a:r>
          </a:p>
          <a:p>
            <a:pPr marL="257175" lvl="1" indent="-257175">
              <a:lnSpc>
                <a:spcPct val="90000"/>
              </a:lnSpc>
              <a:spcBef>
                <a:spcPts val="1800"/>
              </a:spcBef>
              <a:buClr>
                <a:schemeClr val="tx1">
                  <a:lumMod val="85000"/>
                  <a:lumOff val="15000"/>
                </a:schemeClr>
              </a:buClr>
              <a:buSzPct val="125000"/>
              <a:buFont typeface="Arial" panose="020B0604020202020204" pitchFamily="34" charset="0"/>
              <a:buChar char="•"/>
            </a:pPr>
            <a:r>
              <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Provides automatic scaling</a:t>
            </a:r>
          </a:p>
          <a:p>
            <a:pPr marL="260350" lvl="1" indent="-257175">
              <a:spcBef>
                <a:spcPct val="20000"/>
              </a:spcBef>
              <a:buClr>
                <a:schemeClr val="tx1">
                  <a:lumMod val="85000"/>
                  <a:lumOff val="15000"/>
                </a:schemeClr>
              </a:buClr>
              <a:buSzPct val="125000"/>
              <a:buFont typeface="Arial" panose="020B0604020202020204" pitchFamily="34" charset="0"/>
              <a:buChar char="•"/>
            </a:pPr>
            <a:endParaRPr lang="en-US" sz="180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424505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12</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ECS with </a:t>
            </a:r>
            <a:r>
              <a:rPr lang="en-US" sz="2800" b="1" err="1"/>
              <a:t>Fargate</a:t>
            </a:r>
            <a:r>
              <a:rPr lang="en-US" sz="2800" b="1"/>
              <a:t> or Amazon EC2</a:t>
            </a:r>
            <a:r>
              <a:rPr lang="en-US"/>
              <a:t> </a:t>
            </a:r>
          </a:p>
        </p:txBody>
      </p:sp>
      <p:pic>
        <p:nvPicPr>
          <p:cNvPr id="18" name="Block Diagram Group" descr="Block diagram shows differences in what AWS and you manage when using Fargate versus EC2.">
            <a:extLst>
              <a:ext uri="{FF2B5EF4-FFF2-40B4-BE49-F238E27FC236}">
                <a16:creationId xmlns:a16="http://schemas.microsoft.com/office/drawing/2014/main" id="{3ED0C915-EC45-416E-9A8F-2BCF090C993F}"/>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04860" y="1095282"/>
            <a:ext cx="8920745" cy="2281626"/>
          </a:xfrm>
          <a:prstGeom prst="rect">
            <a:avLst/>
          </a:prstGeom>
        </p:spPr>
      </p:pic>
      <p:sp>
        <p:nvSpPr>
          <p:cNvPr id="61" name="Content Placeholder 32">
            <a:extLst>
              <a:ext uri="{FF2B5EF4-FFF2-40B4-BE49-F238E27FC236}">
                <a16:creationId xmlns:a16="http://schemas.microsoft.com/office/drawing/2014/main" id="{2B9A79F0-01A7-584A-0A7B-FCFB3B31284F}"/>
              </a:ext>
            </a:extLst>
          </p:cNvPr>
          <p:cNvSpPr txBox="1">
            <a:spLocks/>
          </p:cNvSpPr>
          <p:nvPr/>
        </p:nvSpPr>
        <p:spPr>
          <a:xfrm>
            <a:off x="314325" y="3354283"/>
            <a:ext cx="4128516" cy="1184081"/>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Font typeface="Arial" panose="020B0604020202020204" pitchFamily="34" charset="0"/>
              <a:buNone/>
            </a:pPr>
            <a:r>
              <a:rPr lang="en-US" sz="1350" b="1">
                <a:solidFill>
                  <a:schemeClr val="accent1"/>
                </a:solidFill>
                <a:latin typeface="+mn-lt"/>
                <a:ea typeface="Amazon Ember" panose="020B0603020204020204" pitchFamily="34" charset="0"/>
                <a:cs typeface="Amazon Ember" panose="020B0603020204020204" pitchFamily="34" charset="0"/>
              </a:rPr>
              <a:t>Choose </a:t>
            </a:r>
            <a:r>
              <a:rPr lang="en-US" sz="1350" b="1" err="1">
                <a:solidFill>
                  <a:schemeClr val="accent1"/>
                </a:solidFill>
                <a:latin typeface="+mn-lt"/>
                <a:ea typeface="Amazon Ember" panose="020B0603020204020204" pitchFamily="34" charset="0"/>
                <a:cs typeface="Amazon Ember" panose="020B0603020204020204" pitchFamily="34" charset="0"/>
              </a:rPr>
              <a:t>Fargate</a:t>
            </a:r>
            <a:r>
              <a:rPr lang="en-US" sz="1350" b="1">
                <a:solidFill>
                  <a:schemeClr val="accent1"/>
                </a:solidFill>
                <a:latin typeface="+mn-lt"/>
                <a:ea typeface="Amazon Ember" panose="020B0603020204020204" pitchFamily="34" charset="0"/>
                <a:cs typeface="Amazon Ember" panose="020B0603020204020204" pitchFamily="34" charset="0"/>
              </a:rPr>
              <a:t>: </a:t>
            </a:r>
          </a:p>
          <a:p>
            <a:pPr marL="214313" indent="-214313">
              <a:spcBef>
                <a:spcPts val="450"/>
              </a:spcBef>
            </a:pPr>
            <a:r>
              <a:rPr lang="en-US" sz="1200">
                <a:latin typeface="+mn-lt"/>
              </a:rPr>
              <a:t>Services subject to wide swings in demand</a:t>
            </a:r>
          </a:p>
          <a:p>
            <a:pPr marL="214313" indent="-214313">
              <a:spcBef>
                <a:spcPts val="450"/>
              </a:spcBef>
            </a:pPr>
            <a:r>
              <a:rPr lang="en-US" sz="1200">
                <a:latin typeface="+mn-lt"/>
              </a:rPr>
              <a:t>Large workloads that are optimized for low overhead</a:t>
            </a:r>
          </a:p>
          <a:p>
            <a:pPr marL="214313" indent="-214313">
              <a:spcBef>
                <a:spcPts val="450"/>
              </a:spcBef>
            </a:pPr>
            <a:r>
              <a:rPr lang="en-US" sz="1200">
                <a:latin typeface="+mn-lt"/>
              </a:rPr>
              <a:t>Small test environments</a:t>
            </a:r>
          </a:p>
          <a:p>
            <a:pPr marL="214313" indent="-214313">
              <a:spcBef>
                <a:spcPts val="450"/>
              </a:spcBef>
            </a:pPr>
            <a:r>
              <a:rPr lang="en-US" sz="1200">
                <a:latin typeface="+mn-lt"/>
              </a:rPr>
              <a:t>Batch workloads that run on a schedule</a:t>
            </a:r>
          </a:p>
          <a:p>
            <a:pPr marL="0" indent="0">
              <a:buFont typeface="Arial" panose="020B0604020202020204" pitchFamily="34" charset="0"/>
              <a:buNone/>
            </a:pPr>
            <a:endParaRPr lang="en-US" sz="1013">
              <a:latin typeface="+mn-lt"/>
            </a:endParaRPr>
          </a:p>
          <a:p>
            <a:pPr marL="0" indent="0">
              <a:buFont typeface="Arial" panose="020B0604020202020204" pitchFamily="34" charset="0"/>
              <a:buNone/>
            </a:pPr>
            <a:endParaRPr lang="en-US" sz="1350">
              <a:latin typeface="+mn-lt"/>
              <a:ea typeface="Amazon Ember" panose="020B0603020204020204" pitchFamily="34" charset="0"/>
              <a:cs typeface="Amazon Ember" panose="020B0603020204020204" pitchFamily="34" charset="0"/>
            </a:endParaRPr>
          </a:p>
        </p:txBody>
      </p:sp>
      <p:sp>
        <p:nvSpPr>
          <p:cNvPr id="60" name="Content Placeholder 31">
            <a:extLst>
              <a:ext uri="{FF2B5EF4-FFF2-40B4-BE49-F238E27FC236}">
                <a16:creationId xmlns:a16="http://schemas.microsoft.com/office/drawing/2014/main" id="{CDE3C7D3-5486-548B-686E-AC62325BE1E1}"/>
              </a:ext>
            </a:extLst>
          </p:cNvPr>
          <p:cNvSpPr txBox="1">
            <a:spLocks/>
          </p:cNvSpPr>
          <p:nvPr/>
        </p:nvSpPr>
        <p:spPr>
          <a:xfrm>
            <a:off x="4765128" y="3354283"/>
            <a:ext cx="4064548" cy="1184081"/>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Font typeface="Arial" panose="020B0604020202020204" pitchFamily="34" charset="0"/>
              <a:buNone/>
            </a:pPr>
            <a:r>
              <a:rPr lang="en-US" sz="1350" b="1">
                <a:solidFill>
                  <a:schemeClr val="accent1"/>
                </a:solidFill>
                <a:latin typeface="+mn-lt"/>
                <a:ea typeface="Amazon Ember" panose="020B0603020204020204" pitchFamily="34" charset="0"/>
                <a:cs typeface="Amazon Ember" panose="020B0603020204020204" pitchFamily="34" charset="0"/>
              </a:rPr>
              <a:t>Choose Amazon EC2: </a:t>
            </a:r>
          </a:p>
          <a:p>
            <a:pPr marL="214313" indent="-214313">
              <a:spcBef>
                <a:spcPts val="450"/>
              </a:spcBef>
            </a:pPr>
            <a:r>
              <a:rPr lang="en-US" sz="1200">
                <a:latin typeface="+mn-lt"/>
              </a:rPr>
              <a:t>More predictable resource requirements, or the option of using reserved instances to reduce costs</a:t>
            </a:r>
          </a:p>
          <a:p>
            <a:pPr marL="214313" indent="-214313">
              <a:spcBef>
                <a:spcPts val="450"/>
              </a:spcBef>
            </a:pPr>
            <a:r>
              <a:rPr lang="en-US" sz="1200">
                <a:latin typeface="+mn-lt"/>
              </a:rPr>
              <a:t>Large workloads that are optimized for price</a:t>
            </a:r>
          </a:p>
          <a:p>
            <a:pPr marL="214313" indent="-214313">
              <a:spcBef>
                <a:spcPts val="450"/>
              </a:spcBef>
            </a:pPr>
            <a:r>
              <a:rPr lang="en-US" sz="1200">
                <a:latin typeface="+mn-lt"/>
              </a:rPr>
              <a:t>Compliance with organizational security requirements</a:t>
            </a:r>
          </a:p>
          <a:p>
            <a:pPr marL="214313" indent="-214313">
              <a:spcBef>
                <a:spcPts val="450"/>
              </a:spcBef>
            </a:pPr>
            <a:r>
              <a:rPr lang="en-US" sz="1200">
                <a:latin typeface="+mn-lt"/>
              </a:rPr>
              <a:t>Excess Amazon EC2 capacity</a:t>
            </a:r>
            <a:endParaRPr lang="en-US" sz="1013">
              <a:latin typeface="+mn-lt"/>
            </a:endParaRPr>
          </a:p>
        </p:txBody>
      </p:sp>
    </p:spTree>
    <p:custDataLst>
      <p:tags r:id="rId1"/>
    </p:custDataLst>
    <p:extLst>
      <p:ext uri="{BB962C8B-B14F-4D97-AF65-F5344CB8AC3E}">
        <p14:creationId xmlns:p14="http://schemas.microsoft.com/office/powerpoint/2010/main" val="740279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13</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a:t>Creating an Amazon ECR repository and pushing an image</a:t>
            </a:r>
          </a:p>
        </p:txBody>
      </p:sp>
      <p:sp>
        <p:nvSpPr>
          <p:cNvPr id="10" name="Content Placeholder 9">
            <a:extLst>
              <a:ext uri="{FF2B5EF4-FFF2-40B4-BE49-F238E27FC236}">
                <a16:creationId xmlns:a16="http://schemas.microsoft.com/office/drawing/2014/main" id="{FBDFA590-850A-4255-8C2F-63232B7CE79C}"/>
              </a:ext>
            </a:extLst>
          </p:cNvPr>
          <p:cNvSpPr>
            <a:spLocks noGrp="1"/>
          </p:cNvSpPr>
          <p:nvPr>
            <p:ph idx="2"/>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lvl="0" indent="0">
              <a:spcAft>
                <a:spcPts val="0"/>
              </a:spcAft>
              <a:buNone/>
            </a:pPr>
            <a:r>
              <a:rPr lang="en-US" sz="1200" b="1">
                <a:solidFill>
                  <a:srgbClr val="005276"/>
                </a:solidFill>
                <a:latin typeface="Lucida Console" panose="020B0609040504020204" pitchFamily="49" charset="0"/>
                <a:ea typeface="+mn-ea"/>
                <a:cs typeface="Courier New" panose="02070309020205020404" pitchFamily="49" charset="0"/>
              </a:rPr>
              <a:t># Create a repository called hello-world</a:t>
            </a:r>
          </a:p>
          <a:p>
            <a:pPr marL="0" lvl="0" indent="0">
              <a:spcAft>
                <a:spcPts val="0"/>
              </a:spcAft>
              <a:buNone/>
            </a:pPr>
            <a:r>
              <a:rPr lang="en-US" sz="1200">
                <a:solidFill>
                  <a:prstClr val="black"/>
                </a:solidFill>
                <a:latin typeface="Lucida Console" panose="020B0609040504020204" pitchFamily="49" charset="0"/>
                <a:ea typeface="+mn-ea"/>
                <a:cs typeface="Courier New" panose="02070309020205020404" pitchFamily="49" charset="0"/>
              </a:rPr>
              <a:t>&gt; </a:t>
            </a:r>
            <a:r>
              <a:rPr lang="en-US" sz="1200" err="1">
                <a:solidFill>
                  <a:srgbClr val="000000"/>
                </a:solidFill>
                <a:latin typeface="Lucida Console" panose="020B0609040504020204" pitchFamily="49" charset="0"/>
                <a:ea typeface="+mn-ea"/>
                <a:cs typeface="Courier New" panose="02070309020205020404" pitchFamily="49" charset="0"/>
              </a:rPr>
              <a:t>aws</a:t>
            </a:r>
            <a:r>
              <a:rPr lang="en-US" sz="1200">
                <a:solidFill>
                  <a:srgbClr val="000000"/>
                </a:solidFill>
                <a:latin typeface="Lucida Console" panose="020B0609040504020204" pitchFamily="49" charset="0"/>
                <a:ea typeface="+mn-ea"/>
                <a:cs typeface="Courier New" panose="02070309020205020404" pitchFamily="49" charset="0"/>
              </a:rPr>
              <a:t> </a:t>
            </a:r>
            <a:r>
              <a:rPr lang="en-US" sz="1200" err="1">
                <a:solidFill>
                  <a:srgbClr val="000000"/>
                </a:solidFill>
                <a:latin typeface="Lucida Console" panose="020B0609040504020204" pitchFamily="49" charset="0"/>
                <a:ea typeface="+mn-ea"/>
                <a:cs typeface="Courier New" panose="02070309020205020404" pitchFamily="49" charset="0"/>
              </a:rPr>
              <a:t>ecr</a:t>
            </a:r>
            <a:r>
              <a:rPr lang="en-US" sz="1200">
                <a:solidFill>
                  <a:prstClr val="black"/>
                </a:solidFill>
                <a:latin typeface="Lucida Console" panose="020B0609040504020204" pitchFamily="49" charset="0"/>
                <a:ea typeface="+mn-ea"/>
                <a:cs typeface="Courier New" panose="02070309020205020404" pitchFamily="49" charset="0"/>
              </a:rPr>
              <a:t> create-repository \</a:t>
            </a:r>
            <a:endParaRPr lang="en-US" sz="1200">
              <a:solidFill>
                <a:srgbClr val="000000"/>
              </a:solidFill>
              <a:latin typeface="Lucida Console" panose="020B0609040504020204" pitchFamily="49" charset="0"/>
              <a:ea typeface="+mn-ea"/>
              <a:cs typeface="Courier New" panose="02070309020205020404" pitchFamily="49" charset="0"/>
            </a:endParaRPr>
          </a:p>
          <a:p>
            <a:pPr marL="0" lvl="0" indent="0">
              <a:spcAft>
                <a:spcPts val="0"/>
              </a:spcAft>
              <a:buNone/>
            </a:pPr>
            <a:r>
              <a:rPr lang="en-US" sz="1200">
                <a:solidFill>
                  <a:srgbClr val="000000"/>
                </a:solidFill>
                <a:latin typeface="Lucida Console" panose="020B0609040504020204" pitchFamily="49" charset="0"/>
                <a:ea typeface="+mn-ea"/>
                <a:cs typeface="Courier New" panose="02070309020205020404" pitchFamily="49" charset="0"/>
              </a:rPr>
              <a:t>    --repository-name hello-world \</a:t>
            </a:r>
          </a:p>
          <a:p>
            <a:pPr marL="0" lvl="0" indent="0">
              <a:spcAft>
                <a:spcPts val="0"/>
              </a:spcAft>
              <a:buNone/>
            </a:pPr>
            <a:r>
              <a:rPr lang="en-US" sz="1200">
                <a:solidFill>
                  <a:srgbClr val="000000"/>
                </a:solidFill>
                <a:latin typeface="Lucida Console" panose="020B0609040504020204" pitchFamily="49" charset="0"/>
                <a:ea typeface="+mn-ea"/>
                <a:cs typeface="Courier New" panose="02070309020205020404" pitchFamily="49" charset="0"/>
              </a:rPr>
              <a:t>    --region us-east-1</a:t>
            </a:r>
          </a:p>
          <a:p>
            <a:pPr marL="0" lvl="0" indent="0">
              <a:spcAft>
                <a:spcPts val="0"/>
              </a:spcAft>
              <a:buNone/>
            </a:pPr>
            <a:endParaRPr lang="en-US" sz="1200">
              <a:solidFill>
                <a:srgbClr val="19594E"/>
              </a:solidFill>
              <a:latin typeface="Lucida Console" panose="020B0609040504020204" pitchFamily="49" charset="0"/>
              <a:ea typeface="+mn-ea"/>
              <a:cs typeface="Courier New" panose="02070309020205020404" pitchFamily="49" charset="0"/>
            </a:endParaRPr>
          </a:p>
          <a:p>
            <a:pPr marL="0" lvl="0" indent="0">
              <a:spcAft>
                <a:spcPts val="0"/>
              </a:spcAft>
              <a:buNone/>
            </a:pPr>
            <a:r>
              <a:rPr lang="en-US" sz="1200" b="1">
                <a:solidFill>
                  <a:srgbClr val="005276"/>
                </a:solidFill>
                <a:latin typeface="Lucida Console" panose="020B0609040504020204" pitchFamily="49" charset="0"/>
                <a:ea typeface="+mn-ea"/>
                <a:cs typeface="Courier New" panose="02070309020205020404" pitchFamily="49" charset="0"/>
              </a:rPr>
              <a:t># Build and tag an image</a:t>
            </a:r>
          </a:p>
          <a:p>
            <a:pPr marL="0" lvl="0" indent="0">
              <a:spcAft>
                <a:spcPts val="0"/>
              </a:spcAft>
              <a:buNone/>
            </a:pPr>
            <a:r>
              <a:rPr lang="en-US" sz="1200">
                <a:solidFill>
                  <a:prstClr val="black"/>
                </a:solidFill>
                <a:latin typeface="Lucida Console" panose="020B0609040504020204" pitchFamily="49" charset="0"/>
                <a:ea typeface="+mn-ea"/>
                <a:cs typeface="Courier New" panose="02070309020205020404" pitchFamily="49" charset="0"/>
              </a:rPr>
              <a:t>&gt; </a:t>
            </a:r>
            <a:r>
              <a:rPr lang="en-US" sz="1200">
                <a:solidFill>
                  <a:srgbClr val="000000"/>
                </a:solidFill>
                <a:latin typeface="Lucida Console" panose="020B0609040504020204" pitchFamily="49" charset="0"/>
                <a:ea typeface="+mn-ea"/>
                <a:cs typeface="Courier New" panose="02070309020205020404" pitchFamily="49" charset="0"/>
              </a:rPr>
              <a:t>docker build</a:t>
            </a:r>
            <a:r>
              <a:rPr lang="en-US" sz="1200">
                <a:solidFill>
                  <a:prstClr val="black"/>
                </a:solidFill>
                <a:latin typeface="Lucida Console" panose="020B0609040504020204" pitchFamily="49" charset="0"/>
                <a:ea typeface="+mn-ea"/>
                <a:cs typeface="Courier New" panose="02070309020205020404" pitchFamily="49" charset="0"/>
              </a:rPr>
              <a:t> </a:t>
            </a:r>
            <a:r>
              <a:rPr lang="en-US" sz="1200">
                <a:solidFill>
                  <a:srgbClr val="000000"/>
                </a:solidFill>
                <a:latin typeface="Lucida Console" panose="020B0609040504020204" pitchFamily="49" charset="0"/>
                <a:ea typeface="+mn-ea"/>
                <a:cs typeface="Courier New" panose="02070309020205020404" pitchFamily="49" charset="0"/>
              </a:rPr>
              <a:t>-t hello-world .</a:t>
            </a:r>
          </a:p>
          <a:p>
            <a:pPr marL="0" lvl="0" indent="0">
              <a:spcAft>
                <a:spcPts val="0"/>
              </a:spcAft>
              <a:buNone/>
            </a:pPr>
            <a:r>
              <a:rPr lang="en-US" sz="1200">
                <a:solidFill>
                  <a:prstClr val="black"/>
                </a:solidFill>
                <a:latin typeface="Lucida Console" panose="020B0609040504020204" pitchFamily="49" charset="0"/>
                <a:ea typeface="+mn-ea"/>
                <a:cs typeface="Courier New" panose="02070309020205020404" pitchFamily="49" charset="0"/>
              </a:rPr>
              <a:t>&gt; docker tag </a:t>
            </a:r>
            <a:r>
              <a:rPr lang="en-US" sz="1200" err="1">
                <a:solidFill>
                  <a:prstClr val="black"/>
                </a:solidFill>
                <a:latin typeface="Lucida Console" panose="020B0609040504020204" pitchFamily="49" charset="0"/>
                <a:ea typeface="+mn-ea"/>
                <a:cs typeface="Courier New" panose="02070309020205020404" pitchFamily="49" charset="0"/>
              </a:rPr>
              <a:t>hello-world:latest</a:t>
            </a:r>
            <a:r>
              <a:rPr lang="en-US" sz="1200">
                <a:solidFill>
                  <a:prstClr val="black"/>
                </a:solidFill>
                <a:latin typeface="Lucida Console" panose="020B0609040504020204" pitchFamily="49" charset="0"/>
                <a:ea typeface="+mn-ea"/>
                <a:cs typeface="Courier New" panose="02070309020205020404" pitchFamily="49" charset="0"/>
              </a:rPr>
              <a:t> aws_account_id.dkr.ecr.us-east-1.amazonaws.com/</a:t>
            </a:r>
            <a:r>
              <a:rPr lang="en-US" sz="1200" err="1">
                <a:solidFill>
                  <a:prstClr val="black"/>
                </a:solidFill>
                <a:latin typeface="Lucida Console" panose="020B0609040504020204" pitchFamily="49" charset="0"/>
                <a:ea typeface="+mn-ea"/>
                <a:cs typeface="Courier New" panose="02070309020205020404" pitchFamily="49" charset="0"/>
              </a:rPr>
              <a:t>hello-world:latest</a:t>
            </a:r>
            <a:endParaRPr lang="en-US" sz="1200">
              <a:solidFill>
                <a:prstClr val="black"/>
              </a:solidFill>
              <a:latin typeface="Lucida Console" panose="020B0609040504020204" pitchFamily="49" charset="0"/>
              <a:ea typeface="+mn-ea"/>
              <a:cs typeface="Courier New" panose="02070309020205020404" pitchFamily="49" charset="0"/>
            </a:endParaRPr>
          </a:p>
          <a:p>
            <a:pPr marL="0" lvl="0" indent="0">
              <a:spcAft>
                <a:spcPts val="0"/>
              </a:spcAft>
              <a:buNone/>
            </a:pPr>
            <a:endParaRPr lang="en-US" sz="1200">
              <a:solidFill>
                <a:prstClr val="black"/>
              </a:solidFill>
              <a:latin typeface="Lucida Console" panose="020B0609040504020204" pitchFamily="49" charset="0"/>
              <a:ea typeface="+mn-ea"/>
              <a:cs typeface="Courier New" panose="02070309020205020404" pitchFamily="49" charset="0"/>
            </a:endParaRPr>
          </a:p>
          <a:p>
            <a:pPr marL="0" lvl="0" indent="0">
              <a:spcAft>
                <a:spcPts val="0"/>
              </a:spcAft>
              <a:buNone/>
            </a:pPr>
            <a:r>
              <a:rPr lang="en-US" sz="1200" b="1">
                <a:solidFill>
                  <a:srgbClr val="005276"/>
                </a:solidFill>
                <a:latin typeface="Lucida Console" panose="020B0609040504020204" pitchFamily="49" charset="0"/>
                <a:ea typeface="+mn-ea"/>
                <a:cs typeface="Courier New" panose="02070309020205020404" pitchFamily="49" charset="0"/>
              </a:rPr>
              <a:t># Authenticate Docker to your Amazon ECR registry</a:t>
            </a:r>
          </a:p>
          <a:p>
            <a:pPr marL="0" lvl="0" indent="0">
              <a:spcAft>
                <a:spcPts val="0"/>
              </a:spcAft>
              <a:buNone/>
            </a:pPr>
            <a:r>
              <a:rPr lang="en-US" sz="1200" b="1">
                <a:solidFill>
                  <a:srgbClr val="005276"/>
                </a:solidFill>
                <a:latin typeface="Lucida Console" panose="020B0609040504020204" pitchFamily="49" charset="0"/>
                <a:ea typeface="+mn-ea"/>
                <a:cs typeface="Courier New" panose="02070309020205020404" pitchFamily="49" charset="0"/>
              </a:rPr>
              <a:t># You can skip the `docker login` step if you have amazon-</a:t>
            </a:r>
            <a:r>
              <a:rPr lang="en-US" sz="1200" b="1" err="1">
                <a:solidFill>
                  <a:srgbClr val="005276"/>
                </a:solidFill>
                <a:latin typeface="Lucida Console" panose="020B0609040504020204" pitchFamily="49" charset="0"/>
                <a:ea typeface="+mn-ea"/>
                <a:cs typeface="Courier New" panose="02070309020205020404" pitchFamily="49" charset="0"/>
              </a:rPr>
              <a:t>ecr</a:t>
            </a:r>
            <a:r>
              <a:rPr lang="en-US" sz="1200" b="1">
                <a:solidFill>
                  <a:srgbClr val="005276"/>
                </a:solidFill>
                <a:latin typeface="Lucida Console" panose="020B0609040504020204" pitchFamily="49" charset="0"/>
                <a:ea typeface="+mn-ea"/>
                <a:cs typeface="Courier New" panose="02070309020205020404" pitchFamily="49" charset="0"/>
              </a:rPr>
              <a:t>-credential-helper set up </a:t>
            </a:r>
          </a:p>
          <a:p>
            <a:pPr marL="0" lvl="0" indent="0">
              <a:spcAft>
                <a:spcPts val="0"/>
              </a:spcAft>
              <a:buNone/>
            </a:pPr>
            <a:r>
              <a:rPr lang="en-US" sz="1200">
                <a:solidFill>
                  <a:prstClr val="black"/>
                </a:solidFill>
                <a:latin typeface="Lucida Console" panose="020B0609040504020204" pitchFamily="49" charset="0"/>
                <a:ea typeface="+mn-ea"/>
                <a:cs typeface="Courier New" panose="02070309020205020404" pitchFamily="49" charset="0"/>
              </a:rPr>
              <a:t>&gt; </a:t>
            </a:r>
            <a:r>
              <a:rPr lang="en-US" sz="1200" err="1">
                <a:solidFill>
                  <a:prstClr val="black"/>
                </a:solidFill>
                <a:latin typeface="Lucida Console" panose="020B0609040504020204" pitchFamily="49" charset="0"/>
                <a:ea typeface="+mn-ea"/>
                <a:cs typeface="Courier New" panose="02070309020205020404" pitchFamily="49" charset="0"/>
              </a:rPr>
              <a:t>aws</a:t>
            </a:r>
            <a:r>
              <a:rPr lang="en-US" sz="1200">
                <a:solidFill>
                  <a:prstClr val="black"/>
                </a:solidFill>
                <a:latin typeface="Lucida Console" panose="020B0609040504020204" pitchFamily="49" charset="0"/>
                <a:ea typeface="+mn-ea"/>
                <a:cs typeface="Courier New" panose="02070309020205020404" pitchFamily="49" charset="0"/>
              </a:rPr>
              <a:t> </a:t>
            </a:r>
            <a:r>
              <a:rPr lang="en-US" sz="1200" err="1">
                <a:solidFill>
                  <a:prstClr val="black"/>
                </a:solidFill>
                <a:latin typeface="Lucida Console" panose="020B0609040504020204" pitchFamily="49" charset="0"/>
                <a:ea typeface="+mn-ea"/>
                <a:cs typeface="Courier New" panose="02070309020205020404" pitchFamily="49" charset="0"/>
              </a:rPr>
              <a:t>ecr</a:t>
            </a:r>
            <a:r>
              <a:rPr lang="en-US" sz="1200">
                <a:solidFill>
                  <a:prstClr val="black"/>
                </a:solidFill>
                <a:latin typeface="Lucida Console" panose="020B0609040504020204" pitchFamily="49" charset="0"/>
                <a:ea typeface="+mn-ea"/>
                <a:cs typeface="Courier New" panose="02070309020205020404" pitchFamily="49" charset="0"/>
              </a:rPr>
              <a:t> get-login-password --region </a:t>
            </a:r>
            <a:r>
              <a:rPr lang="en-US" sz="1200" err="1">
                <a:solidFill>
                  <a:prstClr val="black"/>
                </a:solidFill>
                <a:latin typeface="Lucida Console" panose="020B0609040504020204" pitchFamily="49" charset="0"/>
                <a:ea typeface="+mn-ea"/>
                <a:cs typeface="Courier New" panose="02070309020205020404" pitchFamily="49" charset="0"/>
              </a:rPr>
              <a:t>region</a:t>
            </a:r>
            <a:r>
              <a:rPr lang="en-US" sz="1200">
                <a:solidFill>
                  <a:prstClr val="black"/>
                </a:solidFill>
                <a:latin typeface="Lucida Console" panose="020B0609040504020204" pitchFamily="49" charset="0"/>
                <a:ea typeface="+mn-ea"/>
                <a:cs typeface="Courier New" panose="02070309020205020404" pitchFamily="49" charset="0"/>
              </a:rPr>
              <a:t> | docker login --username AWS --password-stdin aws_account_id.dkr.ecr.region.amazonaws.com</a:t>
            </a:r>
          </a:p>
          <a:p>
            <a:pPr marL="0" lvl="0" indent="0">
              <a:spcAft>
                <a:spcPts val="0"/>
              </a:spcAft>
              <a:buNone/>
            </a:pPr>
            <a:endParaRPr lang="en-US" sz="1200">
              <a:solidFill>
                <a:prstClr val="black"/>
              </a:solidFill>
              <a:latin typeface="Lucida Console" panose="020B0609040504020204" pitchFamily="49" charset="0"/>
              <a:ea typeface="+mn-ea"/>
              <a:cs typeface="Courier New" panose="02070309020205020404" pitchFamily="49" charset="0"/>
            </a:endParaRPr>
          </a:p>
          <a:p>
            <a:pPr marL="0" lvl="0" indent="0">
              <a:spcAft>
                <a:spcPts val="0"/>
              </a:spcAft>
              <a:buNone/>
            </a:pPr>
            <a:r>
              <a:rPr lang="en-US" sz="1200" b="1">
                <a:solidFill>
                  <a:srgbClr val="005276"/>
                </a:solidFill>
                <a:latin typeface="Lucida Console" panose="020B0609040504020204" pitchFamily="49" charset="0"/>
                <a:ea typeface="+mn-ea"/>
                <a:cs typeface="Courier New" panose="02070309020205020404" pitchFamily="49" charset="0"/>
              </a:rPr>
              <a:t># Push an image to your repository</a:t>
            </a:r>
          </a:p>
          <a:p>
            <a:pPr marL="0" lvl="0" indent="0">
              <a:spcAft>
                <a:spcPts val="0"/>
              </a:spcAft>
              <a:buNone/>
            </a:pPr>
            <a:r>
              <a:rPr lang="en-US" sz="1200">
                <a:solidFill>
                  <a:prstClr val="black"/>
                </a:solidFill>
                <a:latin typeface="Lucida Console" panose="020B0609040504020204" pitchFamily="49" charset="0"/>
                <a:ea typeface="+mn-ea"/>
                <a:cs typeface="Courier New" panose="02070309020205020404" pitchFamily="49" charset="0"/>
              </a:rPr>
              <a:t>&gt; </a:t>
            </a:r>
            <a:r>
              <a:rPr lang="en-US" sz="1200">
                <a:solidFill>
                  <a:srgbClr val="000000"/>
                </a:solidFill>
                <a:latin typeface="Lucida Console" panose="020B0609040504020204" pitchFamily="49" charset="0"/>
                <a:ea typeface="+mn-ea"/>
                <a:cs typeface="Courier New" panose="02070309020205020404" pitchFamily="49" charset="0"/>
              </a:rPr>
              <a:t>docker push aws_account_id.dkr.ecr.us-east-1.amazonaws.com/</a:t>
            </a:r>
            <a:r>
              <a:rPr lang="en-US" sz="1200" err="1">
                <a:solidFill>
                  <a:srgbClr val="000000"/>
                </a:solidFill>
                <a:latin typeface="Lucida Console" panose="020B0609040504020204" pitchFamily="49" charset="0"/>
                <a:ea typeface="+mn-ea"/>
                <a:cs typeface="Courier New" panose="02070309020205020404" pitchFamily="49" charset="0"/>
              </a:rPr>
              <a:t>hello-world:latest</a:t>
            </a:r>
            <a:endParaRPr lang="en-US" sz="1200">
              <a:solidFill>
                <a:srgbClr val="000000"/>
              </a:solidFill>
              <a:latin typeface="Lucida Console" panose="020B0609040504020204" pitchFamily="49" charset="0"/>
              <a:ea typeface="+mn-ea"/>
              <a:cs typeface="Courier New" panose="02070309020205020404" pitchFamily="49" charset="0"/>
            </a:endParaRPr>
          </a:p>
        </p:txBody>
      </p:sp>
    </p:spTree>
    <p:custDataLst>
      <p:tags r:id="rId1"/>
    </p:custDataLst>
    <p:extLst>
      <p:ext uri="{BB962C8B-B14F-4D97-AF65-F5344CB8AC3E}">
        <p14:creationId xmlns:p14="http://schemas.microsoft.com/office/powerpoint/2010/main" val="2898753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14</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EKS</a:t>
            </a:r>
          </a:p>
        </p:txBody>
      </p:sp>
      <p:pic>
        <p:nvPicPr>
          <p:cNvPr id="11" name="Picture Placeholder 10">
            <a:extLst>
              <a:ext uri="{FF2B5EF4-FFF2-40B4-BE49-F238E27FC236}">
                <a16:creationId xmlns:a16="http://schemas.microsoft.com/office/drawing/2014/main" id="{0784916D-F287-46EC-B715-1CAFF4866D72}"/>
              </a:ext>
              <a:ext uri="{C183D7F6-B498-43B3-948B-1728B52AA6E4}">
                <adec:decorative xmlns:adec="http://schemas.microsoft.com/office/drawing/2017/decorative" val="1"/>
              </a:ext>
            </a:extLst>
          </p:cNvPr>
          <p:cNvPicPr>
            <a:picLocks noGrp="1" noChangeAspect="1"/>
          </p:cNvPicPr>
          <p:nvPr>
            <p:ph type="pic" idx="3"/>
          </p:nvPr>
        </p:nvPicPr>
        <p:blipFill>
          <a:blip r:embed="rId4"/>
          <a:srcRect/>
          <a:stretch>
            <a:fillRect/>
          </a:stretch>
        </p:blipFill>
        <p:spPr/>
      </p:pic>
      <p:sp>
        <p:nvSpPr>
          <p:cNvPr id="10" name="Text Placeholder 9">
            <a:extLst>
              <a:ext uri="{FF2B5EF4-FFF2-40B4-BE49-F238E27FC236}">
                <a16:creationId xmlns:a16="http://schemas.microsoft.com/office/drawing/2014/main" id="{C0C1D2DB-14C4-4EE3-B69A-E168AFB38F17}"/>
              </a:ext>
            </a:extLst>
          </p:cNvPr>
          <p:cNvSpPr>
            <a:spLocks noGrp="1"/>
          </p:cNvSpPr>
          <p:nvPr>
            <p:ph type="body" idx="4"/>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r>
              <a:rPr lang="en-US"/>
              <a:t>Amazon Elastic Kubernetes Service (Amazon EKS)</a:t>
            </a:r>
          </a:p>
          <a:p>
            <a:endParaRPr lang="en-US"/>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a:t>Managed service that runs Kubernetes on the AWS Cloud</a:t>
            </a:r>
          </a:p>
          <a:p>
            <a:pPr lvl="1"/>
            <a:r>
              <a:rPr lang="en-US"/>
              <a:t>Built with the Kubernetes community</a:t>
            </a:r>
          </a:p>
          <a:p>
            <a:pPr lvl="1"/>
            <a:r>
              <a:rPr lang="en-US"/>
              <a:t>Conformant and compatible</a:t>
            </a:r>
          </a:p>
          <a:p>
            <a:pPr lvl="1"/>
            <a:r>
              <a:rPr lang="en-US"/>
              <a:t>Secure by default</a:t>
            </a:r>
          </a:p>
        </p:txBody>
      </p:sp>
    </p:spTree>
    <p:custDataLst>
      <p:tags r:id="rId1"/>
    </p:custDataLst>
    <p:extLst>
      <p:ext uri="{BB962C8B-B14F-4D97-AF65-F5344CB8AC3E}">
        <p14:creationId xmlns:p14="http://schemas.microsoft.com/office/powerpoint/2010/main" val="2516469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15</a:t>
            </a:fld>
            <a:endParaRPr lang="en-US"/>
          </a:p>
        </p:txBody>
      </p:sp>
      <p:sp>
        <p:nvSpPr>
          <p:cNvPr id="3" name="Title 2">
            <a:extLst>
              <a:ext uri="{FF2B5EF4-FFF2-40B4-BE49-F238E27FC236}">
                <a16:creationId xmlns:a16="http://schemas.microsoft.com/office/drawing/2014/main" id="{3BE02FE7-A6FA-4689-A30C-628FCBC12A88}"/>
              </a:ext>
              <a:ext uri="{C183D7F6-B498-43B3-948B-1728B52AA6E4}">
                <adec:decorative xmlns:adec="http://schemas.microsoft.com/office/drawing/2017/decorative" val="1"/>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Amazon EKS</a:t>
            </a:r>
          </a:p>
        </p:txBody>
      </p:sp>
      <p:pic>
        <p:nvPicPr>
          <p:cNvPr id="10" name="Content Placeholder 9" descr="Block diagram shows provision of Amazon EKS cluster, Fargate and EC2 nodes deployed, and connection to run Kubernetes apps.">
            <a:extLst>
              <a:ext uri="{FF2B5EF4-FFF2-40B4-BE49-F238E27FC236}">
                <a16:creationId xmlns:a16="http://schemas.microsoft.com/office/drawing/2014/main" id="{1D4A69A4-193C-4696-91BB-8000330FC0D7}"/>
              </a:ext>
            </a:extLst>
          </p:cNvPr>
          <p:cNvPicPr>
            <a:picLocks noGrp="1" noChangeAspect="1"/>
          </p:cNvPicPr>
          <p:nvPr>
            <p:ph idx="2"/>
          </p:nvPr>
        </p:nvPicPr>
        <p:blipFill>
          <a:blip r:embed="rId4"/>
          <a:stretch>
            <a:fillRect/>
          </a:stretch>
        </p:blipFill>
        <p:spPr>
          <a:xfrm>
            <a:off x="273844" y="1234952"/>
            <a:ext cx="8599885" cy="3173658"/>
          </a:xfrm>
          <a:prstGeom prst="rect">
            <a:avLst/>
          </a:prstGeom>
        </p:spPr>
      </p:pic>
    </p:spTree>
    <p:custDataLst>
      <p:tags r:id="rId1"/>
    </p:custDataLst>
    <p:extLst>
      <p:ext uri="{BB962C8B-B14F-4D97-AF65-F5344CB8AC3E}">
        <p14:creationId xmlns:p14="http://schemas.microsoft.com/office/powerpoint/2010/main" val="2490299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16</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Elastic Beanstalk</a:t>
            </a:r>
          </a:p>
        </p:txBody>
      </p:sp>
      <p:pic>
        <p:nvPicPr>
          <p:cNvPr id="8" name="Picture Placeholder 7">
            <a:extLst>
              <a:ext uri="{FF2B5EF4-FFF2-40B4-BE49-F238E27FC236}">
                <a16:creationId xmlns:a16="http://schemas.microsoft.com/office/drawing/2014/main" id="{67FCB047-1837-430D-884C-ADE121510648}"/>
              </a:ext>
              <a:ext uri="{C183D7F6-B498-43B3-948B-1728B52AA6E4}">
                <adec:decorative xmlns:adec="http://schemas.microsoft.com/office/drawing/2017/decorative" val="1"/>
              </a:ext>
            </a:extLst>
          </p:cNvPr>
          <p:cNvPicPr>
            <a:picLocks noGrp="1" noChangeAspect="1"/>
          </p:cNvPicPr>
          <p:nvPr>
            <p:ph type="pic" idx="3"/>
          </p:nvPr>
        </p:nvPicPr>
        <p:blipFill>
          <a:blip r:embed="rId4"/>
          <a:srcRect/>
          <a:stretch>
            <a:fillRect/>
          </a:stretch>
        </p:blipFill>
        <p:spPr/>
      </p:pic>
      <p:sp>
        <p:nvSpPr>
          <p:cNvPr id="7" name="Text Placeholder 6">
            <a:extLst>
              <a:ext uri="{FF2B5EF4-FFF2-40B4-BE49-F238E27FC236}">
                <a16:creationId xmlns:a16="http://schemas.microsoft.com/office/drawing/2014/main" id="{18ED2CAE-81D7-49AB-8EFC-72BA17596038}"/>
              </a:ext>
            </a:extLst>
          </p:cNvPr>
          <p:cNvSpPr>
            <a:spLocks noGrp="1"/>
          </p:cNvSpPr>
          <p:nvPr>
            <p:ph type="body" idx="4"/>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r>
              <a:rPr lang="en-US"/>
              <a:t>AWS Elastic Beanstalk</a:t>
            </a:r>
          </a:p>
          <a:p>
            <a:endParaRPr lang="en-US"/>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a:t>Service for deploying and scaling web applications and services </a:t>
            </a:r>
          </a:p>
          <a:p>
            <a:pPr lvl="1"/>
            <a:r>
              <a:rPr lang="en-US"/>
              <a:t>Automatically handles deployment details like capacity provisioning, load balancing, automatic scaling, and application health monitoring</a:t>
            </a:r>
          </a:p>
          <a:p>
            <a:pPr lvl="1"/>
            <a:r>
              <a:rPr lang="en-US"/>
              <a:t>Provides a variety of platforms on which to build your applications</a:t>
            </a:r>
          </a:p>
          <a:p>
            <a:pPr lvl="1"/>
            <a:r>
              <a:rPr lang="en-US"/>
              <a:t>Use to manage all of the resources that run your application as an environment</a:t>
            </a:r>
          </a:p>
        </p:txBody>
      </p:sp>
    </p:spTree>
    <p:custDataLst>
      <p:tags r:id="rId1"/>
    </p:custDataLst>
    <p:extLst>
      <p:ext uri="{BB962C8B-B14F-4D97-AF65-F5344CB8AC3E}">
        <p14:creationId xmlns:p14="http://schemas.microsoft.com/office/powerpoint/2010/main" val="4148654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17</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Elastic Beanstalk components</a:t>
            </a:r>
          </a:p>
        </p:txBody>
      </p:sp>
      <p:graphicFrame>
        <p:nvGraphicFramePr>
          <p:cNvPr id="8" name="Table 2">
            <a:extLst>
              <a:ext uri="{FF2B5EF4-FFF2-40B4-BE49-F238E27FC236}">
                <a16:creationId xmlns:a16="http://schemas.microsoft.com/office/drawing/2014/main" id="{C6C249D6-0F3A-47E6-BFAC-8F6873F18316}"/>
              </a:ext>
            </a:extLst>
          </p:cNvPr>
          <p:cNvGraphicFramePr>
            <a:graphicFrameLocks noGrp="1"/>
          </p:cNvGraphicFramePr>
          <p:nvPr>
            <p:ph idx="2"/>
          </p:nvPr>
        </p:nvGraphicFramePr>
        <p:xfrm>
          <a:off x="273844" y="822723"/>
          <a:ext cx="8599932" cy="3892456"/>
        </p:xfrm>
        <a:graphic>
          <a:graphicData uri="http://schemas.openxmlformats.org/drawingml/2006/table">
            <a:tbl>
              <a:tblPr firstRow="1" bandRow="1">
                <a:tableStyleId>{5C22544A-7EE6-4342-B048-85BDC9FD1C3A}</a:tableStyleId>
              </a:tblPr>
              <a:tblGrid>
                <a:gridCol w="1516380">
                  <a:extLst>
                    <a:ext uri="{9D8B030D-6E8A-4147-A177-3AD203B41FA5}">
                      <a16:colId xmlns:a16="http://schemas.microsoft.com/office/drawing/2014/main" val="20000"/>
                    </a:ext>
                  </a:extLst>
                </a:gridCol>
                <a:gridCol w="7083552">
                  <a:extLst>
                    <a:ext uri="{9D8B030D-6E8A-4147-A177-3AD203B41FA5}">
                      <a16:colId xmlns:a16="http://schemas.microsoft.com/office/drawing/2014/main" val="20001"/>
                    </a:ext>
                  </a:extLst>
                </a:gridCol>
              </a:tblGrid>
              <a:tr h="262236">
                <a:tc>
                  <a:txBody>
                    <a:bodyPr/>
                    <a:lstStyle/>
                    <a:p>
                      <a:r>
                        <a:rPr lang="en-US" sz="1400">
                          <a:solidFill>
                            <a:schemeClr val="bg1"/>
                          </a:solidFill>
                          <a:latin typeface="+mn-lt"/>
                        </a:rPr>
                        <a:t>Command</a:t>
                      </a:r>
                      <a:endParaRPr lang="en-US" sz="1400" b="0">
                        <a:solidFill>
                          <a:schemeClr val="bg1"/>
                        </a:solidFill>
                        <a:latin typeface="+mn-lt"/>
                      </a:endParaRPr>
                    </a:p>
                  </a:txBody>
                  <a:tcPr marL="112979" marR="56489" marT="28248" marB="28248" anchor="ctr"/>
                </a:tc>
                <a:tc>
                  <a:txBody>
                    <a:bodyPr/>
                    <a:lstStyle/>
                    <a:p>
                      <a:r>
                        <a:rPr lang="en-US" sz="1400" kern="1200">
                          <a:solidFill>
                            <a:schemeClr val="bg1"/>
                          </a:solidFill>
                          <a:latin typeface="+mn-lt"/>
                        </a:rPr>
                        <a:t>Description</a:t>
                      </a:r>
                    </a:p>
                  </a:txBody>
                  <a:tcPr marL="112979" marR="56489" marT="28248" marB="28248" anchor="ctr"/>
                </a:tc>
                <a:extLst>
                  <a:ext uri="{0D108BD9-81ED-4DB2-BD59-A6C34878D82A}">
                    <a16:rowId xmlns:a16="http://schemas.microsoft.com/office/drawing/2014/main" val="10000"/>
                  </a:ext>
                </a:extLst>
              </a:tr>
              <a:tr h="463916">
                <a:tc>
                  <a:txBody>
                    <a:bodyPr/>
                    <a:lstStyle/>
                    <a:p>
                      <a:pPr algn="r"/>
                      <a:r>
                        <a:rPr lang="en-US" sz="1200" b="1">
                          <a:solidFill>
                            <a:schemeClr val="tx1"/>
                          </a:solidFill>
                          <a:latin typeface="+mn-lt"/>
                          <a:ea typeface="Amazon Ember" panose="020B0603020204020204" pitchFamily="34" charset="0"/>
                          <a:cs typeface="Amazon Ember" panose="020B0603020204020204" pitchFamily="34" charset="0"/>
                        </a:rPr>
                        <a:t>Application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Logical collection of Elastic Beanstalk components. Conceptually similar to a folder.</a:t>
                      </a:r>
                    </a:p>
                  </a:txBody>
                  <a:tcPr marL="137160" marR="68580" marT="34290" marB="34290" anchor="ctr"/>
                </a:tc>
                <a:extLst>
                  <a:ext uri="{0D108BD9-81ED-4DB2-BD59-A6C34878D82A}">
                    <a16:rowId xmlns:a16="http://schemas.microsoft.com/office/drawing/2014/main" val="10001"/>
                  </a:ext>
                </a:extLst>
              </a:tr>
              <a:tr h="463916">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Application version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Specific, labeled iteration of deployable code for a web application.</a:t>
                      </a:r>
                    </a:p>
                  </a:txBody>
                  <a:tcPr marL="137160" marR="68580" marT="34290" marB="34290" anchor="ctr"/>
                </a:tc>
                <a:extLst>
                  <a:ext uri="{0D108BD9-81ED-4DB2-BD59-A6C34878D82A}">
                    <a16:rowId xmlns:a16="http://schemas.microsoft.com/office/drawing/2014/main" val="10002"/>
                  </a:ext>
                </a:extLst>
              </a:tr>
              <a:tr h="463916">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Environment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Collection of AWS resources that run an application version.</a:t>
                      </a:r>
                    </a:p>
                  </a:txBody>
                  <a:tcPr marL="137160" marR="68580" marT="34290" marB="34290" anchor="ctr"/>
                </a:tc>
                <a:extLst>
                  <a:ext uri="{0D108BD9-81ED-4DB2-BD59-A6C34878D82A}">
                    <a16:rowId xmlns:a16="http://schemas.microsoft.com/office/drawing/2014/main" val="10003"/>
                  </a:ext>
                </a:extLst>
              </a:tr>
              <a:tr h="463916">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Environment tier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Designation of the type of application that the environment runs. Determines what resources Elastic Beanstalk provisions to support it.</a:t>
                      </a:r>
                    </a:p>
                  </a:txBody>
                  <a:tcPr marL="137160" marR="68580" marT="34290" marB="34290" anchor="ctr"/>
                </a:tc>
                <a:extLst>
                  <a:ext uri="{0D108BD9-81ED-4DB2-BD59-A6C34878D82A}">
                    <a16:rowId xmlns:a16="http://schemas.microsoft.com/office/drawing/2014/main" val="1934270671"/>
                  </a:ext>
                </a:extLst>
              </a:tr>
              <a:tr h="434340">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Environment configuration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Collection of parameters and settings that define how an environment and its associated resources behave.</a:t>
                      </a:r>
                    </a:p>
                  </a:txBody>
                  <a:tcPr marL="137160" marR="68580" marT="34290" marB="34290" anchor="ctr"/>
                </a:tc>
                <a:extLst>
                  <a:ext uri="{0D108BD9-81ED-4DB2-BD59-A6C34878D82A}">
                    <a16:rowId xmlns:a16="http://schemas.microsoft.com/office/drawing/2014/main" val="3265949512"/>
                  </a:ext>
                </a:extLst>
              </a:tr>
              <a:tr h="408887">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Saved configuration </a:t>
                      </a:r>
                    </a:p>
                  </a:txBody>
                  <a:tcPr marL="68580" marR="68580" marT="34290" marB="34290" anchor="ctr"/>
                </a:tc>
                <a:tc>
                  <a:txBody>
                    <a:bodyPr/>
                    <a:lstStyle/>
                    <a:p>
                      <a:r>
                        <a:rPr lang="en-US" sz="1200">
                          <a:latin typeface="+mn-lt"/>
                        </a:rPr>
                        <a:t>Template that you can use as a starting point for creating unique environment configurations.</a:t>
                      </a:r>
                    </a:p>
                  </a:txBody>
                  <a:tcPr marL="137160" marR="68580" marT="34290" marB="34290" anchor="ctr"/>
                </a:tc>
                <a:extLst>
                  <a:ext uri="{0D108BD9-81ED-4DB2-BD59-A6C34878D82A}">
                    <a16:rowId xmlns:a16="http://schemas.microsoft.com/office/drawing/2014/main" val="3889678813"/>
                  </a:ext>
                </a:extLst>
              </a:tr>
              <a:tr h="463916">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Platform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Combination of an OS, programming language runtime, web server, application server, and Elastic Beanstalk components. You design and target your web application to a platform.</a:t>
                      </a:r>
                      <a:endParaRPr lang="en-US" sz="1200" b="1">
                        <a:latin typeface="+mn-lt"/>
                      </a:endParaRPr>
                    </a:p>
                  </a:txBody>
                  <a:tcPr marL="137160" marR="68580" marT="34290" marB="34290" anchor="ctr"/>
                </a:tc>
                <a:extLst>
                  <a:ext uri="{0D108BD9-81ED-4DB2-BD59-A6C34878D82A}">
                    <a16:rowId xmlns:a16="http://schemas.microsoft.com/office/drawing/2014/main" val="3516676675"/>
                  </a:ext>
                </a:extLst>
              </a:tr>
              <a:tr h="434340">
                <a:tc>
                  <a:txBody>
                    <a:bodyPr/>
                    <a:lstStyle/>
                    <a:p>
                      <a:pPr marL="0" algn="r" defTabSz="914400" rtl="0" eaLnBrk="1" latinLnBrk="0" hangingPunct="1"/>
                      <a:r>
                        <a:rPr lang="en-US" sz="1200" b="1" kern="1200">
                          <a:solidFill>
                            <a:schemeClr val="tx1"/>
                          </a:solidFill>
                          <a:latin typeface="+mn-lt"/>
                          <a:ea typeface="Amazon Ember" panose="020B0603020204020204" pitchFamily="34" charset="0"/>
                          <a:cs typeface="Amazon Ember" panose="020B0603020204020204" pitchFamily="34" charset="0"/>
                        </a:rPr>
                        <a:t>Elastic Beanstalk CLI </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mn-lt"/>
                        </a:rPr>
                        <a:t>CLI for Elastic Beanstalk. Provides interactive commands that simplify creating, updating, and monitoring environments from a local repository.</a:t>
                      </a:r>
                    </a:p>
                  </a:txBody>
                  <a:tcPr marL="137160" marR="68580" marT="34290" marB="34290" anchor="ctr"/>
                </a:tc>
                <a:extLst>
                  <a:ext uri="{0D108BD9-81ED-4DB2-BD59-A6C34878D82A}">
                    <a16:rowId xmlns:a16="http://schemas.microsoft.com/office/drawing/2014/main" val="96256566"/>
                  </a:ext>
                </a:extLst>
              </a:tr>
            </a:tbl>
          </a:graphicData>
        </a:graphic>
      </p:graphicFrame>
    </p:spTree>
    <p:custDataLst>
      <p:tags r:id="rId1"/>
    </p:custDataLst>
    <p:extLst>
      <p:ext uri="{BB962C8B-B14F-4D97-AF65-F5344CB8AC3E}">
        <p14:creationId xmlns:p14="http://schemas.microsoft.com/office/powerpoint/2010/main" val="1016245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18</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IAM permissions in Elastic Beanstalk environments</a:t>
            </a:r>
          </a:p>
        </p:txBody>
      </p:sp>
      <p:sp>
        <p:nvSpPr>
          <p:cNvPr id="9" name="Rectangle 8">
            <a:extLst>
              <a:ext uri="{FF2B5EF4-FFF2-40B4-BE49-F238E27FC236}">
                <a16:creationId xmlns:a16="http://schemas.microsoft.com/office/drawing/2014/main" id="{E08BA5DF-2224-1DCC-1202-8D7AE4964B54}"/>
              </a:ext>
            </a:extLst>
          </p:cNvPr>
          <p:cNvSpPr/>
          <p:nvPr/>
        </p:nvSpPr>
        <p:spPr>
          <a:xfrm>
            <a:off x="580427" y="915194"/>
            <a:ext cx="4487046" cy="323165"/>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500" b="1">
                <a:solidFill>
                  <a:schemeClr val="accent2"/>
                </a:solidFill>
              </a:rPr>
              <a:t>IAM roles assigned during environment creation</a:t>
            </a:r>
          </a:p>
        </p:txBody>
      </p:sp>
      <p:sp>
        <p:nvSpPr>
          <p:cNvPr id="8" name="Right Brace 7">
            <a:extLst>
              <a:ext uri="{FF2B5EF4-FFF2-40B4-BE49-F238E27FC236}">
                <a16:creationId xmlns:a16="http://schemas.microsoft.com/office/drawing/2014/main" id="{6D86F399-9BD6-47C8-39F5-5FFE4B1D7028}"/>
              </a:ext>
              <a:ext uri="{C183D7F6-B498-43B3-948B-1728B52AA6E4}">
                <adec:decorative xmlns:adec="http://schemas.microsoft.com/office/drawing/2017/decorative" val="1"/>
              </a:ext>
            </a:extLst>
          </p:cNvPr>
          <p:cNvSpPr/>
          <p:nvPr/>
        </p:nvSpPr>
        <p:spPr>
          <a:xfrm rot="16200000">
            <a:off x="2811213" y="-358896"/>
            <a:ext cx="168859" cy="3352717"/>
          </a:xfrm>
          <a:prstGeom prst="rightBrace">
            <a:avLst>
              <a:gd name="adj1" fmla="val 8333"/>
              <a:gd name="adj2" fmla="val 48363"/>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0" name="Content Placeholder 9">
            <a:extLst>
              <a:ext uri="{FF2B5EF4-FFF2-40B4-BE49-F238E27FC236}">
                <a16:creationId xmlns:a16="http://schemas.microsoft.com/office/drawing/2014/main" id="{CE7DDD0A-2341-CD1C-E5E4-E1A4BE20E9FA}"/>
              </a:ext>
            </a:extLst>
          </p:cNvPr>
          <p:cNvSpPr txBox="1">
            <a:spLocks/>
          </p:cNvSpPr>
          <p:nvPr/>
        </p:nvSpPr>
        <p:spPr>
          <a:xfrm>
            <a:off x="341050" y="1470881"/>
            <a:ext cx="2695194" cy="3039264"/>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Font typeface="Amazon Ember Display"/>
              <a:buNone/>
            </a:pPr>
            <a:r>
              <a:rPr lang="en-US" sz="1013" b="1">
                <a:solidFill>
                  <a:schemeClr val="accent1"/>
                </a:solidFill>
                <a:latin typeface="+mn-lt"/>
                <a:ea typeface="Amazon Ember" panose="020B0603020204020204" pitchFamily="34" charset="0"/>
                <a:cs typeface="Amazon Ember" panose="020B0603020204020204" pitchFamily="34" charset="0"/>
              </a:rPr>
              <a:t>Service Role</a:t>
            </a:r>
          </a:p>
          <a:p>
            <a:r>
              <a:rPr lang="en-US" sz="1500">
                <a:solidFill>
                  <a:schemeClr val="tx1"/>
                </a:solidFill>
                <a:latin typeface="+mn-lt"/>
              </a:rPr>
              <a:t>Assigned during creation </a:t>
            </a:r>
          </a:p>
          <a:p>
            <a:r>
              <a:rPr lang="en-US" sz="1500" b="1">
                <a:solidFill>
                  <a:schemeClr val="tx1"/>
                </a:solidFill>
                <a:latin typeface="+mn-lt"/>
                <a:ea typeface="Amazon Ember" panose="020B0603020204020204" pitchFamily="34" charset="0"/>
                <a:cs typeface="Amazon Ember" panose="020B0603020204020204" pitchFamily="34" charset="0"/>
              </a:rPr>
              <a:t>﻿</a:t>
            </a:r>
            <a:r>
              <a:rPr lang="en-US" sz="1500" b="1">
                <a:solidFill>
                  <a:schemeClr val="accent1"/>
                </a:solidFill>
                <a:latin typeface="+mn-lt"/>
                <a:ea typeface="Amazon Ember" panose="020B0603020204020204" pitchFamily="34" charset="0"/>
                <a:cs typeface="Amazon Ember" panose="020B0603020204020204" pitchFamily="34" charset="0"/>
              </a:rPr>
              <a:t>Elastic Beanstalk assumes </a:t>
            </a:r>
            <a:r>
              <a:rPr lang="en-US" sz="1500">
                <a:solidFill>
                  <a:schemeClr val="tx1"/>
                </a:solidFill>
                <a:latin typeface="+mn-lt"/>
                <a:ea typeface="Amazon Ember" panose="020B0603020204020204" pitchFamily="34" charset="0"/>
                <a:cs typeface="Amazon Ember" panose="020B0603020204020204" pitchFamily="34" charset="0"/>
              </a:rPr>
              <a:t>that it uses other services on your behalf</a:t>
            </a:r>
          </a:p>
          <a:p>
            <a:r>
              <a:rPr lang="en-US" sz="1500">
                <a:solidFill>
                  <a:schemeClr val="tx1"/>
                </a:solidFill>
                <a:latin typeface="+mn-lt"/>
                <a:ea typeface="Amazon Ember" panose="020B0603020204020204" pitchFamily="34" charset="0"/>
                <a:cs typeface="Amazon Ember" panose="020B0603020204020204" pitchFamily="34" charset="0"/>
              </a:rPr>
              <a:t>Default service role:</a:t>
            </a:r>
          </a:p>
          <a:p>
            <a:pPr lvl="1"/>
            <a:r>
              <a:rPr lang="en-US" sz="1350" b="1" err="1">
                <a:solidFill>
                  <a:schemeClr val="tx1"/>
                </a:solidFill>
                <a:latin typeface="Lucida Console" panose="020B0609040504020204" pitchFamily="49" charset="0"/>
                <a:ea typeface="Amazon Ember" panose="020B0603020204020204" pitchFamily="34" charset="0"/>
                <a:cs typeface="Amazon Ember" panose="020B0603020204020204" pitchFamily="34" charset="0"/>
              </a:rPr>
              <a:t>aws</a:t>
            </a:r>
            <a:r>
              <a:rPr lang="en-US" sz="1350" b="1">
                <a:solidFill>
                  <a:schemeClr val="tx1"/>
                </a:solidFill>
                <a:latin typeface="Lucida Console" panose="020B0609040504020204" pitchFamily="49" charset="0"/>
                <a:ea typeface="Amazon Ember" panose="020B0603020204020204" pitchFamily="34" charset="0"/>
                <a:cs typeface="Amazon Ember" panose="020B0603020204020204" pitchFamily="34" charset="0"/>
              </a:rPr>
              <a:t>-</a:t>
            </a:r>
            <a:r>
              <a:rPr lang="en-US" sz="1350" b="1" err="1">
                <a:solidFill>
                  <a:schemeClr val="accent1"/>
                </a:solidFill>
                <a:latin typeface="Lucida Console" panose="020B0609040504020204" pitchFamily="49" charset="0"/>
                <a:ea typeface="Amazon Ember" panose="020B0603020204020204" pitchFamily="34" charset="0"/>
                <a:cs typeface="Amazon Ember" panose="020B0603020204020204" pitchFamily="34" charset="0"/>
              </a:rPr>
              <a:t>elasticbeanstalk</a:t>
            </a:r>
            <a:r>
              <a:rPr lang="en-US" sz="1350" b="1">
                <a:solidFill>
                  <a:schemeClr val="accent1"/>
                </a:solidFill>
                <a:latin typeface="Lucida Console" panose="020B0609040504020204" pitchFamily="49" charset="0"/>
                <a:ea typeface="Amazon Ember" panose="020B0603020204020204" pitchFamily="34" charset="0"/>
                <a:cs typeface="Amazon Ember" panose="020B0603020204020204" pitchFamily="34" charset="0"/>
              </a:rPr>
              <a:t>-service</a:t>
            </a:r>
            <a:r>
              <a:rPr lang="en-US" sz="1350" b="1">
                <a:solidFill>
                  <a:schemeClr val="tx1"/>
                </a:solidFill>
                <a:latin typeface="Lucida Console" panose="020B0609040504020204" pitchFamily="49" charset="0"/>
                <a:ea typeface="Amazon Ember" panose="020B0603020204020204" pitchFamily="34" charset="0"/>
                <a:cs typeface="Amazon Ember" panose="020B0603020204020204" pitchFamily="34" charset="0"/>
              </a:rPr>
              <a:t>-role</a:t>
            </a:r>
          </a:p>
        </p:txBody>
      </p:sp>
      <p:sp>
        <p:nvSpPr>
          <p:cNvPr id="5" name="Content Placeholder 9">
            <a:extLst>
              <a:ext uri="{FF2B5EF4-FFF2-40B4-BE49-F238E27FC236}">
                <a16:creationId xmlns:a16="http://schemas.microsoft.com/office/drawing/2014/main" id="{19A0BE61-59E8-A5FB-10FA-BFE368201F10}"/>
              </a:ext>
            </a:extLst>
          </p:cNvPr>
          <p:cNvSpPr txBox="1">
            <a:spLocks/>
          </p:cNvSpPr>
          <p:nvPr/>
        </p:nvSpPr>
        <p:spPr>
          <a:xfrm>
            <a:off x="3235657" y="1470881"/>
            <a:ext cx="2695194" cy="3039264"/>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Font typeface="Amazon Ember Display"/>
              <a:buNone/>
            </a:pPr>
            <a:r>
              <a:rPr lang="en-US" sz="1013" b="1">
                <a:solidFill>
                  <a:schemeClr val="accent1"/>
                </a:solidFill>
                <a:latin typeface="+mn-lt"/>
                <a:ea typeface="Amazon Ember" panose="020B0603020204020204" pitchFamily="34" charset="0"/>
                <a:cs typeface="Amazon Ember" panose="020B0603020204020204" pitchFamily="34" charset="0"/>
              </a:rPr>
              <a:t>Instance profile</a:t>
            </a:r>
          </a:p>
          <a:p>
            <a:r>
              <a:rPr lang="en-US" sz="1500">
                <a:solidFill>
                  <a:schemeClr val="tx1"/>
                </a:solidFill>
                <a:latin typeface="+mn-lt"/>
              </a:rPr>
              <a:t>Assigned during creation </a:t>
            </a:r>
          </a:p>
          <a:p>
            <a:r>
              <a:rPr lang="en-US" sz="1500">
                <a:solidFill>
                  <a:schemeClr val="tx1"/>
                </a:solidFill>
                <a:latin typeface="+mn-lt"/>
                <a:ea typeface="Amazon Ember" panose="020B0603020204020204" pitchFamily="34" charset="0"/>
                <a:cs typeface="Amazon Ember" panose="020B0603020204020204" pitchFamily="34" charset="0"/>
              </a:rPr>
              <a:t>﻿</a:t>
            </a:r>
            <a:r>
              <a:rPr lang="en-US" sz="1500" b="1">
                <a:solidFill>
                  <a:schemeClr val="accent1"/>
                </a:solidFill>
                <a:latin typeface="+mn-lt"/>
                <a:ea typeface="Amazon Ember" panose="020B0603020204020204" pitchFamily="34" charset="0"/>
                <a:cs typeface="Amazon Ember" panose="020B0603020204020204" pitchFamily="34" charset="0"/>
              </a:rPr>
              <a:t>Applied to instances </a:t>
            </a:r>
            <a:r>
              <a:rPr lang="en-US" sz="1500">
                <a:solidFill>
                  <a:schemeClr val="tx1"/>
                </a:solidFill>
                <a:latin typeface="+mn-lt"/>
              </a:rPr>
              <a:t>that are launched in your environment</a:t>
            </a:r>
          </a:p>
          <a:p>
            <a:r>
              <a:rPr lang="en-US" sz="1500">
                <a:solidFill>
                  <a:schemeClr val="tx1"/>
                </a:solidFill>
                <a:latin typeface="+mn-lt"/>
              </a:rPr>
              <a:t>Default instance profile:</a:t>
            </a:r>
          </a:p>
          <a:p>
            <a:pPr lvl="1"/>
            <a:r>
              <a:rPr lang="en-US" sz="1350" b="1">
                <a:solidFill>
                  <a:schemeClr val="tx1"/>
                </a:solidFill>
                <a:latin typeface="Lucida Console" panose="020B0609040504020204" pitchFamily="49" charset="0"/>
                <a:ea typeface="Amazon Ember" panose="020B0603020204020204" pitchFamily="34" charset="0"/>
                <a:cs typeface="Amazon Ember" panose="020B0603020204020204" pitchFamily="34" charset="0"/>
              </a:rPr>
              <a:t>aws-</a:t>
            </a:r>
            <a:r>
              <a:rPr lang="en-US" sz="1350" b="1">
                <a:solidFill>
                  <a:schemeClr val="accent1"/>
                </a:solidFill>
                <a:latin typeface="Lucida Console" panose="020B0609040504020204" pitchFamily="49" charset="0"/>
                <a:ea typeface="Amazon Ember" panose="020B0603020204020204" pitchFamily="34" charset="0"/>
                <a:cs typeface="Amazon Ember" panose="020B0603020204020204" pitchFamily="34" charset="0"/>
              </a:rPr>
              <a:t>elasticbeanstalk-ec2</a:t>
            </a:r>
            <a:r>
              <a:rPr lang="en-US" sz="1350" b="1">
                <a:solidFill>
                  <a:schemeClr val="tx1"/>
                </a:solidFill>
                <a:latin typeface="Lucida Console" panose="020B0609040504020204" pitchFamily="49" charset="0"/>
                <a:ea typeface="Amazon Ember" panose="020B0603020204020204" pitchFamily="34" charset="0"/>
                <a:cs typeface="Amazon Ember" panose="020B0603020204020204" pitchFamily="34" charset="0"/>
              </a:rPr>
              <a:t>-role</a:t>
            </a:r>
          </a:p>
        </p:txBody>
      </p:sp>
      <p:cxnSp>
        <p:nvCxnSpPr>
          <p:cNvPr id="7" name="Straight Connector 6">
            <a:extLst>
              <a:ext uri="{FF2B5EF4-FFF2-40B4-BE49-F238E27FC236}">
                <a16:creationId xmlns:a16="http://schemas.microsoft.com/office/drawing/2014/main" id="{E31C9A92-5EE6-1A53-C8EE-87C95C2477A3}"/>
              </a:ext>
              <a:ext uri="{C183D7F6-B498-43B3-948B-1728B52AA6E4}">
                <adec:decorative xmlns:adec="http://schemas.microsoft.com/office/drawing/2017/decorative" val="1"/>
              </a:ext>
            </a:extLst>
          </p:cNvPr>
          <p:cNvCxnSpPr/>
          <p:nvPr/>
        </p:nvCxnSpPr>
        <p:spPr>
          <a:xfrm>
            <a:off x="5930851" y="1382130"/>
            <a:ext cx="0" cy="3352717"/>
          </a:xfrm>
          <a:prstGeom prst="line">
            <a:avLst/>
          </a:prstGeom>
        </p:spPr>
        <p:style>
          <a:lnRef idx="1">
            <a:schemeClr val="accent1"/>
          </a:lnRef>
          <a:fillRef idx="0">
            <a:schemeClr val="accent1"/>
          </a:fillRef>
          <a:effectRef idx="0">
            <a:schemeClr val="accent1"/>
          </a:effectRef>
          <a:fontRef idx="minor">
            <a:schemeClr val="tx1"/>
          </a:fontRef>
        </p:style>
      </p:cxnSp>
      <p:sp>
        <p:nvSpPr>
          <p:cNvPr id="6" name="Content Placeholder 8">
            <a:extLst>
              <a:ext uri="{FF2B5EF4-FFF2-40B4-BE49-F238E27FC236}">
                <a16:creationId xmlns:a16="http://schemas.microsoft.com/office/drawing/2014/main" id="{0C077623-C9D5-EA89-87D7-EB18B24AE1A7}"/>
              </a:ext>
            </a:extLst>
          </p:cNvPr>
          <p:cNvSpPr txBox="1">
            <a:spLocks/>
          </p:cNvSpPr>
          <p:nvPr/>
        </p:nvSpPr>
        <p:spPr>
          <a:xfrm>
            <a:off x="6130265" y="1470881"/>
            <a:ext cx="2695194" cy="3039264"/>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Font typeface="Amazon Ember Display"/>
              <a:buNone/>
            </a:pPr>
            <a:r>
              <a:rPr lang="en-US" sz="1013" b="1">
                <a:solidFill>
                  <a:schemeClr val="accent1"/>
                </a:solidFill>
                <a:latin typeface="+mn-lt"/>
                <a:ea typeface="Amazon Ember" panose="020B0603020204020204" pitchFamily="34" charset="0"/>
                <a:cs typeface="Amazon Ember" panose="020B0603020204020204" pitchFamily="34" charset="0"/>
              </a:rPr>
              <a:t>User policies</a:t>
            </a:r>
          </a:p>
          <a:p>
            <a:r>
              <a:rPr lang="en-US" sz="1500">
                <a:solidFill>
                  <a:schemeClr val="tx1"/>
                </a:solidFill>
                <a:latin typeface="+mn-lt"/>
              </a:rPr>
              <a:t>Optionally assigned</a:t>
            </a:r>
          </a:p>
          <a:p>
            <a:r>
              <a:rPr lang="en-US" sz="1500">
                <a:solidFill>
                  <a:schemeClr val="tx1"/>
                </a:solidFill>
                <a:latin typeface="+mn-lt"/>
              </a:rPr>
              <a:t>Can be </a:t>
            </a:r>
            <a:r>
              <a:rPr lang="en-US" sz="1500" b="1">
                <a:solidFill>
                  <a:schemeClr val="accent1"/>
                </a:solidFill>
                <a:latin typeface="+mn-lt"/>
                <a:ea typeface="Amazon Ember" panose="020B0603020204020204" pitchFamily="34" charset="0"/>
                <a:cs typeface="Amazon Ember" panose="020B0603020204020204" pitchFamily="34" charset="0"/>
              </a:rPr>
              <a:t>attached to users or groups</a:t>
            </a:r>
            <a:r>
              <a:rPr lang="en-US" sz="1500" b="1">
                <a:solidFill>
                  <a:schemeClr val="accent1"/>
                </a:solidFill>
                <a:latin typeface="+mn-lt"/>
              </a:rPr>
              <a:t> </a:t>
            </a:r>
            <a:r>
              <a:rPr lang="en-US" sz="1500">
                <a:solidFill>
                  <a:schemeClr val="tx1"/>
                </a:solidFill>
                <a:latin typeface="+mn-lt"/>
              </a:rPr>
              <a:t>who create and manage Elastic Beanstalk applications and environments</a:t>
            </a:r>
          </a:p>
          <a:p>
            <a:r>
              <a:rPr lang="en-US" sz="1500">
                <a:solidFill>
                  <a:schemeClr val="tx1"/>
                </a:solidFill>
                <a:latin typeface="+mn-lt"/>
                <a:ea typeface="Amazon Ember" panose="020B0603020204020204" pitchFamily="34" charset="0"/>
                <a:cs typeface="Amazon Ember" panose="020B0603020204020204" pitchFamily="34" charset="0"/>
              </a:rPr>
              <a:t>Two managed user policies are available to grant either full administrative access or read-only access</a:t>
            </a:r>
            <a:endParaRPr lang="en-US" sz="1013">
              <a:solidFill>
                <a:schemeClr val="tx1"/>
              </a:solidFill>
              <a:latin typeface="+mn-lt"/>
            </a:endParaRPr>
          </a:p>
        </p:txBody>
      </p:sp>
    </p:spTree>
    <p:custDataLst>
      <p:tags r:id="rId1"/>
    </p:custDataLst>
    <p:extLst>
      <p:ext uri="{BB962C8B-B14F-4D97-AF65-F5344CB8AC3E}">
        <p14:creationId xmlns:p14="http://schemas.microsoft.com/office/powerpoint/2010/main" val="3077363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19</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AWS Managed policy example</a:t>
            </a:r>
          </a:p>
        </p:txBody>
      </p:sp>
      <p:sp>
        <p:nvSpPr>
          <p:cNvPr id="12" name="Content Placeholder 8">
            <a:extLst>
              <a:ext uri="{FF2B5EF4-FFF2-40B4-BE49-F238E27FC236}">
                <a16:creationId xmlns:a16="http://schemas.microsoft.com/office/drawing/2014/main" id="{E999D29D-7B04-726E-629E-09809D7483CC}"/>
              </a:ext>
            </a:extLst>
          </p:cNvPr>
          <p:cNvSpPr txBox="1">
            <a:spLocks/>
          </p:cNvSpPr>
          <p:nvPr/>
        </p:nvSpPr>
        <p:spPr>
          <a:xfrm>
            <a:off x="508270" y="841355"/>
            <a:ext cx="5003531" cy="4015473"/>
          </a:xfrm>
          <a:prstGeom prst="rect">
            <a:avLst/>
          </a:prstGeom>
          <a:noFill/>
        </p:spPr>
        <p:txBody>
          <a:bodyPr vert="horz" lIns="68580" tIns="34290" rIns="68580" bIns="34290" rtlCol="0"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00000"/>
              </a:lnSpc>
              <a:spcBef>
                <a:spcPts val="0"/>
              </a:spcBef>
            </a:pPr>
            <a:r>
              <a:rPr lang="en-US" sz="1350">
                <a:latin typeface="Lucida Console" panose="020B0609040504020204" pitchFamily="49" charset="0"/>
              </a:rPr>
              <a:t>{</a:t>
            </a:r>
          </a:p>
          <a:p>
            <a:pPr>
              <a:lnSpc>
                <a:spcPct val="100000"/>
              </a:lnSpc>
              <a:spcBef>
                <a:spcPts val="0"/>
              </a:spcBef>
            </a:pPr>
            <a:r>
              <a:rPr lang="en-US" sz="1350">
                <a:latin typeface="Lucida Console" panose="020B0609040504020204" pitchFamily="49" charset="0"/>
              </a:rPr>
              <a:t>  "Version" : "2012-10-17",</a:t>
            </a:r>
          </a:p>
          <a:p>
            <a:pPr>
              <a:lnSpc>
                <a:spcPct val="100000"/>
              </a:lnSpc>
              <a:spcBef>
                <a:spcPts val="0"/>
              </a:spcBef>
            </a:pPr>
            <a:r>
              <a:rPr lang="en-US" sz="1350">
                <a:latin typeface="Lucida Console" panose="020B0609040504020204" pitchFamily="49" charset="0"/>
              </a:rPr>
              <a:t>  "Statement" : [</a:t>
            </a:r>
          </a:p>
          <a:p>
            <a:pPr>
              <a:lnSpc>
                <a:spcPct val="100000"/>
              </a:lnSpc>
              <a:spcBef>
                <a:spcPts val="0"/>
              </a:spcBef>
            </a:pPr>
            <a:r>
              <a:rPr lang="en-US" sz="1350">
                <a:latin typeface="Lucida Console" panose="020B0609040504020204" pitchFamily="49" charset="0"/>
              </a:rPr>
              <a:t>    {</a:t>
            </a:r>
          </a:p>
          <a:p>
            <a:pPr>
              <a:lnSpc>
                <a:spcPct val="100000"/>
              </a:lnSpc>
              <a:spcBef>
                <a:spcPts val="0"/>
              </a:spcBef>
            </a:pPr>
            <a:r>
              <a:rPr lang="en-US" sz="1350">
                <a:latin typeface="Lucida Console" panose="020B0609040504020204" pitchFamily="49" charset="0"/>
              </a:rPr>
              <a:t>      "Effect" : "Allow",</a:t>
            </a:r>
          </a:p>
          <a:p>
            <a:pPr>
              <a:lnSpc>
                <a:spcPct val="100000"/>
              </a:lnSpc>
              <a:spcBef>
                <a:spcPts val="0"/>
              </a:spcBef>
            </a:pPr>
            <a:r>
              <a:rPr lang="en-US" sz="1350">
                <a:latin typeface="Lucida Console" panose="020B0609040504020204" pitchFamily="49" charset="0"/>
              </a:rPr>
              <a:t>      "Action" : "ec2:Describe*",</a:t>
            </a:r>
          </a:p>
          <a:p>
            <a:pPr>
              <a:lnSpc>
                <a:spcPct val="100000"/>
              </a:lnSpc>
              <a:spcBef>
                <a:spcPts val="0"/>
              </a:spcBef>
            </a:pPr>
            <a:r>
              <a:rPr lang="en-US" sz="1350">
                <a:latin typeface="Lucida Console" panose="020B0609040504020204" pitchFamily="49" charset="0"/>
              </a:rPr>
              <a:t>      "Resource" : "*"</a:t>
            </a:r>
          </a:p>
          <a:p>
            <a:pPr>
              <a:lnSpc>
                <a:spcPct val="100000"/>
              </a:lnSpc>
              <a:spcBef>
                <a:spcPts val="0"/>
              </a:spcBef>
            </a:pPr>
            <a:r>
              <a:rPr lang="en-US" sz="1350">
                <a:latin typeface="Lucida Console" panose="020B0609040504020204" pitchFamily="49" charset="0"/>
              </a:rPr>
              <a:t>    },</a:t>
            </a:r>
          </a:p>
          <a:p>
            <a:pPr>
              <a:lnSpc>
                <a:spcPct val="100000"/>
              </a:lnSpc>
              <a:spcBef>
                <a:spcPts val="0"/>
              </a:spcBef>
            </a:pPr>
            <a:r>
              <a:rPr lang="en-US" sz="1350">
                <a:latin typeface="Lucida Console" panose="020B0609040504020204" pitchFamily="49" charset="0"/>
              </a:rPr>
              <a:t>    {</a:t>
            </a:r>
          </a:p>
          <a:p>
            <a:pPr>
              <a:lnSpc>
                <a:spcPct val="100000"/>
              </a:lnSpc>
              <a:spcBef>
                <a:spcPts val="0"/>
              </a:spcBef>
            </a:pPr>
            <a:r>
              <a:rPr lang="en-US" sz="1350">
                <a:latin typeface="Lucida Console" panose="020B0609040504020204" pitchFamily="49" charset="0"/>
              </a:rPr>
              <a:t>      "Effect" : "Allow",</a:t>
            </a:r>
          </a:p>
          <a:p>
            <a:pPr>
              <a:lnSpc>
                <a:spcPct val="100000"/>
              </a:lnSpc>
              <a:spcBef>
                <a:spcPts val="0"/>
              </a:spcBef>
            </a:pPr>
            <a:r>
              <a:rPr lang="en-US" sz="1350">
                <a:latin typeface="Lucida Console" panose="020B0609040504020204" pitchFamily="49" charset="0"/>
              </a:rPr>
              <a:t>      "Action" : "</a:t>
            </a:r>
            <a:r>
              <a:rPr lang="en-US" sz="1350" err="1">
                <a:latin typeface="Lucida Console" panose="020B0609040504020204" pitchFamily="49" charset="0"/>
              </a:rPr>
              <a:t>elasticloadbalancing:Describe</a:t>
            </a:r>
            <a:r>
              <a:rPr lang="en-US" sz="1350">
                <a:latin typeface="Lucida Console" panose="020B0609040504020204" pitchFamily="49" charset="0"/>
              </a:rPr>
              <a:t>*",</a:t>
            </a:r>
          </a:p>
          <a:p>
            <a:pPr>
              <a:lnSpc>
                <a:spcPct val="100000"/>
              </a:lnSpc>
              <a:spcBef>
                <a:spcPts val="0"/>
              </a:spcBef>
            </a:pPr>
            <a:r>
              <a:rPr lang="en-US" sz="1350">
                <a:latin typeface="Lucida Console" panose="020B0609040504020204" pitchFamily="49" charset="0"/>
              </a:rPr>
              <a:t>      "Resource" : "*"</a:t>
            </a:r>
          </a:p>
          <a:p>
            <a:pPr>
              <a:lnSpc>
                <a:spcPct val="100000"/>
              </a:lnSpc>
              <a:spcBef>
                <a:spcPts val="0"/>
              </a:spcBef>
            </a:pPr>
            <a:r>
              <a:rPr lang="en-US" sz="1350">
                <a:latin typeface="Lucida Console" panose="020B0609040504020204" pitchFamily="49" charset="0"/>
              </a:rPr>
              <a:t>    }, </a:t>
            </a:r>
          </a:p>
          <a:p>
            <a:pPr>
              <a:lnSpc>
                <a:spcPct val="100000"/>
              </a:lnSpc>
              <a:spcBef>
                <a:spcPts val="0"/>
              </a:spcBef>
            </a:pPr>
            <a:r>
              <a:rPr lang="en-US" sz="1350">
                <a:latin typeface="Lucida Console" panose="020B0609040504020204" pitchFamily="49" charset="0"/>
              </a:rPr>
              <a:t>… }</a:t>
            </a:r>
          </a:p>
          <a:p>
            <a:pPr>
              <a:lnSpc>
                <a:spcPct val="100000"/>
              </a:lnSpc>
              <a:spcBef>
                <a:spcPts val="0"/>
              </a:spcBef>
            </a:pPr>
            <a:r>
              <a:rPr lang="en-US" sz="1350">
                <a:latin typeface="Lucida Console" panose="020B0609040504020204" pitchFamily="49" charset="0"/>
              </a:rPr>
              <a:t>    truncated for brevity</a:t>
            </a:r>
            <a:endParaRPr lang="en-US" sz="1200">
              <a:latin typeface="Lucida Console" panose="020B0609040504020204" pitchFamily="49" charset="0"/>
            </a:endParaRPr>
          </a:p>
        </p:txBody>
      </p:sp>
      <p:cxnSp>
        <p:nvCxnSpPr>
          <p:cNvPr id="5" name="Straight Connector 4">
            <a:extLst>
              <a:ext uri="{FF2B5EF4-FFF2-40B4-BE49-F238E27FC236}">
                <a16:creationId xmlns:a16="http://schemas.microsoft.com/office/drawing/2014/main" id="{476A40F2-5CF4-4417-B9E8-326256DA0659}"/>
              </a:ext>
              <a:ext uri="{C183D7F6-B498-43B3-948B-1728B52AA6E4}">
                <adec:decorative xmlns:adec="http://schemas.microsoft.com/office/drawing/2017/decorative" val="1"/>
              </a:ext>
            </a:extLst>
          </p:cNvPr>
          <p:cNvCxnSpPr>
            <a:cxnSpLocks/>
            <a:stCxn id="8" idx="2"/>
          </p:cNvCxnSpPr>
          <p:nvPr/>
        </p:nvCxnSpPr>
        <p:spPr>
          <a:xfrm flipH="1">
            <a:off x="3785260" y="1133218"/>
            <a:ext cx="1882242"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applications callout">
            <a:extLst>
              <a:ext uri="{FF2B5EF4-FFF2-40B4-BE49-F238E27FC236}">
                <a16:creationId xmlns:a16="http://schemas.microsoft.com/office/drawing/2014/main" id="{C1816E18-B1DF-4A50-94BC-C56A28D517C9}"/>
              </a:ext>
            </a:extLst>
          </p:cNvPr>
          <p:cNvSpPr/>
          <p:nvPr/>
        </p:nvSpPr>
        <p:spPr>
          <a:xfrm>
            <a:off x="5667502" y="841355"/>
            <a:ext cx="3206750" cy="583726"/>
          </a:xfrm>
          <a:prstGeom prst="accentBorderCallout1">
            <a:avLst>
              <a:gd name="adj1" fmla="val 16574"/>
              <a:gd name="adj2" fmla="val -2986"/>
              <a:gd name="adj3" fmla="val 18154"/>
              <a:gd name="adj4" fmla="val -18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13">
                <a:latin typeface="Amazon Ember Display" panose="020F0603020204020204" pitchFamily="34" charset="0"/>
                <a:ea typeface="Amazon Ember Display" panose="020F0603020204020204" pitchFamily="34" charset="0"/>
                <a:cs typeface="Amazon Ember Display" panose="020F0603020204020204" pitchFamily="34" charset="0"/>
              </a:rPr>
              <a:t>Excerpt of </a:t>
            </a:r>
          </a:p>
          <a:p>
            <a:r>
              <a:rPr lang="en-US" sz="1200"/>
              <a:t>AmazonEC2ReadOnlyAccess </a:t>
            </a:r>
          </a:p>
        </p:txBody>
      </p:sp>
    </p:spTree>
    <p:custDataLst>
      <p:tags r:id="rId1"/>
    </p:custDataLst>
    <p:extLst>
      <p:ext uri="{BB962C8B-B14F-4D97-AF65-F5344CB8AC3E}">
        <p14:creationId xmlns:p14="http://schemas.microsoft.com/office/powerpoint/2010/main" val="4271851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20</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a:t>Elastic Beanstalk simplifies container deployment</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Aft>
                <a:spcPts val="0"/>
              </a:spcAft>
              <a:buNone/>
            </a:pPr>
            <a:r>
              <a:rPr lang="en-US"/>
              <a:t>Getting started with </a:t>
            </a:r>
          </a:p>
          <a:p>
            <a:pPr marL="0" indent="0" algn="ctr">
              <a:spcAft>
                <a:spcPts val="0"/>
              </a:spcAft>
              <a:buNone/>
            </a:pPr>
            <a:r>
              <a:rPr lang="en-US" b="1">
                <a:solidFill>
                  <a:schemeClr val="accent1"/>
                </a:solidFill>
              </a:rPr>
              <a:t>Amazon ECS</a:t>
            </a:r>
          </a:p>
          <a:p>
            <a:pPr marL="0" indent="0" algn="ctr">
              <a:spcAft>
                <a:spcPts val="0"/>
              </a:spcAft>
              <a:buNone/>
            </a:pPr>
            <a:endParaRPr lang="en-US" sz="1500" b="1">
              <a:solidFill>
                <a:schemeClr val="accent1"/>
              </a:solidFill>
            </a:endParaRPr>
          </a:p>
          <a:p>
            <a:pPr marL="557213" lvl="1" indent="-385763">
              <a:buFont typeface="+mj-lt"/>
              <a:buAutoNum type="arabicPeriod"/>
            </a:pPr>
            <a:r>
              <a:rPr lang="en-US"/>
              <a:t>Create a task definition</a:t>
            </a:r>
          </a:p>
          <a:p>
            <a:pPr marL="557213" lvl="1" indent="-385763">
              <a:buFont typeface="+mj-lt"/>
              <a:buAutoNum type="arabicPeriod"/>
            </a:pPr>
            <a:r>
              <a:rPr lang="en-US"/>
              <a:t>Create and configure a cluster including:</a:t>
            </a:r>
          </a:p>
          <a:p>
            <a:pPr marL="1033463" lvl="2">
              <a:tabLst>
                <a:tab pos="988219" algn="l"/>
              </a:tabLst>
            </a:pPr>
            <a:r>
              <a:rPr lang="en-US"/>
              <a:t>EC2 instances</a:t>
            </a:r>
          </a:p>
          <a:p>
            <a:pPr marL="1033463" lvl="2">
              <a:tabLst>
                <a:tab pos="988219" algn="l"/>
              </a:tabLst>
            </a:pPr>
            <a:r>
              <a:rPr lang="en-US"/>
              <a:t>VPC settings</a:t>
            </a:r>
          </a:p>
          <a:p>
            <a:pPr marL="1033463" lvl="2">
              <a:tabLst>
                <a:tab pos="988219" algn="l"/>
              </a:tabLst>
            </a:pPr>
            <a:r>
              <a:rPr lang="en-US"/>
              <a:t>IAM role definition</a:t>
            </a:r>
          </a:p>
          <a:p>
            <a:pPr marL="557213" lvl="1" indent="-385763">
              <a:buFont typeface="+mj-lt"/>
              <a:buAutoNum type="arabicPeriod"/>
            </a:pPr>
            <a:r>
              <a:rPr lang="en-US"/>
              <a:t>Create a service to run and maintain a specified number of instances of a task</a:t>
            </a:r>
          </a:p>
          <a:p>
            <a:pPr marL="0" indent="0">
              <a:buNone/>
            </a:pPr>
            <a:endParaRPr lang="en-US"/>
          </a:p>
        </p:txBody>
      </p:sp>
      <p:cxnSp>
        <p:nvCxnSpPr>
          <p:cNvPr id="6" name="Straight Connector 5">
            <a:extLst>
              <a:ext uri="{FF2B5EF4-FFF2-40B4-BE49-F238E27FC236}">
                <a16:creationId xmlns:a16="http://schemas.microsoft.com/office/drawing/2014/main" id="{8B42E72D-27D2-4C6E-AFC7-321DAC7BE833}"/>
              </a:ext>
              <a:ext uri="{C183D7F6-B498-43B3-948B-1728B52AA6E4}">
                <adec:decorative xmlns:adec="http://schemas.microsoft.com/office/drawing/2017/decorative" val="1"/>
              </a:ext>
            </a:extLst>
          </p:cNvPr>
          <p:cNvCxnSpPr>
            <a:cxnSpLocks/>
          </p:cNvCxnSpPr>
          <p:nvPr/>
        </p:nvCxnSpPr>
        <p:spPr>
          <a:xfrm flipV="1">
            <a:off x="4572000" y="1110795"/>
            <a:ext cx="0" cy="3459968"/>
          </a:xfrm>
          <a:prstGeom prst="line">
            <a:avLst/>
          </a:prstGeom>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3CC3B625-1CFA-49D7-80ED-FE6CC2523BCB}"/>
              </a:ext>
            </a:extLst>
          </p:cNvPr>
          <p:cNvSpPr>
            <a:spLocks noGrp="1"/>
          </p:cNvSpPr>
          <p:nvPr>
            <p:ph idx="3"/>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Aft>
                <a:spcPts val="0"/>
              </a:spcAft>
              <a:buNone/>
            </a:pPr>
            <a:r>
              <a:rPr lang="en-US"/>
              <a:t>Getting started with </a:t>
            </a:r>
          </a:p>
          <a:p>
            <a:pPr marL="0" indent="0" algn="ctr">
              <a:spcAft>
                <a:spcPts val="0"/>
              </a:spcAft>
              <a:buNone/>
            </a:pPr>
            <a:r>
              <a:rPr lang="en-US" b="1">
                <a:solidFill>
                  <a:schemeClr val="accent1"/>
                </a:solidFill>
              </a:rPr>
              <a:t>Elastic Beanstalk</a:t>
            </a:r>
          </a:p>
          <a:p>
            <a:pPr marL="0" indent="0">
              <a:buNone/>
            </a:pPr>
            <a:endParaRPr lang="en-US" sz="788" b="1">
              <a:solidFill>
                <a:schemeClr val="accent1"/>
              </a:solidFill>
            </a:endParaRPr>
          </a:p>
          <a:p>
            <a:pPr marL="557213" lvl="1" indent="-385763">
              <a:buFont typeface="+mj-lt"/>
              <a:buAutoNum type="arabicPeriod"/>
            </a:pPr>
            <a:r>
              <a:rPr lang="en-US"/>
              <a:t>Write a Dockerrun.aws.json file and provide your zipped code</a:t>
            </a:r>
          </a:p>
          <a:p>
            <a:pPr marL="557213" lvl="1" indent="-385763">
              <a:buFont typeface="+mj-lt"/>
              <a:buAutoNum type="arabicPeriod"/>
            </a:pPr>
            <a:r>
              <a:rPr lang="en-US"/>
              <a:t>Select the platform for your language</a:t>
            </a:r>
          </a:p>
          <a:p>
            <a:pPr marL="557213" lvl="1" indent="-385763">
              <a:buFont typeface="+mj-lt"/>
              <a:buAutoNum type="arabicPeriod"/>
            </a:pPr>
            <a:r>
              <a:rPr lang="en-US"/>
              <a:t>Launch your application</a:t>
            </a:r>
          </a:p>
          <a:p>
            <a:endParaRPr lang="en-US"/>
          </a:p>
        </p:txBody>
      </p:sp>
    </p:spTree>
    <p:custDataLst>
      <p:tags r:id="rId1"/>
    </p:custDataLst>
    <p:extLst>
      <p:ext uri="{BB962C8B-B14F-4D97-AF65-F5344CB8AC3E}">
        <p14:creationId xmlns:p14="http://schemas.microsoft.com/office/powerpoint/2010/main" val="1216993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21</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err="1"/>
              <a:t>Multicontainer</a:t>
            </a:r>
            <a:r>
              <a:rPr lang="en-US" sz="2800" b="1"/>
              <a:t> Docker platform </a:t>
            </a:r>
          </a:p>
        </p:txBody>
      </p:sp>
      <p:pic>
        <p:nvPicPr>
          <p:cNvPr id="48" name="Content Placeholder 47" descr="Diagram shows two URLs to an Elastic Beanstalk environment with Elastic Load Balancing, auto scaling group and ECS cluster.">
            <a:extLst>
              <a:ext uri="{FF2B5EF4-FFF2-40B4-BE49-F238E27FC236}">
                <a16:creationId xmlns:a16="http://schemas.microsoft.com/office/drawing/2014/main" id="{2951A481-7DA0-45B2-89A9-E107933F1F93}"/>
              </a:ext>
            </a:extLst>
          </p:cNvPr>
          <p:cNvPicPr>
            <a:picLocks noGrp="1" noChangeAspect="1"/>
          </p:cNvPicPr>
          <p:nvPr>
            <p:ph idx="2"/>
          </p:nvPr>
        </p:nvPicPr>
        <p:blipFill>
          <a:blip r:embed="rId4"/>
          <a:stretch>
            <a:fillRect/>
          </a:stretch>
        </p:blipFill>
        <p:spPr>
          <a:xfrm>
            <a:off x="438053" y="1466067"/>
            <a:ext cx="8271465" cy="2711431"/>
          </a:xfrm>
        </p:spPr>
      </p:pic>
    </p:spTree>
    <p:custDataLst>
      <p:tags r:id="rId1"/>
    </p:custDataLst>
    <p:extLst>
      <p:ext uri="{BB962C8B-B14F-4D97-AF65-F5344CB8AC3E}">
        <p14:creationId xmlns:p14="http://schemas.microsoft.com/office/powerpoint/2010/main" val="483750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22</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Deployment option namespaces</a:t>
            </a:r>
          </a:p>
        </p:txBody>
      </p:sp>
      <p:sp>
        <p:nvSpPr>
          <p:cNvPr id="4" name="Content Placeholder 3">
            <a:extLst>
              <a:ext uri="{FF2B5EF4-FFF2-40B4-BE49-F238E27FC236}">
                <a16:creationId xmlns:a16="http://schemas.microsoft.com/office/drawing/2014/main" id="{9F39D3A5-7093-00FF-9BFB-89B828B6A590}"/>
              </a:ext>
            </a:extLst>
          </p:cNvPr>
          <p:cNvSpPr>
            <a:spLocks noGrp="1"/>
          </p:cNvSpPr>
          <p:nvPr>
            <p:ph idx="2"/>
          </p:nvPr>
        </p:nvSpPr>
        <p:spPr>
          <a:xfrm>
            <a:off x="274320" y="822960"/>
            <a:ext cx="8599932" cy="3998214"/>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err="1">
                <a:solidFill>
                  <a:schemeClr val="accent1"/>
                </a:solidFill>
                <a:latin typeface="Lucida Console" panose="020B0609040504020204" pitchFamily="49" charset="0"/>
              </a:rPr>
              <a:t>aws:elasticbeanstalk:command</a:t>
            </a:r>
            <a:endParaRPr lang="en-US">
              <a:solidFill>
                <a:schemeClr val="accent1"/>
              </a:solidFill>
              <a:latin typeface="Lucida Console" panose="020B0609040504020204" pitchFamily="49" charset="0"/>
            </a:endParaRPr>
          </a:p>
          <a:p>
            <a:r>
              <a:rPr lang="en-US" sz="1800"/>
              <a:t>Choose the deployment policy</a:t>
            </a:r>
          </a:p>
          <a:p>
            <a:r>
              <a:rPr lang="en-US" sz="1800"/>
              <a:t>Set a timeout</a:t>
            </a:r>
          </a:p>
          <a:p>
            <a:r>
              <a:rPr lang="en-US" sz="1800"/>
              <a:t>Choose options for size and type of batches to use</a:t>
            </a:r>
          </a:p>
          <a:p>
            <a:r>
              <a:rPr lang="en-US" sz="1800"/>
              <a:t>Choose whether to cancel deployment on a failed health check</a:t>
            </a:r>
          </a:p>
          <a:p>
            <a:pPr marL="0" indent="0">
              <a:buNone/>
            </a:pPr>
            <a:endParaRPr lang="en-US" sz="1800">
              <a:latin typeface="Lucida Console" panose="020B0609040504020204" pitchFamily="49" charset="0"/>
            </a:endParaRPr>
          </a:p>
          <a:p>
            <a:pPr marL="0" indent="0">
              <a:buNone/>
            </a:pPr>
            <a:r>
              <a:rPr lang="en-US" sz="1800" err="1">
                <a:solidFill>
                  <a:schemeClr val="accent1"/>
                </a:solidFill>
                <a:latin typeface="Lucida Console" panose="020B0609040504020204" pitchFamily="49" charset="0"/>
              </a:rPr>
              <a:t>aws:elasticbeanstalk:trafficsplitting</a:t>
            </a:r>
            <a:r>
              <a:rPr lang="en-US" sz="1800">
                <a:solidFill>
                  <a:schemeClr val="accent1"/>
                </a:solidFill>
                <a:latin typeface="Lucida Console" panose="020B0609040504020204" pitchFamily="49" charset="0"/>
              </a:rPr>
              <a:t> </a:t>
            </a:r>
          </a:p>
          <a:p>
            <a:r>
              <a:rPr lang="en-US" sz="1800"/>
              <a:t>Choose the percentage of traffic to go to new instances</a:t>
            </a:r>
          </a:p>
          <a:p>
            <a:r>
              <a:rPr lang="en-US" sz="1800"/>
              <a:t>Choose how long to wait before continuing to shift more traffic</a:t>
            </a:r>
          </a:p>
        </p:txBody>
      </p:sp>
    </p:spTree>
    <p:custDataLst>
      <p:tags r:id="rId1"/>
    </p:custDataLst>
    <p:extLst>
      <p:ext uri="{BB962C8B-B14F-4D97-AF65-F5344CB8AC3E}">
        <p14:creationId xmlns:p14="http://schemas.microsoft.com/office/powerpoint/2010/main" val="1822499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23</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Example of traffic splitting (canary testing)</a:t>
            </a:r>
          </a:p>
        </p:txBody>
      </p:sp>
      <p:sp>
        <p:nvSpPr>
          <p:cNvPr id="8" name="Content Placeholder 7">
            <a:extLst>
              <a:ext uri="{FF2B5EF4-FFF2-40B4-BE49-F238E27FC236}">
                <a16:creationId xmlns:a16="http://schemas.microsoft.com/office/drawing/2014/main" id="{D631E54A-2882-4ECB-AAE1-C10624AC6F49}"/>
              </a:ext>
            </a:extLst>
          </p:cNvPr>
          <p:cNvSpPr>
            <a:spLocks noGrp="1"/>
          </p:cNvSpPr>
          <p:nvPr>
            <p:ph idx="2"/>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buNone/>
            </a:pPr>
            <a:r>
              <a:rPr lang="en-US"/>
              <a:t>Example deployment configurations</a:t>
            </a:r>
          </a:p>
          <a:p>
            <a:endParaRPr lang="en-US"/>
          </a:p>
        </p:txBody>
      </p:sp>
      <p:sp>
        <p:nvSpPr>
          <p:cNvPr id="19" name="TextBox 18">
            <a:extLst>
              <a:ext uri="{FF2B5EF4-FFF2-40B4-BE49-F238E27FC236}">
                <a16:creationId xmlns:a16="http://schemas.microsoft.com/office/drawing/2014/main" id="{065EE38F-3D65-CFF0-F571-50BFDCB749C9}"/>
              </a:ext>
            </a:extLst>
          </p:cNvPr>
          <p:cNvSpPr txBox="1"/>
          <p:nvPr/>
        </p:nvSpPr>
        <p:spPr>
          <a:xfrm>
            <a:off x="182072" y="1554082"/>
            <a:ext cx="3638741" cy="2554995"/>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nSpc>
                <a:spcPct val="150000"/>
              </a:lnSpc>
            </a:pPr>
            <a:r>
              <a:rPr lang="en-US" sz="1200" err="1">
                <a:solidFill>
                  <a:schemeClr val="tx1"/>
                </a:solidFill>
                <a:latin typeface="Lucida Console" panose="020B0609040504020204" pitchFamily="49" charset="0"/>
                <a:cs typeface="Courier New" panose="02070309020205020404" pitchFamily="49" charset="0"/>
              </a:rPr>
              <a:t>option_settings</a:t>
            </a:r>
            <a:r>
              <a:rPr lang="en-US" sz="1200">
                <a:solidFill>
                  <a:schemeClr val="tx1"/>
                </a:solidFill>
                <a:latin typeface="Lucida Console" panose="020B0609040504020204" pitchFamily="49" charset="0"/>
                <a:cs typeface="Courier New" panose="02070309020205020404" pitchFamily="49" charset="0"/>
              </a:rPr>
              <a:t>:</a:t>
            </a:r>
          </a:p>
          <a:p>
            <a:pPr>
              <a:lnSpc>
                <a:spcPct val="150000"/>
              </a:lnSpc>
            </a:pPr>
            <a:r>
              <a:rPr lang="en-US" sz="1200">
                <a:solidFill>
                  <a:schemeClr val="tx1"/>
                </a:solidFill>
                <a:latin typeface="Lucida Console" panose="020B0609040504020204" pitchFamily="49" charset="0"/>
                <a:cs typeface="Courier New" panose="02070309020205020404" pitchFamily="49" charset="0"/>
              </a:rPr>
              <a:t>  </a:t>
            </a:r>
            <a:r>
              <a:rPr lang="en-US" sz="1200" err="1">
                <a:solidFill>
                  <a:schemeClr val="tx1"/>
                </a:solidFill>
                <a:latin typeface="Lucida Console" panose="020B0609040504020204" pitchFamily="49" charset="0"/>
                <a:cs typeface="Courier New" panose="02070309020205020404" pitchFamily="49" charset="0"/>
              </a:rPr>
              <a:t>aws:elasticbeanstalk:command</a:t>
            </a:r>
            <a:r>
              <a:rPr lang="en-US" sz="1200">
                <a:solidFill>
                  <a:schemeClr val="tx1"/>
                </a:solidFill>
                <a:latin typeface="Lucida Console" panose="020B0609040504020204" pitchFamily="49" charset="0"/>
                <a:cs typeface="Courier New" panose="02070309020205020404" pitchFamily="49" charset="0"/>
              </a:rPr>
              <a:t>:</a:t>
            </a:r>
          </a:p>
          <a:p>
            <a:pPr>
              <a:lnSpc>
                <a:spcPct val="150000"/>
              </a:lnSpc>
            </a:pPr>
            <a:r>
              <a:rPr lang="en-US" sz="1200">
                <a:solidFill>
                  <a:schemeClr val="tx1"/>
                </a:solidFill>
                <a:latin typeface="Lucida Console" panose="020B0609040504020204" pitchFamily="49" charset="0"/>
                <a:cs typeface="Courier New" panose="02070309020205020404" pitchFamily="49" charset="0"/>
              </a:rPr>
              <a:t>    </a:t>
            </a:r>
            <a:r>
              <a:rPr lang="en-US" sz="1200" err="1">
                <a:solidFill>
                  <a:schemeClr val="tx1"/>
                </a:solidFill>
                <a:latin typeface="Lucida Console" panose="020B0609040504020204" pitchFamily="49" charset="0"/>
                <a:cs typeface="Courier New" panose="02070309020205020404" pitchFamily="49" charset="0"/>
              </a:rPr>
              <a:t>DeploymentPolicy</a:t>
            </a:r>
            <a:r>
              <a:rPr lang="en-US" sz="1200">
                <a:solidFill>
                  <a:schemeClr val="tx1"/>
                </a:solidFill>
                <a:latin typeface="Lucida Console" panose="020B0609040504020204" pitchFamily="49" charset="0"/>
                <a:cs typeface="Courier New" panose="02070309020205020404" pitchFamily="49" charset="0"/>
              </a:rPr>
              <a:t>: </a:t>
            </a:r>
            <a:r>
              <a:rPr lang="en-US" sz="1200" b="1" err="1">
                <a:solidFill>
                  <a:schemeClr val="accent2"/>
                </a:solidFill>
                <a:latin typeface="Lucida Console" panose="020B0609040504020204" pitchFamily="49" charset="0"/>
                <a:cs typeface="Courier New" panose="02070309020205020404" pitchFamily="49" charset="0"/>
              </a:rPr>
              <a:t>TrafficSplitting</a:t>
            </a:r>
            <a:endParaRPr lang="en-US" sz="1200" b="1">
              <a:solidFill>
                <a:schemeClr val="accent2"/>
              </a:solidFill>
              <a:latin typeface="Lucida Console" panose="020B0609040504020204" pitchFamily="49" charset="0"/>
              <a:cs typeface="Courier New" panose="02070309020205020404" pitchFamily="49" charset="0"/>
            </a:endParaRPr>
          </a:p>
          <a:p>
            <a:pPr>
              <a:lnSpc>
                <a:spcPct val="150000"/>
              </a:lnSpc>
            </a:pPr>
            <a:r>
              <a:rPr lang="en-US" sz="1200">
                <a:solidFill>
                  <a:schemeClr val="tx1"/>
                </a:solidFill>
                <a:latin typeface="Lucida Console" panose="020B0609040504020204" pitchFamily="49" charset="0"/>
                <a:cs typeface="Courier New" panose="02070309020205020404" pitchFamily="49" charset="0"/>
              </a:rPr>
              <a:t>  </a:t>
            </a:r>
            <a:r>
              <a:rPr lang="en-US" sz="1200" err="1">
                <a:solidFill>
                  <a:schemeClr val="tx1"/>
                </a:solidFill>
                <a:latin typeface="Lucida Console" panose="020B0609040504020204" pitchFamily="49" charset="0"/>
                <a:cs typeface="Courier New" panose="02070309020205020404" pitchFamily="49" charset="0"/>
              </a:rPr>
              <a:t>aws:elasticbeanstalk:trafficsplitting</a:t>
            </a:r>
            <a:r>
              <a:rPr lang="en-US" sz="1200">
                <a:solidFill>
                  <a:schemeClr val="tx1"/>
                </a:solidFill>
                <a:latin typeface="Lucida Console" panose="020B0609040504020204" pitchFamily="49" charset="0"/>
                <a:cs typeface="Courier New" panose="02070309020205020404" pitchFamily="49" charset="0"/>
              </a:rPr>
              <a:t>:</a:t>
            </a:r>
          </a:p>
          <a:p>
            <a:pPr>
              <a:lnSpc>
                <a:spcPct val="150000"/>
              </a:lnSpc>
            </a:pPr>
            <a:r>
              <a:rPr lang="en-US" sz="1200">
                <a:solidFill>
                  <a:schemeClr val="tx1"/>
                </a:solidFill>
                <a:latin typeface="Lucida Console" panose="020B0609040504020204" pitchFamily="49" charset="0"/>
                <a:cs typeface="Courier New" panose="02070309020205020404" pitchFamily="49" charset="0"/>
              </a:rPr>
              <a:t>    </a:t>
            </a:r>
            <a:r>
              <a:rPr lang="en-US" sz="1200" err="1">
                <a:solidFill>
                  <a:schemeClr val="tx1"/>
                </a:solidFill>
                <a:latin typeface="Lucida Console" panose="020B0609040504020204" pitchFamily="49" charset="0"/>
                <a:cs typeface="Courier New" panose="02070309020205020404" pitchFamily="49" charset="0"/>
              </a:rPr>
              <a:t>NewVersionPercent</a:t>
            </a:r>
            <a:r>
              <a:rPr lang="en-US" sz="1200">
                <a:solidFill>
                  <a:schemeClr val="tx1"/>
                </a:solidFill>
                <a:latin typeface="Lucida Console" panose="020B0609040504020204" pitchFamily="49" charset="0"/>
                <a:cs typeface="Courier New" panose="02070309020205020404" pitchFamily="49" charset="0"/>
              </a:rPr>
              <a:t>: "</a:t>
            </a:r>
            <a:r>
              <a:rPr lang="en-US" sz="1200" b="1">
                <a:solidFill>
                  <a:schemeClr val="accent1"/>
                </a:solidFill>
                <a:latin typeface="Lucida Console" panose="020B0609040504020204" pitchFamily="49" charset="0"/>
                <a:cs typeface="Courier New" panose="02070309020205020404" pitchFamily="49" charset="0"/>
              </a:rPr>
              <a:t>15</a:t>
            </a:r>
            <a:r>
              <a:rPr lang="en-US" sz="1200">
                <a:solidFill>
                  <a:schemeClr val="tx1"/>
                </a:solidFill>
                <a:latin typeface="Lucida Console" panose="020B0609040504020204" pitchFamily="49" charset="0"/>
                <a:cs typeface="Courier New" panose="02070309020205020404" pitchFamily="49" charset="0"/>
              </a:rPr>
              <a:t>"</a:t>
            </a:r>
          </a:p>
          <a:p>
            <a:pPr>
              <a:lnSpc>
                <a:spcPct val="150000"/>
              </a:lnSpc>
            </a:pPr>
            <a:r>
              <a:rPr lang="en-US" sz="1200">
                <a:solidFill>
                  <a:schemeClr val="tx1"/>
                </a:solidFill>
                <a:latin typeface="Lucida Console" panose="020B0609040504020204" pitchFamily="49" charset="0"/>
                <a:cs typeface="Courier New" panose="02070309020205020404" pitchFamily="49" charset="0"/>
              </a:rPr>
              <a:t>    </a:t>
            </a:r>
            <a:r>
              <a:rPr lang="en-US" sz="1200" err="1">
                <a:solidFill>
                  <a:schemeClr val="tx1"/>
                </a:solidFill>
                <a:latin typeface="Lucida Console" panose="020B0609040504020204" pitchFamily="49" charset="0"/>
                <a:cs typeface="Courier New" panose="02070309020205020404" pitchFamily="49" charset="0"/>
              </a:rPr>
              <a:t>EvaluationTime</a:t>
            </a:r>
            <a:r>
              <a:rPr lang="en-US" sz="1200">
                <a:solidFill>
                  <a:schemeClr val="tx1"/>
                </a:solidFill>
                <a:latin typeface="Lucida Console" panose="020B0609040504020204" pitchFamily="49" charset="0"/>
                <a:cs typeface="Courier New" panose="02070309020205020404" pitchFamily="49" charset="0"/>
              </a:rPr>
              <a:t>: "</a:t>
            </a:r>
            <a:r>
              <a:rPr lang="en-US" sz="1200" b="1">
                <a:solidFill>
                  <a:schemeClr val="accent1"/>
                </a:solidFill>
                <a:latin typeface="Lucida Console" panose="020B0609040504020204" pitchFamily="49" charset="0"/>
                <a:cs typeface="Courier New" panose="02070309020205020404" pitchFamily="49" charset="0"/>
              </a:rPr>
              <a:t>10</a:t>
            </a:r>
            <a:r>
              <a:rPr lang="en-US" sz="1200">
                <a:solidFill>
                  <a:schemeClr val="tx1"/>
                </a:solidFill>
                <a:latin typeface="Lucida Console" panose="020B0609040504020204" pitchFamily="49" charset="0"/>
                <a:cs typeface="Courier New" panose="02070309020205020404" pitchFamily="49" charset="0"/>
              </a:rPr>
              <a:t>"</a:t>
            </a:r>
          </a:p>
        </p:txBody>
      </p:sp>
      <p:pic>
        <p:nvPicPr>
          <p:cNvPr id="46" name="Content Placeholder 45" descr="Block diagram of Elastic Beanstalk, auto scaling group, temporary auto scaling group, 10 minute health checks.">
            <a:extLst>
              <a:ext uri="{FF2B5EF4-FFF2-40B4-BE49-F238E27FC236}">
                <a16:creationId xmlns:a16="http://schemas.microsoft.com/office/drawing/2014/main" id="{16FBD7A8-BA90-4A64-93AA-02F2565477B8}"/>
              </a:ext>
            </a:extLst>
          </p:cNvPr>
          <p:cNvPicPr>
            <a:picLocks noGrp="1" noChangeAspect="1"/>
          </p:cNvPicPr>
          <p:nvPr>
            <p:ph idx="3"/>
          </p:nvPr>
        </p:nvPicPr>
        <p:blipFill>
          <a:blip r:embed="rId4"/>
          <a:stretch>
            <a:fillRect/>
          </a:stretch>
        </p:blipFill>
        <p:spPr>
          <a:xfrm>
            <a:off x="3913061" y="953546"/>
            <a:ext cx="4960668" cy="3519734"/>
          </a:xfrm>
          <a:prstGeom prst="rect">
            <a:avLst/>
          </a:prstGeom>
        </p:spPr>
      </p:pic>
    </p:spTree>
    <p:custDataLst>
      <p:tags r:id="rId1"/>
    </p:custDataLst>
    <p:extLst>
      <p:ext uri="{BB962C8B-B14F-4D97-AF65-F5344CB8AC3E}">
        <p14:creationId xmlns:p14="http://schemas.microsoft.com/office/powerpoint/2010/main" val="1883205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4037B1B0-0345-4E15-985A-6BECCDBE474F}" type="slidenum">
              <a:rPr lang="en-US" smtClean="0"/>
              <a:pPr/>
              <a:t>24</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a:t>Blue/green deployments on Elastic Beanstalk</a:t>
            </a:r>
          </a:p>
        </p:txBody>
      </p:sp>
      <p:pic>
        <p:nvPicPr>
          <p:cNvPr id="64" name="Content Placeholder 63" descr="Diagram shows blue and green environments and steps for traffic splitting. See notes for details.">
            <a:extLst>
              <a:ext uri="{FF2B5EF4-FFF2-40B4-BE49-F238E27FC236}">
                <a16:creationId xmlns:a16="http://schemas.microsoft.com/office/drawing/2014/main" id="{334F1A2C-A72E-4506-A10D-E38E77347975}"/>
              </a:ext>
            </a:extLst>
          </p:cNvPr>
          <p:cNvPicPr>
            <a:picLocks noGrp="1" noChangeAspect="1"/>
          </p:cNvPicPr>
          <p:nvPr>
            <p:ph idx="2"/>
          </p:nvPr>
        </p:nvPicPr>
        <p:blipFill>
          <a:blip r:embed="rId4"/>
          <a:stretch>
            <a:fillRect/>
          </a:stretch>
        </p:blipFill>
        <p:spPr>
          <a:xfrm>
            <a:off x="394615" y="1097988"/>
            <a:ext cx="8358341" cy="3447587"/>
          </a:xfrm>
          <a:prstGeom prst="rect">
            <a:avLst/>
          </a:prstGeom>
        </p:spPr>
      </p:pic>
    </p:spTree>
    <p:custDataLst>
      <p:tags r:id="rId1"/>
    </p:custDataLst>
    <p:extLst>
      <p:ext uri="{BB962C8B-B14F-4D97-AF65-F5344CB8AC3E}">
        <p14:creationId xmlns:p14="http://schemas.microsoft.com/office/powerpoint/2010/main" val="4269660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5"/>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300"/>
              <a:buNone/>
            </a:pPr>
            <a:r>
              <a:rPr lang="en-GB" sz="2200" b="1"/>
              <a:t>Extra leermaterialen &amp; labs</a:t>
            </a:r>
            <a:endParaRPr sz="2200" b="1"/>
          </a:p>
        </p:txBody>
      </p:sp>
      <p:sp>
        <p:nvSpPr>
          <p:cNvPr id="316" name="Google Shape;316;p65"/>
          <p:cNvSpPr txBox="1">
            <a:spLocks noGrp="1"/>
          </p:cNvSpPr>
          <p:nvPr>
            <p:ph type="body" idx="1"/>
          </p:nvPr>
        </p:nvSpPr>
        <p:spPr>
          <a:xfrm>
            <a:off x="1170875" y="1203300"/>
            <a:ext cx="7515000" cy="2982600"/>
          </a:xfrm>
          <a:prstGeom prst="rect">
            <a:avLst/>
          </a:prstGeom>
          <a:noFill/>
          <a:ln>
            <a:noFill/>
          </a:ln>
        </p:spPr>
        <p:txBody>
          <a:bodyPr spcFirstLastPara="1" wrap="square" lIns="0" tIns="0" rIns="0" bIns="0" anchor="t" anchorCtr="0">
            <a:noAutofit/>
          </a:bodyPr>
          <a:lstStyle/>
          <a:p>
            <a:pPr marL="158750" lvl="0" indent="0" algn="l" rtl="0">
              <a:lnSpc>
                <a:spcPct val="115000"/>
              </a:lnSpc>
              <a:spcBef>
                <a:spcPts val="2400"/>
              </a:spcBef>
              <a:spcAft>
                <a:spcPts val="0"/>
              </a:spcAft>
              <a:buClr>
                <a:schemeClr val="dk1"/>
              </a:buClr>
              <a:buSzPts val="1100"/>
            </a:pPr>
            <a:endParaRPr lang="en-GB" sz="1400">
              <a:solidFill>
                <a:schemeClr val="dk1"/>
              </a:solidFill>
            </a:endParaRPr>
          </a:p>
          <a:p>
            <a:pPr indent="-298450">
              <a:lnSpc>
                <a:spcPct val="114999"/>
              </a:lnSpc>
              <a:buClr>
                <a:schemeClr val="dk1"/>
              </a:buClr>
              <a:buSzPts val="1100"/>
              <a:buChar char="●"/>
            </a:pPr>
            <a:r>
              <a:rPr lang="en-GB" sz="1400" err="1">
                <a:solidFill>
                  <a:schemeClr val="dk1"/>
                </a:solidFill>
              </a:rPr>
              <a:t>Documentatie</a:t>
            </a:r>
            <a:r>
              <a:rPr lang="en-GB" sz="1400">
                <a:solidFill>
                  <a:schemeClr val="dk1"/>
                </a:solidFill>
              </a:rPr>
              <a:t>:</a:t>
            </a:r>
          </a:p>
          <a:p>
            <a:pPr lvl="1">
              <a:lnSpc>
                <a:spcPct val="114999"/>
              </a:lnSpc>
              <a:buClr>
                <a:schemeClr val="dk1"/>
              </a:buClr>
              <a:buSzPts val="1100"/>
              <a:buChar char="●"/>
            </a:pPr>
            <a:r>
              <a:rPr lang="en-GB" sz="1100" u="sng">
                <a:solidFill>
                  <a:schemeClr val="hlink"/>
                </a:solidFill>
                <a:hlinkClick r:id="rId3">
                  <a:extLst>
                    <a:ext uri="{A12FA001-AC4F-418D-AE19-62706E023703}">
                      <ahyp:hlinkClr xmlns:ahyp="http://schemas.microsoft.com/office/drawing/2018/hyperlinkcolor" val="tx"/>
                    </a:ext>
                  </a:extLst>
                </a:hlinkClick>
              </a:rPr>
              <a:t>https://docs.aws.amazon.com/ecs/</a:t>
            </a:r>
            <a:r>
              <a:rPr lang="en-GB" sz="1100">
                <a:solidFill>
                  <a:schemeClr val="dk1"/>
                </a:solidFill>
              </a:rPr>
              <a:t> </a:t>
            </a:r>
            <a:endParaRPr sz="1100">
              <a:solidFill>
                <a:schemeClr val="dk1"/>
              </a:solidFill>
            </a:endParaRPr>
          </a:p>
          <a:p>
            <a:pPr lvl="1">
              <a:lnSpc>
                <a:spcPct val="115000"/>
              </a:lnSpc>
              <a:buClr>
                <a:schemeClr val="dk1"/>
              </a:buClr>
              <a:buSzPts val="1100"/>
              <a:buChar char="●"/>
            </a:pPr>
            <a:r>
              <a:rPr lang="en-GB" sz="1100" u="sng">
                <a:solidFill>
                  <a:schemeClr val="hlink"/>
                </a:solidFill>
                <a:hlinkClick r:id="rId4"/>
              </a:rPr>
              <a:t>https://docs.aws.amazon.com/ecr/</a:t>
            </a:r>
            <a:r>
              <a:rPr lang="en-GB" sz="1100">
                <a:solidFill>
                  <a:schemeClr val="dk1"/>
                </a:solidFill>
              </a:rPr>
              <a:t> </a:t>
            </a:r>
            <a:endParaRPr sz="1100">
              <a:solidFill>
                <a:schemeClr val="dk1"/>
              </a:solidFill>
            </a:endParaRPr>
          </a:p>
          <a:p>
            <a:pPr marL="685800" lvl="1" indent="0">
              <a:lnSpc>
                <a:spcPct val="115000"/>
              </a:lnSpc>
              <a:buClr>
                <a:schemeClr val="dk1"/>
              </a:buClr>
              <a:buSzPts val="1100"/>
            </a:pPr>
            <a:endParaRPr lang="en-GB"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pPr>
            <a:endParaRPr lang="en-GB" sz="14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457200" lvl="0" indent="0" algn="l" rtl="0">
              <a:lnSpc>
                <a:spcPct val="115000"/>
              </a:lnSpc>
              <a:spcBef>
                <a:spcPts val="0"/>
              </a:spcBef>
              <a:spcAft>
                <a:spcPts val="0"/>
              </a:spcAft>
              <a:buSzPts val="1300"/>
              <a:buNone/>
            </a:pPr>
            <a:endParaRPr sz="1100">
              <a:solidFill>
                <a:schemeClr val="dk1"/>
              </a:solidFill>
            </a:endParaRPr>
          </a:p>
        </p:txBody>
      </p:sp>
      <p:pic>
        <p:nvPicPr>
          <p:cNvPr id="317" name="Google Shape;317;p65"/>
          <p:cNvPicPr preferRelativeResize="0"/>
          <p:nvPr/>
        </p:nvPicPr>
        <p:blipFill rotWithShape="1">
          <a:blip r:embed="rId5">
            <a:alphaModFix/>
          </a:blip>
          <a:srcRect/>
          <a:stretch/>
        </p:blipFill>
        <p:spPr>
          <a:xfrm>
            <a:off x="7000678" y="214378"/>
            <a:ext cx="1906950" cy="827525"/>
          </a:xfrm>
          <a:prstGeom prst="rect">
            <a:avLst/>
          </a:prstGeom>
          <a:noFill/>
          <a:ln>
            <a:noFill/>
          </a:ln>
        </p:spPr>
      </p:pic>
      <p:pic>
        <p:nvPicPr>
          <p:cNvPr id="318" name="Google Shape;318;p65"/>
          <p:cNvPicPr preferRelativeResize="0"/>
          <p:nvPr/>
        </p:nvPicPr>
        <p:blipFill rotWithShape="1">
          <a:blip r:embed="rId6">
            <a:alphaModFix/>
          </a:blip>
          <a:srcRect/>
          <a:stretch/>
        </p:blipFill>
        <p:spPr>
          <a:xfrm>
            <a:off x="343350" y="2157988"/>
            <a:ext cx="827525" cy="827525"/>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25</Slides>
  <Notes>25</Notes>
  <HiddenSlides>0</HiddenSlides>
  <ScaleCrop>false</ScaleCrop>
  <HeadingPairs>
    <vt:vector size="4" baseType="variant">
      <vt:variant>
        <vt:lpstr>Theme</vt:lpstr>
      </vt:variant>
      <vt:variant>
        <vt:i4>4</vt:i4>
      </vt:variant>
      <vt:variant>
        <vt:lpstr>Slide Titles</vt:lpstr>
      </vt:variant>
      <vt:variant>
        <vt:i4>25</vt:i4>
      </vt:variant>
    </vt:vector>
  </HeadingPairs>
  <TitlesOfParts>
    <vt:vector size="29" baseType="lpstr">
      <vt:lpstr>Simple Light</vt:lpstr>
      <vt:lpstr>Office Theme</vt:lpstr>
      <vt:lpstr>Simple Light</vt:lpstr>
      <vt:lpstr>Office Theme</vt:lpstr>
      <vt:lpstr>Cloud Services 2 </vt:lpstr>
      <vt:lpstr>PowerPoint Presentation</vt:lpstr>
      <vt:lpstr>Comparing monolithic and microservice architectures</vt:lpstr>
      <vt:lpstr>Characteristics of microservices</vt:lpstr>
      <vt:lpstr>Microservices and containers</vt:lpstr>
      <vt:lpstr>Challenges of managing containers at scale</vt:lpstr>
      <vt:lpstr>Container orchestration platforms</vt:lpstr>
      <vt:lpstr>Amazon ECS</vt:lpstr>
      <vt:lpstr>Amazon ECR</vt:lpstr>
      <vt:lpstr>Amazon ECS solution architecture</vt:lpstr>
      <vt:lpstr>AWS Fargate</vt:lpstr>
      <vt:lpstr>Amazon ECS with Fargate or Amazon EC2 </vt:lpstr>
      <vt:lpstr>Creating an Amazon ECR repository and pushing an image</vt:lpstr>
      <vt:lpstr>Amazon EKS</vt:lpstr>
      <vt:lpstr>Amazon EKS</vt:lpstr>
      <vt:lpstr>Elastic Beanstalk</vt:lpstr>
      <vt:lpstr>Elastic Beanstalk components</vt:lpstr>
      <vt:lpstr>IAM permissions in Elastic Beanstalk environments</vt:lpstr>
      <vt:lpstr>AWS Managed policy example</vt:lpstr>
      <vt:lpstr>Elastic Beanstalk simplifies container deployment</vt:lpstr>
      <vt:lpstr>Multicontainer Docker platform </vt:lpstr>
      <vt:lpstr>Deployment option namespaces</vt:lpstr>
      <vt:lpstr>Example of traffic splitting (canary testing)</vt:lpstr>
      <vt:lpstr>Blue/green deployments on Elastic Beanstalk</vt:lpstr>
      <vt:lpstr>Extra leermaterialen &amp; labs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Services 2 </dc:title>
  <cp:revision>2</cp:revision>
  <dcterms:modified xsi:type="dcterms:W3CDTF">2026-01-13T14:25:33Z</dcterms:modified>
</cp:coreProperties>
</file>